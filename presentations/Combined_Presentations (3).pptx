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019" y="968654"/>
            <a:ext cx="9871075" cy="3319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71880" y="2146947"/>
            <a:ext cx="4443730" cy="350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99762"/>
            <a:ext cx="56864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621" y="1180796"/>
            <a:ext cx="7997825" cy="2268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122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1977" y="601814"/>
            <a:ext cx="3274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5305" algn="l"/>
                <a:tab pos="1998980" algn="l"/>
              </a:tabLst>
            </a:pPr>
            <a:r>
              <a:rPr dirty="0" sz="1200" spc="-10" b="1">
                <a:solidFill>
                  <a:srgbClr val="F1A83A"/>
                </a:solidFill>
                <a:latin typeface="Calibri"/>
                <a:cs typeface="Calibri"/>
              </a:rPr>
              <a:t>C</a:t>
            </a:r>
            <a:r>
              <a:rPr dirty="0" sz="1200" spc="-6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A</a:t>
            </a:r>
            <a:r>
              <a:rPr dirty="0" sz="1200" spc="-6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M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P</a:t>
            </a:r>
            <a:r>
              <a:rPr dirty="0" sz="1200" spc="-4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U</a:t>
            </a:r>
            <a:r>
              <a:rPr dirty="0" sz="1200" spc="-6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S</a:t>
            </a:r>
            <a:r>
              <a:rPr dirty="0" sz="1200" spc="44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W</a:t>
            </a:r>
            <a:r>
              <a:rPr dirty="0" sz="1200" spc="-6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E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L</a:t>
            </a:r>
            <a:r>
              <a:rPr dirty="0" sz="1200" spc="-6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L</a:t>
            </a:r>
            <a:r>
              <a:rPr dirty="0" sz="1200" spc="-4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N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1A83A"/>
                </a:solidFill>
                <a:latin typeface="Calibri"/>
                <a:cs typeface="Calibri"/>
              </a:rPr>
              <a:t>E</a:t>
            </a:r>
            <a:r>
              <a:rPr dirty="0" sz="1200" spc="-7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S</a:t>
            </a:r>
            <a:r>
              <a:rPr dirty="0" sz="1200" spc="-50" b="1">
                <a:solidFill>
                  <a:srgbClr val="F1A83A"/>
                </a:solidFill>
                <a:latin typeface="Calibri"/>
                <a:cs typeface="Calibri"/>
              </a:rPr>
              <a:t> S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	</a:t>
            </a:r>
            <a:r>
              <a:rPr dirty="0" sz="1200" spc="-50" b="1">
                <a:solidFill>
                  <a:srgbClr val="F1A83A"/>
                </a:solidFill>
                <a:latin typeface="Calibri"/>
                <a:cs typeface="Calibri"/>
              </a:rPr>
              <a:t>·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	G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A</a:t>
            </a:r>
            <a:r>
              <a:rPr dirty="0" sz="1200" spc="-6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M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I</a:t>
            </a:r>
            <a:r>
              <a:rPr dirty="0" sz="1200" spc="-5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F</a:t>
            </a:r>
            <a:r>
              <a:rPr dirty="0" sz="1200" spc="-7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I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C</a:t>
            </a:r>
            <a:r>
              <a:rPr dirty="0" sz="1200" spc="-5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spc="55" b="1">
                <a:solidFill>
                  <a:srgbClr val="F1A83A"/>
                </a:solidFill>
                <a:latin typeface="Calibri"/>
                <a:cs typeface="Calibri"/>
              </a:rPr>
              <a:t>AT</a:t>
            </a:r>
            <a:r>
              <a:rPr dirty="0" sz="1200" spc="-6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I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O</a:t>
            </a:r>
            <a:r>
              <a:rPr dirty="0" sz="1200" spc="-5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F1A83A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1296" y="2428100"/>
            <a:ext cx="48006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THAPAR</a:t>
            </a:r>
            <a:r>
              <a:rPr dirty="0" sz="54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 spc="-10">
                <a:solidFill>
                  <a:srgbClr val="FFFFFF"/>
                </a:solidFill>
                <a:latin typeface="Calibri"/>
                <a:cs typeface="Calibri"/>
              </a:rPr>
              <a:t>STEPUP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8075" y="6672605"/>
            <a:ext cx="1280160" cy="635"/>
          </a:xfrm>
          <a:custGeom>
            <a:avLst/>
            <a:gdLst/>
            <a:ahLst/>
            <a:cxnLst/>
            <a:rect l="l" t="t" r="r" b="b"/>
            <a:pathLst>
              <a:path w="1280160" h="634">
                <a:moveTo>
                  <a:pt x="0" y="0"/>
                </a:moveTo>
                <a:lnTo>
                  <a:pt x="1280159" y="355"/>
                </a:lnTo>
              </a:path>
            </a:pathLst>
          </a:custGeom>
          <a:ln w="38159">
            <a:solidFill>
              <a:srgbClr val="1E89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17016" y="3811930"/>
            <a:ext cx="6631305" cy="140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4">
                <a:solidFill>
                  <a:srgbClr val="EEF6F0"/>
                </a:solidFill>
                <a:latin typeface="Tahoma"/>
                <a:cs typeface="Tahoma"/>
              </a:rPr>
              <a:t>Turning</a:t>
            </a:r>
            <a:r>
              <a:rPr dirty="0" sz="2000" spc="-125">
                <a:solidFill>
                  <a:srgbClr val="EEF6F0"/>
                </a:solidFill>
                <a:latin typeface="Tahoma"/>
                <a:cs typeface="Tahoma"/>
              </a:rPr>
              <a:t> </a:t>
            </a:r>
            <a:r>
              <a:rPr dirty="0" sz="2000" spc="-95">
                <a:solidFill>
                  <a:srgbClr val="EEF6F0"/>
                </a:solidFill>
                <a:latin typeface="Tahoma"/>
                <a:cs typeface="Tahoma"/>
              </a:rPr>
              <a:t>Campus</a:t>
            </a:r>
            <a:r>
              <a:rPr dirty="0" sz="2000" spc="-130">
                <a:solidFill>
                  <a:srgbClr val="EEF6F0"/>
                </a:solidFill>
                <a:latin typeface="Tahoma"/>
                <a:cs typeface="Tahoma"/>
              </a:rPr>
              <a:t> </a:t>
            </a:r>
            <a:r>
              <a:rPr dirty="0" sz="2000" spc="-90">
                <a:solidFill>
                  <a:srgbClr val="EEF6F0"/>
                </a:solidFill>
                <a:latin typeface="Tahoma"/>
                <a:cs typeface="Tahoma"/>
              </a:rPr>
              <a:t>Walking</a:t>
            </a:r>
            <a:r>
              <a:rPr dirty="0" sz="2000" spc="-140">
                <a:solidFill>
                  <a:srgbClr val="EEF6F0"/>
                </a:solidFill>
                <a:latin typeface="Tahoma"/>
                <a:cs typeface="Tahoma"/>
              </a:rPr>
              <a:t> </a:t>
            </a:r>
            <a:r>
              <a:rPr dirty="0" sz="2000" spc="-105">
                <a:solidFill>
                  <a:srgbClr val="EEF6F0"/>
                </a:solidFill>
                <a:latin typeface="Tahoma"/>
                <a:cs typeface="Tahoma"/>
              </a:rPr>
              <a:t>Into</a:t>
            </a:r>
            <a:r>
              <a:rPr dirty="0" sz="2000" spc="-145">
                <a:solidFill>
                  <a:srgbClr val="EEF6F0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EEF6F0"/>
                </a:solidFill>
                <a:latin typeface="Tahoma"/>
                <a:cs typeface="Tahoma"/>
              </a:rPr>
              <a:t>a</a:t>
            </a:r>
            <a:r>
              <a:rPr dirty="0" sz="2000" spc="-130">
                <a:solidFill>
                  <a:srgbClr val="EEF6F0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EEF6F0"/>
                </a:solidFill>
                <a:latin typeface="Tahoma"/>
                <a:cs typeface="Tahoma"/>
              </a:rPr>
              <a:t>Daily</a:t>
            </a:r>
            <a:r>
              <a:rPr dirty="0" sz="2000" spc="-135">
                <a:solidFill>
                  <a:srgbClr val="EEF6F0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EEF6F0"/>
                </a:solidFill>
                <a:latin typeface="Tahoma"/>
                <a:cs typeface="Tahoma"/>
              </a:rPr>
              <a:t>Game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 spc="-45">
                <a:solidFill>
                  <a:srgbClr val="D6DBE0"/>
                </a:solidFill>
                <a:latin typeface="Tahoma"/>
                <a:cs typeface="Tahoma"/>
              </a:rPr>
              <a:t>A</a:t>
            </a:r>
            <a:r>
              <a:rPr dirty="0" sz="1600" spc="-105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D6DBE0"/>
                </a:solidFill>
                <a:latin typeface="Tahoma"/>
                <a:cs typeface="Tahoma"/>
              </a:rPr>
              <a:t>gamified</a:t>
            </a:r>
            <a:r>
              <a:rPr dirty="0" sz="1600" spc="-105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D6DBE0"/>
                </a:solidFill>
                <a:latin typeface="Tahoma"/>
                <a:cs typeface="Tahoma"/>
              </a:rPr>
              <a:t>walking</a:t>
            </a:r>
            <a:r>
              <a:rPr dirty="0" sz="1600" spc="-95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D6DBE0"/>
                </a:solidFill>
                <a:latin typeface="Tahoma"/>
                <a:cs typeface="Tahoma"/>
              </a:rPr>
              <a:t>platform</a:t>
            </a:r>
            <a:r>
              <a:rPr dirty="0" sz="1600" spc="-110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D6DBE0"/>
                </a:solidFill>
                <a:latin typeface="Tahoma"/>
                <a:cs typeface="Tahoma"/>
              </a:rPr>
              <a:t>that</a:t>
            </a:r>
            <a:r>
              <a:rPr dirty="0" sz="1600" spc="-100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D6DBE0"/>
                </a:solidFill>
                <a:latin typeface="Tahoma"/>
                <a:cs typeface="Tahoma"/>
              </a:rPr>
              <a:t>turns</a:t>
            </a:r>
            <a:r>
              <a:rPr dirty="0" sz="1600" spc="-100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80">
                <a:solidFill>
                  <a:srgbClr val="D6DBE0"/>
                </a:solidFill>
                <a:latin typeface="Tahoma"/>
                <a:cs typeface="Tahoma"/>
              </a:rPr>
              <a:t>everyday</a:t>
            </a:r>
            <a:r>
              <a:rPr dirty="0" sz="1600" spc="-105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85">
                <a:solidFill>
                  <a:srgbClr val="D6DBE0"/>
                </a:solidFill>
                <a:latin typeface="Tahoma"/>
                <a:cs typeface="Tahoma"/>
              </a:rPr>
              <a:t>campus</a:t>
            </a:r>
            <a:r>
              <a:rPr dirty="0" sz="1600" spc="-100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D6DBE0"/>
                </a:solidFill>
                <a:latin typeface="Tahoma"/>
                <a:cs typeface="Tahoma"/>
              </a:rPr>
              <a:t>movement</a:t>
            </a:r>
            <a:r>
              <a:rPr dirty="0" sz="1600" spc="-110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D6DBE0"/>
                </a:solidFill>
                <a:latin typeface="Tahoma"/>
                <a:cs typeface="Tahoma"/>
              </a:rPr>
              <a:t>into</a:t>
            </a:r>
            <a:r>
              <a:rPr dirty="0" sz="1600" spc="-110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D6DBE0"/>
                </a:solidFill>
                <a:latin typeface="Tahoma"/>
                <a:cs typeface="Tahoma"/>
              </a:rPr>
              <a:t>streaks, </a:t>
            </a:r>
            <a:r>
              <a:rPr dirty="0" sz="1600" spc="-70">
                <a:solidFill>
                  <a:srgbClr val="D6DBE0"/>
                </a:solidFill>
                <a:latin typeface="Tahoma"/>
                <a:cs typeface="Tahoma"/>
              </a:rPr>
              <a:t>challenges</a:t>
            </a:r>
            <a:r>
              <a:rPr dirty="0" sz="1600" spc="-105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D6DBE0"/>
                </a:solidFill>
                <a:latin typeface="Tahoma"/>
                <a:cs typeface="Tahoma"/>
              </a:rPr>
              <a:t>and</a:t>
            </a:r>
            <a:r>
              <a:rPr dirty="0" sz="1600" spc="-100">
                <a:solidFill>
                  <a:srgbClr val="D6DBE0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D6DBE0"/>
                </a:solidFill>
                <a:latin typeface="Tahoma"/>
                <a:cs typeface="Tahoma"/>
              </a:rPr>
              <a:t>rewards.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801277" y="1486077"/>
            <a:ext cx="2971800" cy="3611879"/>
            <a:chOff x="8801277" y="1486077"/>
            <a:chExt cx="2971800" cy="3611879"/>
          </a:xfrm>
        </p:grpSpPr>
        <p:sp>
          <p:nvSpPr>
            <p:cNvPr id="8" name="object 8"/>
            <p:cNvSpPr/>
            <p:nvPr/>
          </p:nvSpPr>
          <p:spPr>
            <a:xfrm>
              <a:off x="9052204" y="2194204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3000" y="0"/>
                  </a:moveTo>
                  <a:lnTo>
                    <a:pt x="1092949" y="1099"/>
                  </a:lnTo>
                  <a:lnTo>
                    <a:pt x="1043104" y="4383"/>
                  </a:lnTo>
                  <a:lnTo>
                    <a:pt x="993537" y="9832"/>
                  </a:lnTo>
                  <a:lnTo>
                    <a:pt x="944319" y="17426"/>
                  </a:lnTo>
                  <a:lnTo>
                    <a:pt x="895520" y="27145"/>
                  </a:lnTo>
                  <a:lnTo>
                    <a:pt x="847213" y="38969"/>
                  </a:lnTo>
                  <a:lnTo>
                    <a:pt x="799469" y="52878"/>
                  </a:lnTo>
                  <a:lnTo>
                    <a:pt x="752358" y="68852"/>
                  </a:lnTo>
                  <a:lnTo>
                    <a:pt x="705952" y="86871"/>
                  </a:lnTo>
                  <a:lnTo>
                    <a:pt x="660322" y="106915"/>
                  </a:lnTo>
                  <a:lnTo>
                    <a:pt x="615540" y="128963"/>
                  </a:lnTo>
                  <a:lnTo>
                    <a:pt x="571677" y="152996"/>
                  </a:lnTo>
                  <a:lnTo>
                    <a:pt x="528829" y="179014"/>
                  </a:lnTo>
                  <a:lnTo>
                    <a:pt x="487261" y="206811"/>
                  </a:lnTo>
                  <a:lnTo>
                    <a:pt x="447024" y="236337"/>
                  </a:lnTo>
                  <a:lnTo>
                    <a:pt x="408168" y="267543"/>
                  </a:lnTo>
                  <a:lnTo>
                    <a:pt x="370741" y="300379"/>
                  </a:lnTo>
                  <a:lnTo>
                    <a:pt x="334795" y="334795"/>
                  </a:lnTo>
                  <a:lnTo>
                    <a:pt x="300379" y="370741"/>
                  </a:lnTo>
                  <a:lnTo>
                    <a:pt x="267543" y="408168"/>
                  </a:lnTo>
                  <a:lnTo>
                    <a:pt x="236462" y="446869"/>
                  </a:lnTo>
                  <a:lnTo>
                    <a:pt x="206811" y="487261"/>
                  </a:lnTo>
                  <a:lnTo>
                    <a:pt x="179014" y="528829"/>
                  </a:lnTo>
                  <a:lnTo>
                    <a:pt x="152996" y="571677"/>
                  </a:lnTo>
                  <a:lnTo>
                    <a:pt x="128963" y="615540"/>
                  </a:lnTo>
                  <a:lnTo>
                    <a:pt x="107020" y="660109"/>
                  </a:lnTo>
                  <a:lnTo>
                    <a:pt x="86939" y="705797"/>
                  </a:lnTo>
                  <a:lnTo>
                    <a:pt x="68852" y="752358"/>
                  </a:lnTo>
                  <a:lnTo>
                    <a:pt x="52878" y="799469"/>
                  </a:lnTo>
                  <a:lnTo>
                    <a:pt x="38969" y="847213"/>
                  </a:lnTo>
                  <a:lnTo>
                    <a:pt x="27145" y="895520"/>
                  </a:lnTo>
                  <a:lnTo>
                    <a:pt x="17426" y="944319"/>
                  </a:lnTo>
                  <a:lnTo>
                    <a:pt x="9832" y="993537"/>
                  </a:lnTo>
                  <a:lnTo>
                    <a:pt x="4383" y="1043104"/>
                  </a:lnTo>
                  <a:lnTo>
                    <a:pt x="1099" y="1092949"/>
                  </a:lnTo>
                  <a:lnTo>
                    <a:pt x="0" y="1143000"/>
                  </a:lnTo>
                  <a:lnTo>
                    <a:pt x="1099" y="1193050"/>
                  </a:lnTo>
                  <a:lnTo>
                    <a:pt x="4383" y="1242896"/>
                  </a:lnTo>
                  <a:lnTo>
                    <a:pt x="9832" y="1292466"/>
                  </a:lnTo>
                  <a:lnTo>
                    <a:pt x="17426" y="1341691"/>
                  </a:lnTo>
                  <a:lnTo>
                    <a:pt x="27145" y="1390500"/>
                  </a:lnTo>
                  <a:lnTo>
                    <a:pt x="38969" y="1438825"/>
                  </a:lnTo>
                  <a:lnTo>
                    <a:pt x="52878" y="1486595"/>
                  </a:lnTo>
                  <a:lnTo>
                    <a:pt x="68852" y="1533741"/>
                  </a:lnTo>
                  <a:lnTo>
                    <a:pt x="86871" y="1580192"/>
                  </a:lnTo>
                  <a:lnTo>
                    <a:pt x="106915" y="1625878"/>
                  </a:lnTo>
                  <a:lnTo>
                    <a:pt x="128963" y="1670730"/>
                  </a:lnTo>
                  <a:lnTo>
                    <a:pt x="152996" y="1714677"/>
                  </a:lnTo>
                  <a:lnTo>
                    <a:pt x="179014" y="1757441"/>
                  </a:lnTo>
                  <a:lnTo>
                    <a:pt x="206811" y="1798939"/>
                  </a:lnTo>
                  <a:lnTo>
                    <a:pt x="236337" y="1839119"/>
                  </a:lnTo>
                  <a:lnTo>
                    <a:pt x="267543" y="1877931"/>
                  </a:lnTo>
                  <a:lnTo>
                    <a:pt x="300379" y="1915322"/>
                  </a:lnTo>
                  <a:lnTo>
                    <a:pt x="334795" y="1951242"/>
                  </a:lnTo>
                  <a:lnTo>
                    <a:pt x="370741" y="1985639"/>
                  </a:lnTo>
                  <a:lnTo>
                    <a:pt x="408168" y="2018462"/>
                  </a:lnTo>
                  <a:lnTo>
                    <a:pt x="447024" y="2049660"/>
                  </a:lnTo>
                  <a:lnTo>
                    <a:pt x="487261" y="2079182"/>
                  </a:lnTo>
                  <a:lnTo>
                    <a:pt x="528829" y="2106975"/>
                  </a:lnTo>
                  <a:lnTo>
                    <a:pt x="571677" y="2132990"/>
                  </a:lnTo>
                  <a:lnTo>
                    <a:pt x="615540" y="2157026"/>
                  </a:lnTo>
                  <a:lnTo>
                    <a:pt x="660322" y="2179077"/>
                  </a:lnTo>
                  <a:lnTo>
                    <a:pt x="705952" y="2199123"/>
                  </a:lnTo>
                  <a:lnTo>
                    <a:pt x="752358" y="2217143"/>
                  </a:lnTo>
                  <a:lnTo>
                    <a:pt x="799469" y="2233118"/>
                  </a:lnTo>
                  <a:lnTo>
                    <a:pt x="847213" y="2247028"/>
                  </a:lnTo>
                  <a:lnTo>
                    <a:pt x="895520" y="2258853"/>
                  </a:lnTo>
                  <a:lnTo>
                    <a:pt x="944319" y="2268572"/>
                  </a:lnTo>
                  <a:lnTo>
                    <a:pt x="993537" y="2276167"/>
                  </a:lnTo>
                  <a:lnTo>
                    <a:pt x="1043104" y="2281616"/>
                  </a:lnTo>
                  <a:lnTo>
                    <a:pt x="1092949" y="2284900"/>
                  </a:lnTo>
                  <a:lnTo>
                    <a:pt x="1143000" y="2286000"/>
                  </a:lnTo>
                  <a:lnTo>
                    <a:pt x="1193050" y="2284900"/>
                  </a:lnTo>
                  <a:lnTo>
                    <a:pt x="1242896" y="2281616"/>
                  </a:lnTo>
                  <a:lnTo>
                    <a:pt x="1292466" y="2276167"/>
                  </a:lnTo>
                  <a:lnTo>
                    <a:pt x="1341691" y="2268572"/>
                  </a:lnTo>
                  <a:lnTo>
                    <a:pt x="1390500" y="2258853"/>
                  </a:lnTo>
                  <a:lnTo>
                    <a:pt x="1438825" y="2247028"/>
                  </a:lnTo>
                  <a:lnTo>
                    <a:pt x="1486595" y="2233118"/>
                  </a:lnTo>
                  <a:lnTo>
                    <a:pt x="1533741" y="2217143"/>
                  </a:lnTo>
                  <a:lnTo>
                    <a:pt x="1580192" y="2199123"/>
                  </a:lnTo>
                  <a:lnTo>
                    <a:pt x="1625878" y="2179077"/>
                  </a:lnTo>
                  <a:lnTo>
                    <a:pt x="1670730" y="2157026"/>
                  </a:lnTo>
                  <a:lnTo>
                    <a:pt x="1714677" y="2132990"/>
                  </a:lnTo>
                  <a:lnTo>
                    <a:pt x="1757441" y="2106975"/>
                  </a:lnTo>
                  <a:lnTo>
                    <a:pt x="1798939" y="2079182"/>
                  </a:lnTo>
                  <a:lnTo>
                    <a:pt x="1839119" y="2049660"/>
                  </a:lnTo>
                  <a:lnTo>
                    <a:pt x="1877931" y="2018462"/>
                  </a:lnTo>
                  <a:lnTo>
                    <a:pt x="1915322" y="1985639"/>
                  </a:lnTo>
                  <a:lnTo>
                    <a:pt x="1951242" y="1951242"/>
                  </a:lnTo>
                  <a:lnTo>
                    <a:pt x="1985639" y="1915322"/>
                  </a:lnTo>
                  <a:lnTo>
                    <a:pt x="2018462" y="1877931"/>
                  </a:lnTo>
                  <a:lnTo>
                    <a:pt x="2049660" y="1839119"/>
                  </a:lnTo>
                  <a:lnTo>
                    <a:pt x="2079182" y="1798939"/>
                  </a:lnTo>
                  <a:lnTo>
                    <a:pt x="2106975" y="1757441"/>
                  </a:lnTo>
                  <a:lnTo>
                    <a:pt x="2132990" y="1714677"/>
                  </a:lnTo>
                  <a:lnTo>
                    <a:pt x="2157026" y="1670730"/>
                  </a:lnTo>
                  <a:lnTo>
                    <a:pt x="2179077" y="1625878"/>
                  </a:lnTo>
                  <a:lnTo>
                    <a:pt x="2199123" y="1580192"/>
                  </a:lnTo>
                  <a:lnTo>
                    <a:pt x="2217143" y="1533741"/>
                  </a:lnTo>
                  <a:lnTo>
                    <a:pt x="2233118" y="1486595"/>
                  </a:lnTo>
                  <a:lnTo>
                    <a:pt x="2247028" y="1438825"/>
                  </a:lnTo>
                  <a:lnTo>
                    <a:pt x="2258853" y="1390500"/>
                  </a:lnTo>
                  <a:lnTo>
                    <a:pt x="2268572" y="1341691"/>
                  </a:lnTo>
                  <a:lnTo>
                    <a:pt x="2276167" y="1292466"/>
                  </a:lnTo>
                  <a:lnTo>
                    <a:pt x="2281616" y="1242896"/>
                  </a:lnTo>
                  <a:lnTo>
                    <a:pt x="2284900" y="1193050"/>
                  </a:lnTo>
                  <a:lnTo>
                    <a:pt x="2286000" y="1143000"/>
                  </a:lnTo>
                  <a:lnTo>
                    <a:pt x="2284900" y="1092949"/>
                  </a:lnTo>
                  <a:lnTo>
                    <a:pt x="2281616" y="1043104"/>
                  </a:lnTo>
                  <a:lnTo>
                    <a:pt x="2276167" y="993537"/>
                  </a:lnTo>
                  <a:lnTo>
                    <a:pt x="2268574" y="944319"/>
                  </a:lnTo>
                  <a:lnTo>
                    <a:pt x="2258858" y="895520"/>
                  </a:lnTo>
                  <a:lnTo>
                    <a:pt x="2247039" y="847213"/>
                  </a:lnTo>
                  <a:lnTo>
                    <a:pt x="2233139" y="799469"/>
                  </a:lnTo>
                  <a:lnTo>
                    <a:pt x="2217180" y="752358"/>
                  </a:lnTo>
                  <a:lnTo>
                    <a:pt x="2199183" y="705952"/>
                  </a:lnTo>
                  <a:lnTo>
                    <a:pt x="2179170" y="660322"/>
                  </a:lnTo>
                  <a:lnTo>
                    <a:pt x="2157026" y="615257"/>
                  </a:lnTo>
                  <a:lnTo>
                    <a:pt x="2132990" y="571309"/>
                  </a:lnTo>
                  <a:lnTo>
                    <a:pt x="2106975" y="528545"/>
                  </a:lnTo>
                  <a:lnTo>
                    <a:pt x="2079182" y="487048"/>
                  </a:lnTo>
                  <a:lnTo>
                    <a:pt x="2049774" y="447024"/>
                  </a:lnTo>
                  <a:lnTo>
                    <a:pt x="2018550" y="408168"/>
                  </a:lnTo>
                  <a:lnTo>
                    <a:pt x="1985703" y="370741"/>
                  </a:lnTo>
                  <a:lnTo>
                    <a:pt x="1951286" y="334795"/>
                  </a:lnTo>
                  <a:lnTo>
                    <a:pt x="1915350" y="300379"/>
                  </a:lnTo>
                  <a:lnTo>
                    <a:pt x="1877946" y="267543"/>
                  </a:lnTo>
                  <a:lnTo>
                    <a:pt x="1839126" y="236337"/>
                  </a:lnTo>
                  <a:lnTo>
                    <a:pt x="1798941" y="206811"/>
                  </a:lnTo>
                  <a:lnTo>
                    <a:pt x="1757442" y="179014"/>
                  </a:lnTo>
                  <a:lnTo>
                    <a:pt x="1714677" y="152996"/>
                  </a:lnTo>
                  <a:lnTo>
                    <a:pt x="1670730" y="128963"/>
                  </a:lnTo>
                  <a:lnTo>
                    <a:pt x="1625878" y="106915"/>
                  </a:lnTo>
                  <a:lnTo>
                    <a:pt x="1580192" y="86871"/>
                  </a:lnTo>
                  <a:lnTo>
                    <a:pt x="1533741" y="68852"/>
                  </a:lnTo>
                  <a:lnTo>
                    <a:pt x="1486595" y="52878"/>
                  </a:lnTo>
                  <a:lnTo>
                    <a:pt x="1438825" y="38969"/>
                  </a:lnTo>
                  <a:lnTo>
                    <a:pt x="1390500" y="27145"/>
                  </a:lnTo>
                  <a:lnTo>
                    <a:pt x="1341691" y="17426"/>
                  </a:lnTo>
                  <a:lnTo>
                    <a:pt x="1292466" y="9832"/>
                  </a:lnTo>
                  <a:lnTo>
                    <a:pt x="1242896" y="4383"/>
                  </a:lnTo>
                  <a:lnTo>
                    <a:pt x="1193050" y="1099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4237" y="2765869"/>
              <a:ext cx="1142644" cy="11426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812957" y="1486077"/>
              <a:ext cx="960119" cy="960119"/>
            </a:xfrm>
            <a:custGeom>
              <a:avLst/>
              <a:gdLst/>
              <a:ahLst/>
              <a:cxnLst/>
              <a:rect l="l" t="t" r="r" b="b"/>
              <a:pathLst>
                <a:path w="960120" h="960119">
                  <a:moveTo>
                    <a:pt x="480237" y="0"/>
                  </a:moveTo>
                  <a:lnTo>
                    <a:pt x="429762" y="2620"/>
                  </a:lnTo>
                  <a:lnTo>
                    <a:pt x="380114" y="10425"/>
                  </a:lnTo>
                  <a:lnTo>
                    <a:pt x="331692" y="23328"/>
                  </a:lnTo>
                  <a:lnTo>
                    <a:pt x="284894" y="41243"/>
                  </a:lnTo>
                  <a:lnTo>
                    <a:pt x="240118" y="64084"/>
                  </a:lnTo>
                  <a:lnTo>
                    <a:pt x="197831" y="91545"/>
                  </a:lnTo>
                  <a:lnTo>
                    <a:pt x="158843" y="123172"/>
                  </a:lnTo>
                  <a:lnTo>
                    <a:pt x="123431" y="158637"/>
                  </a:lnTo>
                  <a:lnTo>
                    <a:pt x="91871" y="197610"/>
                  </a:lnTo>
                  <a:lnTo>
                    <a:pt x="64439" y="239763"/>
                  </a:lnTo>
                  <a:lnTo>
                    <a:pt x="41566" y="284709"/>
                  </a:lnTo>
                  <a:lnTo>
                    <a:pt x="23564" y="331593"/>
                  </a:lnTo>
                  <a:lnTo>
                    <a:pt x="10554" y="380014"/>
                  </a:lnTo>
                  <a:lnTo>
                    <a:pt x="2658" y="429577"/>
                  </a:lnTo>
                  <a:lnTo>
                    <a:pt x="0" y="479882"/>
                  </a:lnTo>
                  <a:lnTo>
                    <a:pt x="2658" y="530187"/>
                  </a:lnTo>
                  <a:lnTo>
                    <a:pt x="10554" y="579749"/>
                  </a:lnTo>
                  <a:lnTo>
                    <a:pt x="23564" y="628171"/>
                  </a:lnTo>
                  <a:lnTo>
                    <a:pt x="41566" y="675054"/>
                  </a:lnTo>
                  <a:lnTo>
                    <a:pt x="64439" y="720001"/>
                  </a:lnTo>
                  <a:lnTo>
                    <a:pt x="91871" y="762153"/>
                  </a:lnTo>
                  <a:lnTo>
                    <a:pt x="123431" y="801126"/>
                  </a:lnTo>
                  <a:lnTo>
                    <a:pt x="158843" y="836591"/>
                  </a:lnTo>
                  <a:lnTo>
                    <a:pt x="197831" y="868219"/>
                  </a:lnTo>
                  <a:lnTo>
                    <a:pt x="240118" y="895680"/>
                  </a:lnTo>
                  <a:lnTo>
                    <a:pt x="284894" y="918558"/>
                  </a:lnTo>
                  <a:lnTo>
                    <a:pt x="331692" y="936561"/>
                  </a:lnTo>
                  <a:lnTo>
                    <a:pt x="380114" y="949569"/>
                  </a:lnTo>
                  <a:lnTo>
                    <a:pt x="429762" y="957462"/>
                  </a:lnTo>
                  <a:lnTo>
                    <a:pt x="480237" y="960119"/>
                  </a:lnTo>
                  <a:lnTo>
                    <a:pt x="530539" y="957462"/>
                  </a:lnTo>
                  <a:lnTo>
                    <a:pt x="580082" y="949569"/>
                  </a:lnTo>
                  <a:lnTo>
                    <a:pt x="628450" y="936561"/>
                  </a:lnTo>
                  <a:lnTo>
                    <a:pt x="675228" y="918558"/>
                  </a:lnTo>
                  <a:lnTo>
                    <a:pt x="720001" y="895680"/>
                  </a:lnTo>
                  <a:lnTo>
                    <a:pt x="762289" y="868219"/>
                  </a:lnTo>
                  <a:lnTo>
                    <a:pt x="801280" y="836591"/>
                  </a:lnTo>
                  <a:lnTo>
                    <a:pt x="836694" y="801126"/>
                  </a:lnTo>
                  <a:lnTo>
                    <a:pt x="868253" y="762153"/>
                  </a:lnTo>
                  <a:lnTo>
                    <a:pt x="895680" y="720001"/>
                  </a:lnTo>
                  <a:lnTo>
                    <a:pt x="918558" y="675054"/>
                  </a:lnTo>
                  <a:lnTo>
                    <a:pt x="936561" y="628171"/>
                  </a:lnTo>
                  <a:lnTo>
                    <a:pt x="949569" y="579749"/>
                  </a:lnTo>
                  <a:lnTo>
                    <a:pt x="957462" y="530187"/>
                  </a:lnTo>
                  <a:lnTo>
                    <a:pt x="960120" y="479882"/>
                  </a:lnTo>
                  <a:lnTo>
                    <a:pt x="957462" y="429577"/>
                  </a:lnTo>
                  <a:lnTo>
                    <a:pt x="949569" y="380014"/>
                  </a:lnTo>
                  <a:lnTo>
                    <a:pt x="936561" y="331593"/>
                  </a:lnTo>
                  <a:lnTo>
                    <a:pt x="918558" y="284709"/>
                  </a:lnTo>
                  <a:lnTo>
                    <a:pt x="895680" y="239763"/>
                  </a:lnTo>
                  <a:lnTo>
                    <a:pt x="868253" y="197610"/>
                  </a:lnTo>
                  <a:lnTo>
                    <a:pt x="836694" y="158637"/>
                  </a:lnTo>
                  <a:lnTo>
                    <a:pt x="801280" y="123172"/>
                  </a:lnTo>
                  <a:lnTo>
                    <a:pt x="762289" y="91545"/>
                  </a:lnTo>
                  <a:lnTo>
                    <a:pt x="720001" y="64084"/>
                  </a:lnTo>
                  <a:lnTo>
                    <a:pt x="675228" y="41243"/>
                  </a:lnTo>
                  <a:lnTo>
                    <a:pt x="628450" y="23328"/>
                  </a:lnTo>
                  <a:lnTo>
                    <a:pt x="580082" y="10425"/>
                  </a:lnTo>
                  <a:lnTo>
                    <a:pt x="530539" y="2620"/>
                  </a:lnTo>
                  <a:lnTo>
                    <a:pt x="480237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28959" y="1701723"/>
              <a:ext cx="527761" cy="5277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801277" y="4320717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797" y="0"/>
                  </a:moveTo>
                  <a:lnTo>
                    <a:pt x="337873" y="3290"/>
                  </a:lnTo>
                  <a:lnTo>
                    <a:pt x="288093" y="13095"/>
                  </a:lnTo>
                  <a:lnTo>
                    <a:pt x="240064" y="29312"/>
                  </a:lnTo>
                  <a:lnTo>
                    <a:pt x="194398" y="51841"/>
                  </a:lnTo>
                  <a:lnTo>
                    <a:pt x="152030" y="80186"/>
                  </a:lnTo>
                  <a:lnTo>
                    <a:pt x="113849" y="113626"/>
                  </a:lnTo>
                  <a:lnTo>
                    <a:pt x="80391" y="151725"/>
                  </a:lnTo>
                  <a:lnTo>
                    <a:pt x="52197" y="194043"/>
                  </a:lnTo>
                  <a:lnTo>
                    <a:pt x="29612" y="239759"/>
                  </a:lnTo>
                  <a:lnTo>
                    <a:pt x="13273" y="287870"/>
                  </a:lnTo>
                  <a:lnTo>
                    <a:pt x="3346" y="337668"/>
                  </a:lnTo>
                  <a:lnTo>
                    <a:pt x="0" y="388442"/>
                  </a:lnTo>
                  <a:lnTo>
                    <a:pt x="3346" y="439216"/>
                  </a:lnTo>
                  <a:lnTo>
                    <a:pt x="13273" y="489013"/>
                  </a:lnTo>
                  <a:lnTo>
                    <a:pt x="29612" y="537125"/>
                  </a:lnTo>
                  <a:lnTo>
                    <a:pt x="52197" y="582841"/>
                  </a:lnTo>
                  <a:lnTo>
                    <a:pt x="80391" y="625159"/>
                  </a:lnTo>
                  <a:lnTo>
                    <a:pt x="113849" y="663257"/>
                  </a:lnTo>
                  <a:lnTo>
                    <a:pt x="152030" y="696698"/>
                  </a:lnTo>
                  <a:lnTo>
                    <a:pt x="194398" y="725043"/>
                  </a:lnTo>
                  <a:lnTo>
                    <a:pt x="240064" y="747627"/>
                  </a:lnTo>
                  <a:lnTo>
                    <a:pt x="288093" y="763966"/>
                  </a:lnTo>
                  <a:lnTo>
                    <a:pt x="337873" y="773893"/>
                  </a:lnTo>
                  <a:lnTo>
                    <a:pt x="388797" y="777239"/>
                  </a:lnTo>
                  <a:lnTo>
                    <a:pt x="439521" y="773893"/>
                  </a:lnTo>
                  <a:lnTo>
                    <a:pt x="489196" y="763966"/>
                  </a:lnTo>
                  <a:lnTo>
                    <a:pt x="537182" y="747627"/>
                  </a:lnTo>
                  <a:lnTo>
                    <a:pt x="582841" y="725043"/>
                  </a:lnTo>
                  <a:lnTo>
                    <a:pt x="625209" y="696698"/>
                  </a:lnTo>
                  <a:lnTo>
                    <a:pt x="663390" y="663257"/>
                  </a:lnTo>
                  <a:lnTo>
                    <a:pt x="696848" y="625159"/>
                  </a:lnTo>
                  <a:lnTo>
                    <a:pt x="725043" y="582841"/>
                  </a:lnTo>
                  <a:lnTo>
                    <a:pt x="747627" y="537125"/>
                  </a:lnTo>
                  <a:lnTo>
                    <a:pt x="763966" y="489013"/>
                  </a:lnTo>
                  <a:lnTo>
                    <a:pt x="773893" y="439216"/>
                  </a:lnTo>
                  <a:lnTo>
                    <a:pt x="777240" y="388442"/>
                  </a:lnTo>
                  <a:lnTo>
                    <a:pt x="773893" y="337668"/>
                  </a:lnTo>
                  <a:lnTo>
                    <a:pt x="763966" y="287870"/>
                  </a:lnTo>
                  <a:lnTo>
                    <a:pt x="747627" y="239759"/>
                  </a:lnTo>
                  <a:lnTo>
                    <a:pt x="725043" y="194043"/>
                  </a:lnTo>
                  <a:lnTo>
                    <a:pt x="696848" y="151725"/>
                  </a:lnTo>
                  <a:lnTo>
                    <a:pt x="663390" y="113626"/>
                  </a:lnTo>
                  <a:lnTo>
                    <a:pt x="625209" y="80186"/>
                  </a:lnTo>
                  <a:lnTo>
                    <a:pt x="582841" y="51841"/>
                  </a:lnTo>
                  <a:lnTo>
                    <a:pt x="537182" y="29312"/>
                  </a:lnTo>
                  <a:lnTo>
                    <a:pt x="489196" y="13095"/>
                  </a:lnTo>
                  <a:lnTo>
                    <a:pt x="439521" y="3290"/>
                  </a:lnTo>
                  <a:lnTo>
                    <a:pt x="388797" y="0"/>
                  </a:lnTo>
                  <a:close/>
                </a:path>
              </a:pathLst>
            </a:custGeom>
            <a:solidFill>
              <a:srgbClr val="1930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5320" y="4514392"/>
              <a:ext cx="388442" cy="38844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71664" y="6261379"/>
            <a:ext cx="1437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solidFill>
                  <a:srgbClr val="FFFFFF"/>
                </a:solidFill>
                <a:latin typeface="Tahoma"/>
                <a:cs typeface="Tahoma"/>
              </a:rPr>
              <a:t>Kashish </a:t>
            </a:r>
            <a:r>
              <a:rPr dirty="0" sz="1800" spc="-70">
                <a:solidFill>
                  <a:srgbClr val="FFFFFF"/>
                </a:solidFill>
                <a:latin typeface="Tahoma"/>
                <a:cs typeface="Tahoma"/>
              </a:rPr>
              <a:t>Singhal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39500" y="282854"/>
            <a:ext cx="29952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1E895E"/>
                </a:solidFill>
                <a:latin typeface="Calibri"/>
                <a:cs typeface="Calibri"/>
              </a:rPr>
              <a:t>THE</a:t>
            </a:r>
            <a:r>
              <a:rPr dirty="0" spc="400">
                <a:solidFill>
                  <a:srgbClr val="1E895E"/>
                </a:solidFill>
                <a:latin typeface="Calibri"/>
                <a:cs typeface="Calibri"/>
              </a:rPr>
              <a:t> </a:t>
            </a:r>
            <a:r>
              <a:rPr dirty="0" spc="140">
                <a:solidFill>
                  <a:srgbClr val="1E895E"/>
                </a:solidFill>
                <a:latin typeface="Calibri"/>
                <a:cs typeface="Calibri"/>
              </a:rPr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776884" y="218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464" y="7739"/>
                </a:lnTo>
                <a:lnTo>
                  <a:pt x="114109" y="30594"/>
                </a:lnTo>
                <a:lnTo>
                  <a:pt x="66955" y="67006"/>
                </a:lnTo>
                <a:lnTo>
                  <a:pt x="30594" y="114477"/>
                </a:lnTo>
                <a:lnTo>
                  <a:pt x="7739" y="169514"/>
                </a:lnTo>
                <a:lnTo>
                  <a:pt x="0" y="228600"/>
                </a:lnTo>
                <a:lnTo>
                  <a:pt x="1946" y="258433"/>
                </a:lnTo>
                <a:lnTo>
                  <a:pt x="17311" y="316080"/>
                </a:lnTo>
                <a:lnTo>
                  <a:pt x="47297" y="367871"/>
                </a:lnTo>
                <a:lnTo>
                  <a:pt x="89473" y="409905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5"/>
                </a:lnTo>
                <a:lnTo>
                  <a:pt x="409900" y="367871"/>
                </a:lnTo>
                <a:lnTo>
                  <a:pt x="439883" y="316080"/>
                </a:lnTo>
                <a:lnTo>
                  <a:pt x="455253" y="258433"/>
                </a:lnTo>
                <a:lnTo>
                  <a:pt x="457200" y="228600"/>
                </a:lnTo>
                <a:lnTo>
                  <a:pt x="455253" y="198772"/>
                </a:lnTo>
                <a:lnTo>
                  <a:pt x="439883" y="141269"/>
                </a:lnTo>
                <a:lnTo>
                  <a:pt x="409900" y="89478"/>
                </a:lnTo>
                <a:lnTo>
                  <a:pt x="367871" y="47299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6884" y="27885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464" y="7739"/>
                </a:lnTo>
                <a:lnTo>
                  <a:pt x="114109" y="30594"/>
                </a:lnTo>
                <a:lnTo>
                  <a:pt x="66955" y="67002"/>
                </a:lnTo>
                <a:lnTo>
                  <a:pt x="30594" y="114477"/>
                </a:lnTo>
                <a:lnTo>
                  <a:pt x="7739" y="169510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7" y="367871"/>
                </a:lnTo>
                <a:lnTo>
                  <a:pt x="89473" y="409900"/>
                </a:lnTo>
                <a:lnTo>
                  <a:pt x="141267" y="439883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3"/>
                </a:lnTo>
                <a:lnTo>
                  <a:pt x="367871" y="409900"/>
                </a:lnTo>
                <a:lnTo>
                  <a:pt x="409900" y="367871"/>
                </a:lnTo>
                <a:lnTo>
                  <a:pt x="439883" y="316075"/>
                </a:lnTo>
                <a:lnTo>
                  <a:pt x="455253" y="258431"/>
                </a:lnTo>
                <a:lnTo>
                  <a:pt x="457200" y="228600"/>
                </a:lnTo>
                <a:lnTo>
                  <a:pt x="455253" y="198766"/>
                </a:lnTo>
                <a:lnTo>
                  <a:pt x="439883" y="141267"/>
                </a:lnTo>
                <a:lnTo>
                  <a:pt x="409900" y="89473"/>
                </a:lnTo>
                <a:lnTo>
                  <a:pt x="367871" y="47297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6884" y="33919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464" y="7740"/>
                </a:lnTo>
                <a:lnTo>
                  <a:pt x="114109" y="30607"/>
                </a:lnTo>
                <a:lnTo>
                  <a:pt x="66955" y="67008"/>
                </a:lnTo>
                <a:lnTo>
                  <a:pt x="30594" y="114477"/>
                </a:lnTo>
                <a:lnTo>
                  <a:pt x="7739" y="169519"/>
                </a:lnTo>
                <a:lnTo>
                  <a:pt x="0" y="228600"/>
                </a:lnTo>
                <a:lnTo>
                  <a:pt x="1946" y="258438"/>
                </a:lnTo>
                <a:lnTo>
                  <a:pt x="17311" y="316082"/>
                </a:lnTo>
                <a:lnTo>
                  <a:pt x="47297" y="367876"/>
                </a:lnTo>
                <a:lnTo>
                  <a:pt x="89473" y="409907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7"/>
                </a:lnTo>
                <a:lnTo>
                  <a:pt x="409900" y="367876"/>
                </a:lnTo>
                <a:lnTo>
                  <a:pt x="439883" y="316082"/>
                </a:lnTo>
                <a:lnTo>
                  <a:pt x="455253" y="258438"/>
                </a:lnTo>
                <a:lnTo>
                  <a:pt x="457200" y="228600"/>
                </a:lnTo>
                <a:lnTo>
                  <a:pt x="455253" y="198774"/>
                </a:lnTo>
                <a:lnTo>
                  <a:pt x="439883" y="141274"/>
                </a:lnTo>
                <a:lnTo>
                  <a:pt x="409900" y="89478"/>
                </a:lnTo>
                <a:lnTo>
                  <a:pt x="367871" y="47305"/>
                </a:lnTo>
                <a:lnTo>
                  <a:pt x="316075" y="17316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6884" y="39956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464" y="7740"/>
                </a:lnTo>
                <a:lnTo>
                  <a:pt x="114109" y="30607"/>
                </a:lnTo>
                <a:lnTo>
                  <a:pt x="66955" y="67008"/>
                </a:lnTo>
                <a:lnTo>
                  <a:pt x="30594" y="114477"/>
                </a:lnTo>
                <a:lnTo>
                  <a:pt x="7739" y="169519"/>
                </a:lnTo>
                <a:lnTo>
                  <a:pt x="0" y="228600"/>
                </a:lnTo>
                <a:lnTo>
                  <a:pt x="1946" y="258438"/>
                </a:lnTo>
                <a:lnTo>
                  <a:pt x="17311" y="316082"/>
                </a:lnTo>
                <a:lnTo>
                  <a:pt x="47297" y="367876"/>
                </a:lnTo>
                <a:lnTo>
                  <a:pt x="89473" y="409907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7"/>
                </a:lnTo>
                <a:lnTo>
                  <a:pt x="409900" y="367876"/>
                </a:lnTo>
                <a:lnTo>
                  <a:pt x="439883" y="316082"/>
                </a:lnTo>
                <a:lnTo>
                  <a:pt x="455253" y="258438"/>
                </a:lnTo>
                <a:lnTo>
                  <a:pt x="457200" y="228600"/>
                </a:lnTo>
                <a:lnTo>
                  <a:pt x="455253" y="198774"/>
                </a:lnTo>
                <a:lnTo>
                  <a:pt x="439883" y="141274"/>
                </a:lnTo>
                <a:lnTo>
                  <a:pt x="409900" y="89478"/>
                </a:lnTo>
                <a:lnTo>
                  <a:pt x="367871" y="47305"/>
                </a:lnTo>
                <a:lnTo>
                  <a:pt x="316075" y="17316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6884" y="459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464" y="7739"/>
                </a:lnTo>
                <a:lnTo>
                  <a:pt x="114109" y="30594"/>
                </a:lnTo>
                <a:lnTo>
                  <a:pt x="66955" y="67006"/>
                </a:lnTo>
                <a:lnTo>
                  <a:pt x="30594" y="114477"/>
                </a:lnTo>
                <a:lnTo>
                  <a:pt x="7739" y="169514"/>
                </a:lnTo>
                <a:lnTo>
                  <a:pt x="0" y="228600"/>
                </a:lnTo>
                <a:lnTo>
                  <a:pt x="1946" y="258433"/>
                </a:lnTo>
                <a:lnTo>
                  <a:pt x="17311" y="316080"/>
                </a:lnTo>
                <a:lnTo>
                  <a:pt x="47297" y="367871"/>
                </a:lnTo>
                <a:lnTo>
                  <a:pt x="89473" y="409905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5"/>
                </a:lnTo>
                <a:lnTo>
                  <a:pt x="409900" y="367871"/>
                </a:lnTo>
                <a:lnTo>
                  <a:pt x="439883" y="316080"/>
                </a:lnTo>
                <a:lnTo>
                  <a:pt x="455253" y="258433"/>
                </a:lnTo>
                <a:lnTo>
                  <a:pt x="457200" y="228600"/>
                </a:lnTo>
                <a:lnTo>
                  <a:pt x="455253" y="198772"/>
                </a:lnTo>
                <a:lnTo>
                  <a:pt x="439883" y="141269"/>
                </a:lnTo>
                <a:lnTo>
                  <a:pt x="409900" y="89478"/>
                </a:lnTo>
                <a:lnTo>
                  <a:pt x="367871" y="47299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8665" y="992784"/>
            <a:ext cx="5193665" cy="414210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ts val="4029"/>
              </a:lnSpc>
              <a:spcBef>
                <a:spcPts val="75"/>
              </a:spcBef>
            </a:pP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Students</a:t>
            </a:r>
            <a:r>
              <a:rPr dirty="0" sz="3200" spc="-11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Walk</a:t>
            </a:r>
            <a:r>
              <a:rPr dirty="0" sz="3200" spc="-10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Across</a:t>
            </a:r>
            <a:r>
              <a:rPr dirty="0" sz="3200" spc="-10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11223E"/>
                </a:solidFill>
                <a:latin typeface="Calibri"/>
                <a:cs typeface="Calibri"/>
              </a:rPr>
              <a:t>Campus.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But</a:t>
            </a:r>
            <a:r>
              <a:rPr dirty="0" sz="3200" spc="-5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There's</a:t>
            </a:r>
            <a:r>
              <a:rPr dirty="0" sz="3200" spc="-5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No</a:t>
            </a:r>
            <a:r>
              <a:rPr dirty="0" sz="3200" spc="-5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11223E"/>
                </a:solidFill>
                <a:latin typeface="Calibri"/>
                <a:cs typeface="Calibri"/>
              </a:rPr>
              <a:t>Motivation.</a:t>
            </a:r>
            <a:endParaRPr sz="320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1415"/>
              </a:spcBef>
            </a:pP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Hours</a:t>
            </a:r>
            <a:r>
              <a:rPr dirty="0" sz="1400" spc="-2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of</a:t>
            </a:r>
            <a:r>
              <a:rPr dirty="0" sz="1400" spc="-2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1223E"/>
                </a:solidFill>
                <a:latin typeface="Calibri"/>
                <a:cs typeface="Calibri"/>
              </a:rPr>
              <a:t>Sitting</a:t>
            </a:r>
            <a:endParaRPr sz="140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1310"/>
              </a:spcBef>
            </a:pP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Classes, 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labs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and </a:t>
            </a:r>
            <a:r>
              <a:rPr dirty="0" sz="1100" spc="-35">
                <a:solidFill>
                  <a:srgbClr val="6A717F"/>
                </a:solidFill>
                <a:latin typeface="Tahoma"/>
                <a:cs typeface="Tahoma"/>
              </a:rPr>
              <a:t>libraries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keep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students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seated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most</a:t>
            </a:r>
            <a:r>
              <a:rPr dirty="0" sz="1100" spc="-7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6A717F"/>
                </a:solidFill>
                <a:latin typeface="Tahoma"/>
                <a:cs typeface="Tahoma"/>
              </a:rPr>
              <a:t>of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6A717F"/>
                </a:solidFill>
                <a:latin typeface="Tahoma"/>
                <a:cs typeface="Tahoma"/>
              </a:rPr>
              <a:t>the</a:t>
            </a:r>
            <a:r>
              <a:rPr dirty="0" sz="1100" spc="-6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6A717F"/>
                </a:solidFill>
                <a:latin typeface="Tahoma"/>
                <a:cs typeface="Tahoma"/>
              </a:rPr>
              <a:t>day.</a:t>
            </a:r>
            <a:endParaRPr sz="1100">
              <a:latin typeface="Tahoma"/>
              <a:cs typeface="Tahoma"/>
            </a:endParaRPr>
          </a:p>
          <a:p>
            <a:pPr marL="807720">
              <a:lnSpc>
                <a:spcPct val="100000"/>
              </a:lnSpc>
              <a:spcBef>
                <a:spcPts val="445"/>
              </a:spcBef>
            </a:pP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Low</a:t>
            </a:r>
            <a:r>
              <a:rPr dirty="0" sz="1400" spc="-3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1223E"/>
                </a:solidFill>
                <a:latin typeface="Calibri"/>
                <a:cs typeface="Calibri"/>
              </a:rPr>
              <a:t>Motivation</a:t>
            </a:r>
            <a:endParaRPr sz="1400">
              <a:latin typeface="Calibri"/>
              <a:cs typeface="Calibri"/>
            </a:endParaRPr>
          </a:p>
          <a:p>
            <a:pPr marL="808355">
              <a:lnSpc>
                <a:spcPct val="100000"/>
              </a:lnSpc>
              <a:spcBef>
                <a:spcPts val="1240"/>
              </a:spcBef>
            </a:pPr>
            <a:r>
              <a:rPr dirty="0" sz="1100" spc="-40">
                <a:solidFill>
                  <a:srgbClr val="6A717F"/>
                </a:solidFill>
                <a:latin typeface="Tahoma"/>
                <a:cs typeface="Tahoma"/>
              </a:rPr>
              <a:t>Nothing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pushes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students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6A717F"/>
                </a:solidFill>
                <a:latin typeface="Tahoma"/>
                <a:cs typeface="Tahoma"/>
              </a:rPr>
              <a:t>to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move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 beyond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6A717F"/>
                </a:solidFill>
                <a:latin typeface="Tahoma"/>
                <a:cs typeface="Tahoma"/>
              </a:rPr>
              <a:t>the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bare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17F"/>
                </a:solidFill>
                <a:latin typeface="Tahoma"/>
                <a:cs typeface="Tahoma"/>
              </a:rPr>
              <a:t>minimum.</a:t>
            </a:r>
            <a:endParaRPr sz="1100">
              <a:latin typeface="Tahoma"/>
              <a:cs typeface="Tahoma"/>
            </a:endParaRPr>
          </a:p>
          <a:p>
            <a:pPr marL="807720">
              <a:lnSpc>
                <a:spcPct val="100000"/>
              </a:lnSpc>
              <a:spcBef>
                <a:spcPts val="509"/>
              </a:spcBef>
            </a:pP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Generic</a:t>
            </a:r>
            <a:r>
              <a:rPr dirty="0" sz="1400" spc="-4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Fitness</a:t>
            </a:r>
            <a:r>
              <a:rPr dirty="0" sz="1400" spc="-3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11223E"/>
                </a:solidFill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1420"/>
              </a:spcBef>
            </a:pPr>
            <a:r>
              <a:rPr dirty="0" sz="1100" spc="-25">
                <a:solidFill>
                  <a:srgbClr val="6A717F"/>
                </a:solidFill>
                <a:latin typeface="Tahoma"/>
                <a:cs typeface="Tahoma"/>
              </a:rPr>
              <a:t>Built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6A717F"/>
                </a:solidFill>
                <a:latin typeface="Tahoma"/>
                <a:cs typeface="Tahoma"/>
              </a:rPr>
              <a:t>for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anyone,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everywhere</a:t>
            </a:r>
            <a:r>
              <a:rPr dirty="0" sz="1100" spc="-6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17F"/>
                </a:solidFill>
                <a:latin typeface="Tahoma"/>
                <a:cs typeface="Tahoma"/>
              </a:rPr>
              <a:t>—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6A717F"/>
                </a:solidFill>
                <a:latin typeface="Tahoma"/>
                <a:cs typeface="Tahoma"/>
              </a:rPr>
              <a:t>not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6A717F"/>
                </a:solidFill>
                <a:latin typeface="Tahoma"/>
                <a:cs typeface="Tahoma"/>
              </a:rPr>
              <a:t>for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campus </a:t>
            </a:r>
            <a:r>
              <a:rPr dirty="0" sz="1100" spc="-20">
                <a:solidFill>
                  <a:srgbClr val="6A717F"/>
                </a:solidFill>
                <a:latin typeface="Tahoma"/>
                <a:cs typeface="Tahoma"/>
              </a:rPr>
              <a:t>life.</a:t>
            </a:r>
            <a:endParaRPr sz="1100">
              <a:latin typeface="Tahoma"/>
              <a:cs typeface="Tahoma"/>
            </a:endParaRPr>
          </a:p>
          <a:p>
            <a:pPr marL="807720">
              <a:lnSpc>
                <a:spcPct val="100000"/>
              </a:lnSpc>
              <a:spcBef>
                <a:spcPts val="334"/>
              </a:spcBef>
            </a:pP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No</a:t>
            </a:r>
            <a:r>
              <a:rPr dirty="0" sz="1400" spc="-3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Real</a:t>
            </a:r>
            <a:r>
              <a:rPr dirty="0" sz="1400" spc="-2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1223E"/>
                </a:solidFill>
                <a:latin typeface="Calibri"/>
                <a:cs typeface="Calibri"/>
              </a:rPr>
              <a:t>Competition</a:t>
            </a:r>
            <a:endParaRPr sz="140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950"/>
              </a:spcBef>
            </a:pPr>
            <a:r>
              <a:rPr dirty="0" sz="1100" spc="-35">
                <a:solidFill>
                  <a:srgbClr val="6A717F"/>
                </a:solidFill>
                <a:latin typeface="Tahoma"/>
                <a:cs typeface="Tahoma"/>
              </a:rPr>
              <a:t>Missing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6A717F"/>
                </a:solidFill>
                <a:latin typeface="Tahoma"/>
                <a:cs typeface="Tahoma"/>
              </a:rPr>
              <a:t>the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6A717F"/>
                </a:solidFill>
                <a:latin typeface="Tahoma"/>
                <a:cs typeface="Tahoma"/>
              </a:rPr>
              <a:t>social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edge</a:t>
            </a:r>
            <a:r>
              <a:rPr dirty="0" sz="1100" spc="-6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6A717F"/>
                </a:solidFill>
                <a:latin typeface="Tahoma"/>
                <a:cs typeface="Tahoma"/>
              </a:rPr>
              <a:t>that</a:t>
            </a:r>
            <a:r>
              <a:rPr dirty="0" sz="1100" spc="-6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keeps</a:t>
            </a:r>
            <a:r>
              <a:rPr dirty="0" sz="1100" spc="-7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6A717F"/>
                </a:solidFill>
                <a:latin typeface="Tahoma"/>
                <a:cs typeface="Tahoma"/>
              </a:rPr>
              <a:t>people</a:t>
            </a:r>
            <a:r>
              <a:rPr dirty="0" sz="1100" spc="-4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coming </a:t>
            </a:r>
            <a:r>
              <a:rPr dirty="0" sz="1100" spc="-20">
                <a:solidFill>
                  <a:srgbClr val="6A717F"/>
                </a:solidFill>
                <a:latin typeface="Tahoma"/>
                <a:cs typeface="Tahoma"/>
              </a:rPr>
              <a:t>back.</a:t>
            </a:r>
            <a:endParaRPr sz="1100">
              <a:latin typeface="Tahoma"/>
              <a:cs typeface="Tahoma"/>
            </a:endParaRPr>
          </a:p>
          <a:p>
            <a:pPr marL="807720">
              <a:lnSpc>
                <a:spcPct val="100000"/>
              </a:lnSpc>
              <a:spcBef>
                <a:spcPts val="800"/>
              </a:spcBef>
            </a:pP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No</a:t>
            </a:r>
            <a:r>
              <a:rPr dirty="0" sz="1400" spc="-4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Reward</a:t>
            </a:r>
            <a:r>
              <a:rPr dirty="0" sz="1400" spc="-3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1223E"/>
                </a:solidFill>
                <a:latin typeface="Calibri"/>
                <a:cs typeface="Calibri"/>
              </a:rPr>
              <a:t>for</a:t>
            </a:r>
            <a:r>
              <a:rPr dirty="0" sz="1400" spc="-3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1223E"/>
                </a:solidFill>
                <a:latin typeface="Calibri"/>
                <a:cs typeface="Calibri"/>
              </a:rPr>
              <a:t>Consistency</a:t>
            </a:r>
            <a:endParaRPr sz="140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950"/>
              </a:spcBef>
            </a:pPr>
            <a:r>
              <a:rPr dirty="0" sz="1100" spc="-40">
                <a:solidFill>
                  <a:srgbClr val="6A717F"/>
                </a:solidFill>
                <a:latin typeface="Tahoma"/>
                <a:cs typeface="Tahoma"/>
              </a:rPr>
              <a:t>Nothing</a:t>
            </a:r>
            <a:r>
              <a:rPr dirty="0" sz="1100" spc="-6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6A717F"/>
                </a:solidFill>
                <a:latin typeface="Tahoma"/>
                <a:cs typeface="Tahoma"/>
              </a:rPr>
              <a:t>to</a:t>
            </a:r>
            <a:r>
              <a:rPr dirty="0" sz="1100" spc="-6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gain</a:t>
            </a:r>
            <a:r>
              <a:rPr dirty="0" sz="1100" spc="-7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6A717F"/>
                </a:solidFill>
                <a:latin typeface="Tahoma"/>
                <a:cs typeface="Tahoma"/>
              </a:rPr>
              <a:t>by 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showing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6A717F"/>
                </a:solidFill>
                <a:latin typeface="Tahoma"/>
                <a:cs typeface="Tahoma"/>
              </a:rPr>
              <a:t>up</a:t>
            </a:r>
            <a:r>
              <a:rPr dirty="0" sz="1100" spc="-6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and</a:t>
            </a:r>
            <a:r>
              <a:rPr dirty="0" sz="1100" spc="-7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walking</a:t>
            </a:r>
            <a:r>
              <a:rPr dirty="0" sz="1100" spc="-6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6A717F"/>
                </a:solidFill>
                <a:latin typeface="Tahoma"/>
                <a:cs typeface="Tahoma"/>
              </a:rPr>
              <a:t>every</a:t>
            </a:r>
            <a:r>
              <a:rPr dirty="0" sz="1100" spc="-7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6A717F"/>
                </a:solidFill>
                <a:latin typeface="Tahoma"/>
                <a:cs typeface="Tahoma"/>
              </a:rPr>
              <a:t>day.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34884" y="1929955"/>
            <a:ext cx="3931920" cy="3138805"/>
            <a:chOff x="7634884" y="1929955"/>
            <a:chExt cx="3931920" cy="3138805"/>
          </a:xfrm>
        </p:grpSpPr>
        <p:sp>
          <p:nvSpPr>
            <p:cNvPr id="10" name="object 10"/>
            <p:cNvSpPr/>
            <p:nvPr/>
          </p:nvSpPr>
          <p:spPr>
            <a:xfrm>
              <a:off x="7634884" y="1929955"/>
              <a:ext cx="3931920" cy="3138805"/>
            </a:xfrm>
            <a:custGeom>
              <a:avLst/>
              <a:gdLst/>
              <a:ahLst/>
              <a:cxnLst/>
              <a:rect l="l" t="t" r="r" b="b"/>
              <a:pathLst>
                <a:path w="3931920" h="3138804">
                  <a:moveTo>
                    <a:pt x="3931551" y="0"/>
                  </a:moveTo>
                  <a:lnTo>
                    <a:pt x="0" y="0"/>
                  </a:lnTo>
                  <a:lnTo>
                    <a:pt x="0" y="3138487"/>
                  </a:lnTo>
                  <a:lnTo>
                    <a:pt x="1965959" y="3138487"/>
                  </a:lnTo>
                  <a:lnTo>
                    <a:pt x="3931551" y="3138487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EE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280804" y="265140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54" y="66136"/>
                  </a:lnTo>
                  <a:lnTo>
                    <a:pt x="93687" y="93687"/>
                  </a:lnTo>
                  <a:lnTo>
                    <a:pt x="66136" y="125154"/>
                  </a:lnTo>
                  <a:lnTo>
                    <a:pt x="42837" y="160197"/>
                  </a:lnTo>
                  <a:lnTo>
                    <a:pt x="24297" y="197780"/>
                  </a:lnTo>
                  <a:lnTo>
                    <a:pt x="10888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2744" y="361878"/>
                  </a:lnTo>
                  <a:lnTo>
                    <a:pt x="10888" y="402839"/>
                  </a:lnTo>
                  <a:lnTo>
                    <a:pt x="24297" y="442449"/>
                  </a:lnTo>
                  <a:lnTo>
                    <a:pt x="42837" y="480237"/>
                  </a:lnTo>
                  <a:lnTo>
                    <a:pt x="66136" y="515073"/>
                  </a:lnTo>
                  <a:lnTo>
                    <a:pt x="93687" y="546430"/>
                  </a:lnTo>
                  <a:lnTo>
                    <a:pt x="125154" y="573938"/>
                  </a:lnTo>
                  <a:lnTo>
                    <a:pt x="160197" y="597230"/>
                  </a:lnTo>
                  <a:lnTo>
                    <a:pt x="197780" y="615771"/>
                  </a:lnTo>
                  <a:lnTo>
                    <a:pt x="237285" y="629184"/>
                  </a:lnTo>
                  <a:lnTo>
                    <a:pt x="278207" y="637333"/>
                  </a:lnTo>
                  <a:lnTo>
                    <a:pt x="320039" y="640080"/>
                  </a:lnTo>
                  <a:lnTo>
                    <a:pt x="361878" y="637333"/>
                  </a:lnTo>
                  <a:lnTo>
                    <a:pt x="402839" y="629184"/>
                  </a:lnTo>
                  <a:lnTo>
                    <a:pt x="442449" y="615771"/>
                  </a:lnTo>
                  <a:lnTo>
                    <a:pt x="480237" y="597230"/>
                  </a:lnTo>
                  <a:lnTo>
                    <a:pt x="515073" y="573938"/>
                  </a:lnTo>
                  <a:lnTo>
                    <a:pt x="546430" y="546430"/>
                  </a:lnTo>
                  <a:lnTo>
                    <a:pt x="573938" y="515073"/>
                  </a:lnTo>
                  <a:lnTo>
                    <a:pt x="597230" y="480237"/>
                  </a:lnTo>
                  <a:lnTo>
                    <a:pt x="615771" y="442449"/>
                  </a:lnTo>
                  <a:lnTo>
                    <a:pt x="629184" y="402839"/>
                  </a:lnTo>
                  <a:lnTo>
                    <a:pt x="637333" y="361878"/>
                  </a:lnTo>
                  <a:lnTo>
                    <a:pt x="640079" y="320039"/>
                  </a:lnTo>
                  <a:lnTo>
                    <a:pt x="637333" y="278207"/>
                  </a:lnTo>
                  <a:lnTo>
                    <a:pt x="629184" y="237285"/>
                  </a:lnTo>
                  <a:lnTo>
                    <a:pt x="615771" y="197780"/>
                  </a:lnTo>
                  <a:lnTo>
                    <a:pt x="597230" y="160197"/>
                  </a:lnTo>
                  <a:lnTo>
                    <a:pt x="573938" y="125154"/>
                  </a:lnTo>
                  <a:lnTo>
                    <a:pt x="546430" y="93687"/>
                  </a:lnTo>
                  <a:lnTo>
                    <a:pt x="515073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165" y="2795409"/>
              <a:ext cx="351713" cy="35171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590216" y="3136076"/>
            <a:ext cx="2015489" cy="1276985"/>
          </a:xfrm>
          <a:prstGeom prst="rect">
            <a:avLst/>
          </a:prstGeom>
        </p:spPr>
        <p:txBody>
          <a:bodyPr wrap="square" lIns="0" tIns="33083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2605"/>
              </a:spcBef>
            </a:pPr>
            <a:r>
              <a:rPr dirty="0" sz="4600" spc="-25" b="1">
                <a:solidFill>
                  <a:srgbClr val="11223E"/>
                </a:solidFill>
                <a:latin typeface="Calibri"/>
                <a:cs typeface="Calibri"/>
              </a:rPr>
              <a:t>6+</a:t>
            </a:r>
            <a:endParaRPr sz="4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1050" spc="80" b="1">
                <a:solidFill>
                  <a:srgbClr val="6A717F"/>
                </a:solidFill>
                <a:latin typeface="Calibri"/>
                <a:cs typeface="Calibri"/>
              </a:rPr>
              <a:t>HOURS</a:t>
            </a:r>
            <a:r>
              <a:rPr dirty="0" sz="1050" spc="250" b="1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6A717F"/>
                </a:solidFill>
                <a:latin typeface="Calibri"/>
                <a:cs typeface="Calibri"/>
              </a:rPr>
              <a:t>SPENT</a:t>
            </a:r>
            <a:r>
              <a:rPr dirty="0" sz="1050" spc="250" b="1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6A717F"/>
                </a:solidFill>
                <a:latin typeface="Calibri"/>
                <a:cs typeface="Calibri"/>
              </a:rPr>
              <a:t>SITTING,</a:t>
            </a:r>
            <a:r>
              <a:rPr dirty="0" sz="1050" spc="245" b="1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dirty="0" sz="1050" spc="40" b="1">
                <a:solidFill>
                  <a:srgbClr val="6A717F"/>
                </a:solidFill>
                <a:latin typeface="Calibri"/>
                <a:cs typeface="Calibri"/>
              </a:rPr>
              <a:t>DAILY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636" y="5606999"/>
            <a:ext cx="12156440" cy="914400"/>
          </a:xfrm>
          <a:custGeom>
            <a:avLst/>
            <a:gdLst/>
            <a:ahLst/>
            <a:cxnLst/>
            <a:rect l="l" t="t" r="r" b="b"/>
            <a:pathLst>
              <a:path w="12156440" h="914400">
                <a:moveTo>
                  <a:pt x="12156122" y="0"/>
                </a:moveTo>
                <a:lnTo>
                  <a:pt x="0" y="0"/>
                </a:lnTo>
                <a:lnTo>
                  <a:pt x="0" y="914044"/>
                </a:lnTo>
                <a:lnTo>
                  <a:pt x="12156122" y="914044"/>
                </a:lnTo>
                <a:lnTo>
                  <a:pt x="12156122" y="0"/>
                </a:lnTo>
                <a:close/>
              </a:path>
            </a:pathLst>
          </a:custGeom>
          <a:solidFill>
            <a:srgbClr val="1122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055226" y="5861786"/>
            <a:ext cx="61321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“Students</a:t>
            </a:r>
            <a:r>
              <a:rPr dirty="0" sz="15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already</a:t>
            </a:r>
            <a:r>
              <a:rPr dirty="0" sz="15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walk</a:t>
            </a:r>
            <a:r>
              <a:rPr dirty="0" sz="15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around</a:t>
            </a:r>
            <a:r>
              <a:rPr dirty="0" sz="15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campus</a:t>
            </a:r>
            <a:r>
              <a:rPr dirty="0" sz="15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5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15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turn</a:t>
            </a:r>
            <a:r>
              <a:rPr dirty="0" sz="15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those</a:t>
            </a:r>
            <a:r>
              <a:rPr dirty="0" sz="15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r>
              <a:rPr dirty="0" sz="15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5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i="1">
                <a:solidFill>
                  <a:srgbClr val="FFFFFF"/>
                </a:solidFill>
                <a:latin typeface="Calibri"/>
                <a:cs typeface="Calibri"/>
              </a:rPr>
              <a:t>motivation.”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686222" y="6402870"/>
            <a:ext cx="154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6A717F"/>
                </a:solidFill>
                <a:latin typeface="Tahoma"/>
                <a:cs typeface="Tahoma"/>
              </a:rPr>
              <a:t>02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9856" y="6410426"/>
            <a:ext cx="10058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95">
                <a:solidFill>
                  <a:srgbClr val="6A717F"/>
                </a:solidFill>
                <a:latin typeface="Tahoma"/>
                <a:cs typeface="Tahoma"/>
              </a:rPr>
              <a:t>T</a:t>
            </a:r>
            <a:r>
              <a:rPr dirty="0" sz="900" spc="-14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6A717F"/>
                </a:solidFill>
                <a:latin typeface="Tahoma"/>
                <a:cs typeface="Tahoma"/>
              </a:rPr>
              <a:t>H</a:t>
            </a:r>
            <a:r>
              <a:rPr dirty="0" sz="900" spc="-13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6A717F"/>
                </a:solidFill>
                <a:latin typeface="Tahoma"/>
                <a:cs typeface="Tahoma"/>
              </a:rPr>
              <a:t>A</a:t>
            </a:r>
            <a:r>
              <a:rPr dirty="0" sz="900" spc="-14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6A717F"/>
                </a:solidFill>
                <a:latin typeface="Tahoma"/>
                <a:cs typeface="Tahoma"/>
              </a:rPr>
              <a:t>PA</a:t>
            </a:r>
            <a:r>
              <a:rPr dirty="0" sz="900" spc="-12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6A717F"/>
                </a:solidFill>
                <a:latin typeface="Tahoma"/>
                <a:cs typeface="Tahoma"/>
              </a:rPr>
              <a:t>R</a:t>
            </a:r>
            <a:r>
              <a:rPr dirty="0" sz="900" spc="204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90">
                <a:solidFill>
                  <a:srgbClr val="6A717F"/>
                </a:solidFill>
                <a:latin typeface="Tahoma"/>
                <a:cs typeface="Tahoma"/>
              </a:rPr>
              <a:t>S</a:t>
            </a:r>
            <a:r>
              <a:rPr dirty="0" sz="900" spc="-14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95">
                <a:solidFill>
                  <a:srgbClr val="6A717F"/>
                </a:solidFill>
                <a:latin typeface="Tahoma"/>
                <a:cs typeface="Tahoma"/>
              </a:rPr>
              <a:t>T</a:t>
            </a:r>
            <a:r>
              <a:rPr dirty="0" sz="900" spc="-13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6A717F"/>
                </a:solidFill>
                <a:latin typeface="Tahoma"/>
                <a:cs typeface="Tahoma"/>
              </a:rPr>
              <a:t>E</a:t>
            </a:r>
            <a:r>
              <a:rPr dirty="0" sz="900" spc="-13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6A717F"/>
                </a:solidFill>
                <a:latin typeface="Tahoma"/>
                <a:cs typeface="Tahoma"/>
              </a:rPr>
              <a:t>P</a:t>
            </a:r>
            <a:r>
              <a:rPr dirty="0" sz="900" spc="-14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6A717F"/>
                </a:solidFill>
                <a:latin typeface="Tahoma"/>
                <a:cs typeface="Tahoma"/>
              </a:rPr>
              <a:t>U</a:t>
            </a:r>
            <a:r>
              <a:rPr dirty="0" sz="900" spc="-13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6A717F"/>
                </a:solidFill>
                <a:latin typeface="Tahoma"/>
                <a:cs typeface="Tahoma"/>
              </a:rPr>
              <a:t>P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95025" y="173050"/>
            <a:ext cx="23761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340" b="0">
                <a:latin typeface="Tahoma"/>
                <a:cs typeface="Tahoma"/>
              </a:rPr>
              <a:t>SOLUTION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8665" y="863536"/>
            <a:ext cx="3529329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Meet</a:t>
            </a:r>
            <a:r>
              <a:rPr dirty="0" sz="3200" spc="-6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Thapar</a:t>
            </a:r>
            <a:r>
              <a:rPr dirty="0" sz="3200" spc="-6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11223E"/>
                </a:solidFill>
                <a:latin typeface="Calibri"/>
                <a:cs typeface="Calibri"/>
              </a:rPr>
              <a:t>StepUp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141" y="1870100"/>
            <a:ext cx="45192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6A717F"/>
                </a:solidFill>
                <a:latin typeface="Tahoma"/>
                <a:cs typeface="Tahoma"/>
              </a:rPr>
              <a:t>One</a:t>
            </a:r>
            <a:r>
              <a:rPr dirty="0" sz="1400" spc="-8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6A717F"/>
                </a:solidFill>
                <a:latin typeface="Tahoma"/>
                <a:cs typeface="Tahoma"/>
              </a:rPr>
              <a:t>simple</a:t>
            </a:r>
            <a:r>
              <a:rPr dirty="0" sz="1400" spc="-8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70">
                <a:solidFill>
                  <a:srgbClr val="6A717F"/>
                </a:solidFill>
                <a:latin typeface="Tahoma"/>
                <a:cs typeface="Tahoma"/>
              </a:rPr>
              <a:t>idea:</a:t>
            </a:r>
            <a:r>
              <a:rPr dirty="0" sz="1400" spc="-9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6A717F"/>
                </a:solidFill>
                <a:latin typeface="Tahoma"/>
                <a:cs typeface="Tahoma"/>
              </a:rPr>
              <a:t>turn</a:t>
            </a:r>
            <a:r>
              <a:rPr dirty="0" sz="1400" spc="-9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6A717F"/>
                </a:solidFill>
                <a:latin typeface="Tahoma"/>
                <a:cs typeface="Tahoma"/>
              </a:rPr>
              <a:t>every</a:t>
            </a:r>
            <a:r>
              <a:rPr dirty="0" sz="1400" spc="-9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6A717F"/>
                </a:solidFill>
                <a:latin typeface="Tahoma"/>
                <a:cs typeface="Tahoma"/>
              </a:rPr>
              <a:t>walk</a:t>
            </a:r>
            <a:r>
              <a:rPr dirty="0" sz="1400" spc="-8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70">
                <a:solidFill>
                  <a:srgbClr val="6A717F"/>
                </a:solidFill>
                <a:latin typeface="Tahoma"/>
                <a:cs typeface="Tahoma"/>
              </a:rPr>
              <a:t>across</a:t>
            </a:r>
            <a:r>
              <a:rPr dirty="0" sz="1400" spc="-9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70">
                <a:solidFill>
                  <a:srgbClr val="6A717F"/>
                </a:solidFill>
                <a:latin typeface="Tahoma"/>
                <a:cs typeface="Tahoma"/>
              </a:rPr>
              <a:t>campus</a:t>
            </a:r>
            <a:r>
              <a:rPr dirty="0" sz="1400" spc="-9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6A717F"/>
                </a:solidFill>
                <a:latin typeface="Tahoma"/>
                <a:cs typeface="Tahoma"/>
              </a:rPr>
              <a:t>into</a:t>
            </a:r>
            <a:r>
              <a:rPr dirty="0" sz="1400" spc="-9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6A717F"/>
                </a:solidFill>
                <a:latin typeface="Tahoma"/>
                <a:cs typeface="Tahoma"/>
              </a:rPr>
              <a:t>progress.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5957" y="2629077"/>
            <a:ext cx="1051560" cy="1051560"/>
            <a:chOff x="525957" y="2629077"/>
            <a:chExt cx="1051560" cy="1051560"/>
          </a:xfrm>
        </p:grpSpPr>
        <p:sp>
          <p:nvSpPr>
            <p:cNvPr id="6" name="object 6"/>
            <p:cNvSpPr/>
            <p:nvPr/>
          </p:nvSpPr>
          <p:spPr>
            <a:xfrm>
              <a:off x="525957" y="2629077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525957" y="0"/>
                  </a:moveTo>
                  <a:lnTo>
                    <a:pt x="470734" y="2876"/>
                  </a:lnTo>
                  <a:lnTo>
                    <a:pt x="416375" y="11438"/>
                  </a:lnTo>
                  <a:lnTo>
                    <a:pt x="363312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7" y="1006035"/>
                  </a:lnTo>
                  <a:lnTo>
                    <a:pt x="363312" y="1025746"/>
                  </a:lnTo>
                  <a:lnTo>
                    <a:pt x="416375" y="1039995"/>
                  </a:lnTo>
                  <a:lnTo>
                    <a:pt x="470734" y="1048646"/>
                  </a:lnTo>
                  <a:lnTo>
                    <a:pt x="525957" y="1051559"/>
                  </a:lnTo>
                  <a:lnTo>
                    <a:pt x="581007" y="1048646"/>
                  </a:lnTo>
                  <a:lnTo>
                    <a:pt x="635261" y="1039995"/>
                  </a:lnTo>
                  <a:lnTo>
                    <a:pt x="688270" y="1025746"/>
                  </a:lnTo>
                  <a:lnTo>
                    <a:pt x="739585" y="1006035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85" y="45206"/>
                  </a:lnTo>
                  <a:lnTo>
                    <a:pt x="688270" y="25583"/>
                  </a:lnTo>
                  <a:lnTo>
                    <a:pt x="635261" y="11438"/>
                  </a:lnTo>
                  <a:lnTo>
                    <a:pt x="581007" y="2876"/>
                  </a:lnTo>
                  <a:lnTo>
                    <a:pt x="525957" y="0"/>
                  </a:lnTo>
                  <a:close/>
                </a:path>
              </a:pathLst>
            </a:custGeom>
            <a:solidFill>
              <a:srgbClr val="1122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98" y="2901962"/>
              <a:ext cx="504355" cy="5043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04418" y="3876014"/>
            <a:ext cx="69342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11223E"/>
                </a:solidFill>
                <a:latin typeface="Calibri"/>
                <a:cs typeface="Calibri"/>
              </a:rPr>
              <a:t>Campus Movement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56764" y="3088436"/>
            <a:ext cx="292735" cy="132080"/>
          </a:xfrm>
          <a:custGeom>
            <a:avLst/>
            <a:gdLst/>
            <a:ahLst/>
            <a:cxnLst/>
            <a:rect l="l" t="t" r="r" b="b"/>
            <a:pathLst>
              <a:path w="292735" h="132080">
                <a:moveTo>
                  <a:pt x="226796" y="0"/>
                </a:moveTo>
                <a:lnTo>
                  <a:pt x="226796" y="32765"/>
                </a:lnTo>
                <a:lnTo>
                  <a:pt x="0" y="32765"/>
                </a:lnTo>
                <a:lnTo>
                  <a:pt x="0" y="98640"/>
                </a:lnTo>
                <a:lnTo>
                  <a:pt x="226796" y="98640"/>
                </a:lnTo>
                <a:lnTo>
                  <a:pt x="226796" y="131762"/>
                </a:lnTo>
                <a:lnTo>
                  <a:pt x="292671" y="65887"/>
                </a:lnTo>
                <a:lnTo>
                  <a:pt x="226796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3029038" y="2629077"/>
            <a:ext cx="1051560" cy="1051560"/>
            <a:chOff x="3029038" y="2629077"/>
            <a:chExt cx="1051560" cy="1051560"/>
          </a:xfrm>
        </p:grpSpPr>
        <p:sp>
          <p:nvSpPr>
            <p:cNvPr id="11" name="object 11"/>
            <p:cNvSpPr/>
            <p:nvPr/>
          </p:nvSpPr>
          <p:spPr>
            <a:xfrm>
              <a:off x="3029038" y="2629077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525957" y="0"/>
                  </a:moveTo>
                  <a:lnTo>
                    <a:pt x="470734" y="2876"/>
                  </a:lnTo>
                  <a:lnTo>
                    <a:pt x="416375" y="11438"/>
                  </a:lnTo>
                  <a:lnTo>
                    <a:pt x="363312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7" y="1006035"/>
                  </a:lnTo>
                  <a:lnTo>
                    <a:pt x="363312" y="1025746"/>
                  </a:lnTo>
                  <a:lnTo>
                    <a:pt x="416375" y="1039995"/>
                  </a:lnTo>
                  <a:lnTo>
                    <a:pt x="470734" y="1048646"/>
                  </a:lnTo>
                  <a:lnTo>
                    <a:pt x="525957" y="1051559"/>
                  </a:lnTo>
                  <a:lnTo>
                    <a:pt x="581007" y="1048646"/>
                  </a:lnTo>
                  <a:lnTo>
                    <a:pt x="635261" y="1039995"/>
                  </a:lnTo>
                  <a:lnTo>
                    <a:pt x="688270" y="1025746"/>
                  </a:lnTo>
                  <a:lnTo>
                    <a:pt x="739585" y="1006035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85" y="45206"/>
                  </a:lnTo>
                  <a:lnTo>
                    <a:pt x="688270" y="25583"/>
                  </a:lnTo>
                  <a:lnTo>
                    <a:pt x="635261" y="11438"/>
                  </a:lnTo>
                  <a:lnTo>
                    <a:pt x="581007" y="2876"/>
                  </a:lnTo>
                  <a:lnTo>
                    <a:pt x="525957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2279" y="2901962"/>
              <a:ext cx="504355" cy="5043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291382" y="3876014"/>
            <a:ext cx="52578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4935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11223E"/>
                </a:solidFill>
                <a:latin typeface="Calibri"/>
                <a:cs typeface="Calibri"/>
              </a:rPr>
              <a:t>Step </a:t>
            </a:r>
            <a:r>
              <a:rPr dirty="0" sz="1150" spc="-25" b="1">
                <a:solidFill>
                  <a:srgbClr val="11223E"/>
                </a:solidFill>
                <a:latin typeface="Calibri"/>
                <a:cs typeface="Calibri"/>
              </a:rPr>
              <a:t>Tracking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59845" y="3088436"/>
            <a:ext cx="292735" cy="132080"/>
          </a:xfrm>
          <a:custGeom>
            <a:avLst/>
            <a:gdLst/>
            <a:ahLst/>
            <a:cxnLst/>
            <a:rect l="l" t="t" r="r" b="b"/>
            <a:pathLst>
              <a:path w="292735" h="132080">
                <a:moveTo>
                  <a:pt x="226796" y="0"/>
                </a:moveTo>
                <a:lnTo>
                  <a:pt x="226796" y="32765"/>
                </a:lnTo>
                <a:lnTo>
                  <a:pt x="0" y="32765"/>
                </a:lnTo>
                <a:lnTo>
                  <a:pt x="0" y="98640"/>
                </a:lnTo>
                <a:lnTo>
                  <a:pt x="226796" y="98640"/>
                </a:lnTo>
                <a:lnTo>
                  <a:pt x="226796" y="131762"/>
                </a:lnTo>
                <a:lnTo>
                  <a:pt x="292671" y="65887"/>
                </a:lnTo>
                <a:lnTo>
                  <a:pt x="226796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5532120" y="2629077"/>
            <a:ext cx="1051560" cy="1051560"/>
            <a:chOff x="5532120" y="2629077"/>
            <a:chExt cx="1051560" cy="1051560"/>
          </a:xfrm>
        </p:grpSpPr>
        <p:sp>
          <p:nvSpPr>
            <p:cNvPr id="16" name="object 16"/>
            <p:cNvSpPr/>
            <p:nvPr/>
          </p:nvSpPr>
          <p:spPr>
            <a:xfrm>
              <a:off x="5532120" y="2629077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59" h="1051560">
                  <a:moveTo>
                    <a:pt x="525957" y="0"/>
                  </a:moveTo>
                  <a:lnTo>
                    <a:pt x="470734" y="2876"/>
                  </a:lnTo>
                  <a:lnTo>
                    <a:pt x="416375" y="11438"/>
                  </a:lnTo>
                  <a:lnTo>
                    <a:pt x="363312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7" y="1006035"/>
                  </a:lnTo>
                  <a:lnTo>
                    <a:pt x="363312" y="1025746"/>
                  </a:lnTo>
                  <a:lnTo>
                    <a:pt x="416375" y="1039995"/>
                  </a:lnTo>
                  <a:lnTo>
                    <a:pt x="470734" y="1048646"/>
                  </a:lnTo>
                  <a:lnTo>
                    <a:pt x="525957" y="1051559"/>
                  </a:lnTo>
                  <a:lnTo>
                    <a:pt x="581007" y="1048646"/>
                  </a:lnTo>
                  <a:lnTo>
                    <a:pt x="635261" y="1039995"/>
                  </a:lnTo>
                  <a:lnTo>
                    <a:pt x="688270" y="1025746"/>
                  </a:lnTo>
                  <a:lnTo>
                    <a:pt x="739585" y="1006035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59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85" y="45206"/>
                  </a:lnTo>
                  <a:lnTo>
                    <a:pt x="688270" y="25583"/>
                  </a:lnTo>
                  <a:lnTo>
                    <a:pt x="635261" y="11438"/>
                  </a:lnTo>
                  <a:lnTo>
                    <a:pt x="581007" y="2876"/>
                  </a:lnTo>
                  <a:lnTo>
                    <a:pt x="525957" y="0"/>
                  </a:lnTo>
                  <a:close/>
                </a:path>
              </a:pathLst>
            </a:custGeom>
            <a:solidFill>
              <a:srgbClr val="1122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5360" y="2901962"/>
              <a:ext cx="504355" cy="5043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822175" y="3876014"/>
            <a:ext cx="47117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 marR="5080" indent="-36195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11223E"/>
                </a:solidFill>
                <a:latin typeface="Calibri"/>
                <a:cs typeface="Calibri"/>
              </a:rPr>
              <a:t>Gamifi-</a:t>
            </a:r>
            <a:r>
              <a:rPr dirty="0" sz="1150" spc="-10" b="1">
                <a:solidFill>
                  <a:srgbClr val="11223E"/>
                </a:solidFill>
                <a:latin typeface="Calibri"/>
                <a:cs typeface="Calibri"/>
              </a:rPr>
              <a:t>cation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63282" y="3088436"/>
            <a:ext cx="292735" cy="132080"/>
          </a:xfrm>
          <a:custGeom>
            <a:avLst/>
            <a:gdLst/>
            <a:ahLst/>
            <a:cxnLst/>
            <a:rect l="l" t="t" r="r" b="b"/>
            <a:pathLst>
              <a:path w="292734" h="132080">
                <a:moveTo>
                  <a:pt x="226796" y="0"/>
                </a:moveTo>
                <a:lnTo>
                  <a:pt x="226796" y="32765"/>
                </a:lnTo>
                <a:lnTo>
                  <a:pt x="0" y="32765"/>
                </a:lnTo>
                <a:lnTo>
                  <a:pt x="0" y="98640"/>
                </a:lnTo>
                <a:lnTo>
                  <a:pt x="226796" y="98640"/>
                </a:lnTo>
                <a:lnTo>
                  <a:pt x="226796" y="131762"/>
                </a:lnTo>
                <a:lnTo>
                  <a:pt x="292671" y="65887"/>
                </a:lnTo>
                <a:lnTo>
                  <a:pt x="226796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8035201" y="2629077"/>
            <a:ext cx="1051560" cy="1051560"/>
            <a:chOff x="8035201" y="2629077"/>
            <a:chExt cx="1051560" cy="1051560"/>
          </a:xfrm>
        </p:grpSpPr>
        <p:sp>
          <p:nvSpPr>
            <p:cNvPr id="21" name="object 21"/>
            <p:cNvSpPr/>
            <p:nvPr/>
          </p:nvSpPr>
          <p:spPr>
            <a:xfrm>
              <a:off x="8035201" y="2629077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59" h="1051560">
                  <a:moveTo>
                    <a:pt x="525602" y="0"/>
                  </a:moveTo>
                  <a:lnTo>
                    <a:pt x="470552" y="2876"/>
                  </a:lnTo>
                  <a:lnTo>
                    <a:pt x="416298" y="11438"/>
                  </a:lnTo>
                  <a:lnTo>
                    <a:pt x="363289" y="25583"/>
                  </a:lnTo>
                  <a:lnTo>
                    <a:pt x="311974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4" y="1006035"/>
                  </a:lnTo>
                  <a:lnTo>
                    <a:pt x="363289" y="1025746"/>
                  </a:lnTo>
                  <a:lnTo>
                    <a:pt x="416298" y="1039995"/>
                  </a:lnTo>
                  <a:lnTo>
                    <a:pt x="470552" y="1048646"/>
                  </a:lnTo>
                  <a:lnTo>
                    <a:pt x="525602" y="1051559"/>
                  </a:lnTo>
                  <a:lnTo>
                    <a:pt x="580825" y="1048646"/>
                  </a:lnTo>
                  <a:lnTo>
                    <a:pt x="635184" y="1039995"/>
                  </a:lnTo>
                  <a:lnTo>
                    <a:pt x="688247" y="1025746"/>
                  </a:lnTo>
                  <a:lnTo>
                    <a:pt x="739582" y="1006035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82" y="45206"/>
                  </a:lnTo>
                  <a:lnTo>
                    <a:pt x="688247" y="25583"/>
                  </a:lnTo>
                  <a:lnTo>
                    <a:pt x="635184" y="11438"/>
                  </a:lnTo>
                  <a:lnTo>
                    <a:pt x="580825" y="2876"/>
                  </a:lnTo>
                  <a:lnTo>
                    <a:pt x="525602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8797" y="2901962"/>
              <a:ext cx="504355" cy="50435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170456" y="3876014"/>
            <a:ext cx="77914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4769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11223E"/>
                </a:solidFill>
                <a:latin typeface="Calibri"/>
                <a:cs typeface="Calibri"/>
              </a:rPr>
              <a:t>Rewards</a:t>
            </a:r>
            <a:r>
              <a:rPr dirty="0" sz="1150" spc="-2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11223E"/>
                </a:solidFill>
                <a:latin typeface="Calibri"/>
                <a:cs typeface="Calibri"/>
              </a:rPr>
              <a:t>+ </a:t>
            </a:r>
            <a:r>
              <a:rPr dirty="0" sz="1150" spc="-10" b="1">
                <a:solidFill>
                  <a:srgbClr val="11223E"/>
                </a:solidFill>
                <a:latin typeface="Calibri"/>
                <a:cs typeface="Calibri"/>
              </a:rPr>
              <a:t>Competition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66363" y="3088436"/>
            <a:ext cx="292735" cy="132080"/>
          </a:xfrm>
          <a:custGeom>
            <a:avLst/>
            <a:gdLst/>
            <a:ahLst/>
            <a:cxnLst/>
            <a:rect l="l" t="t" r="r" b="b"/>
            <a:pathLst>
              <a:path w="292734" h="132080">
                <a:moveTo>
                  <a:pt x="226796" y="0"/>
                </a:moveTo>
                <a:lnTo>
                  <a:pt x="226796" y="32765"/>
                </a:lnTo>
                <a:lnTo>
                  <a:pt x="0" y="32765"/>
                </a:lnTo>
                <a:lnTo>
                  <a:pt x="0" y="98640"/>
                </a:lnTo>
                <a:lnTo>
                  <a:pt x="226796" y="98640"/>
                </a:lnTo>
                <a:lnTo>
                  <a:pt x="226796" y="131762"/>
                </a:lnTo>
                <a:lnTo>
                  <a:pt x="292671" y="65887"/>
                </a:lnTo>
                <a:lnTo>
                  <a:pt x="226796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0538638" y="2629077"/>
            <a:ext cx="1051560" cy="1051560"/>
            <a:chOff x="10538638" y="2629077"/>
            <a:chExt cx="1051560" cy="1051560"/>
          </a:xfrm>
        </p:grpSpPr>
        <p:sp>
          <p:nvSpPr>
            <p:cNvPr id="26" name="object 26"/>
            <p:cNvSpPr/>
            <p:nvPr/>
          </p:nvSpPr>
          <p:spPr>
            <a:xfrm>
              <a:off x="10538638" y="2629077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59" h="1051560">
                  <a:moveTo>
                    <a:pt x="525957" y="0"/>
                  </a:moveTo>
                  <a:lnTo>
                    <a:pt x="470734" y="2876"/>
                  </a:lnTo>
                  <a:lnTo>
                    <a:pt x="416375" y="11438"/>
                  </a:lnTo>
                  <a:lnTo>
                    <a:pt x="363312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7" y="1006035"/>
                  </a:lnTo>
                  <a:lnTo>
                    <a:pt x="363312" y="1025746"/>
                  </a:lnTo>
                  <a:lnTo>
                    <a:pt x="416375" y="1039995"/>
                  </a:lnTo>
                  <a:lnTo>
                    <a:pt x="470734" y="1048646"/>
                  </a:lnTo>
                  <a:lnTo>
                    <a:pt x="525957" y="1051559"/>
                  </a:lnTo>
                  <a:lnTo>
                    <a:pt x="581007" y="1048646"/>
                  </a:lnTo>
                  <a:lnTo>
                    <a:pt x="635261" y="1039995"/>
                  </a:lnTo>
                  <a:lnTo>
                    <a:pt x="688270" y="1025746"/>
                  </a:lnTo>
                  <a:lnTo>
                    <a:pt x="739585" y="1006035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85" y="45206"/>
                  </a:lnTo>
                  <a:lnTo>
                    <a:pt x="688270" y="25583"/>
                  </a:lnTo>
                  <a:lnTo>
                    <a:pt x="635261" y="11438"/>
                  </a:lnTo>
                  <a:lnTo>
                    <a:pt x="581007" y="2876"/>
                  </a:lnTo>
                  <a:lnTo>
                    <a:pt x="525957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11878" y="2901962"/>
              <a:ext cx="504355" cy="50435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0768939" y="3876014"/>
            <a:ext cx="58928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5080" indent="-1397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11223E"/>
                </a:solidFill>
                <a:latin typeface="Calibri"/>
                <a:cs typeface="Calibri"/>
              </a:rPr>
              <a:t>Healthier Students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3937" y="4670907"/>
            <a:ext cx="27692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85" b="1">
                <a:solidFill>
                  <a:srgbClr val="11223E"/>
                </a:solidFill>
                <a:latin typeface="Calibri"/>
                <a:cs typeface="Calibri"/>
              </a:rPr>
              <a:t>BUILT</a:t>
            </a:r>
            <a:r>
              <a:rPr dirty="0" sz="1100" spc="27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100" spc="100" b="1">
                <a:solidFill>
                  <a:srgbClr val="11223E"/>
                </a:solidFill>
                <a:latin typeface="Calibri"/>
                <a:cs typeface="Calibri"/>
              </a:rPr>
              <a:t>AROUND</a:t>
            </a:r>
            <a:r>
              <a:rPr dirty="0" sz="1100" spc="26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100" spc="90" b="1">
                <a:solidFill>
                  <a:srgbClr val="11223E"/>
                </a:solidFill>
                <a:latin typeface="Calibri"/>
                <a:cs typeface="Calibri"/>
              </a:rPr>
              <a:t>REAL</a:t>
            </a:r>
            <a:r>
              <a:rPr dirty="0" sz="1100" spc="27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100" spc="100" b="1">
                <a:solidFill>
                  <a:srgbClr val="11223E"/>
                </a:solidFill>
                <a:latin typeface="Calibri"/>
                <a:cs typeface="Calibri"/>
              </a:rPr>
              <a:t>CAMPUS</a:t>
            </a:r>
            <a:r>
              <a:rPr dirty="0" sz="1100" spc="28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100" spc="85" b="1">
                <a:solidFill>
                  <a:srgbClr val="11223E"/>
                </a:solidFill>
                <a:latin typeface="Calibri"/>
                <a:cs typeface="Calibri"/>
              </a:rPr>
              <a:t>ROUTES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5044" y="5115604"/>
            <a:ext cx="2116455" cy="429895"/>
            <a:chOff x="635044" y="5115604"/>
            <a:chExt cx="2116455" cy="429895"/>
          </a:xfrm>
        </p:grpSpPr>
        <p:sp>
          <p:nvSpPr>
            <p:cNvPr id="31" name="object 31"/>
            <p:cNvSpPr/>
            <p:nvPr/>
          </p:nvSpPr>
          <p:spPr>
            <a:xfrm>
              <a:off x="639724" y="5120284"/>
              <a:ext cx="2106930" cy="421005"/>
            </a:xfrm>
            <a:custGeom>
              <a:avLst/>
              <a:gdLst/>
              <a:ahLst/>
              <a:cxnLst/>
              <a:rect l="l" t="t" r="r" b="b"/>
              <a:pathLst>
                <a:path w="2106930" h="421004">
                  <a:moveTo>
                    <a:pt x="1896478" y="0"/>
                  </a:moveTo>
                  <a:lnTo>
                    <a:pt x="210235" y="0"/>
                  </a:lnTo>
                  <a:lnTo>
                    <a:pt x="182672" y="1804"/>
                  </a:lnTo>
                  <a:lnTo>
                    <a:pt x="129845" y="15944"/>
                  </a:lnTo>
                  <a:lnTo>
                    <a:pt x="82143" y="43353"/>
                  </a:lnTo>
                  <a:lnTo>
                    <a:pt x="43353" y="82143"/>
                  </a:lnTo>
                  <a:lnTo>
                    <a:pt x="15944" y="129845"/>
                  </a:lnTo>
                  <a:lnTo>
                    <a:pt x="1804" y="182672"/>
                  </a:lnTo>
                  <a:lnTo>
                    <a:pt x="0" y="210235"/>
                  </a:lnTo>
                  <a:lnTo>
                    <a:pt x="1804" y="237799"/>
                  </a:lnTo>
                  <a:lnTo>
                    <a:pt x="15944" y="290626"/>
                  </a:lnTo>
                  <a:lnTo>
                    <a:pt x="43353" y="338327"/>
                  </a:lnTo>
                  <a:lnTo>
                    <a:pt x="82143" y="377118"/>
                  </a:lnTo>
                  <a:lnTo>
                    <a:pt x="129845" y="404526"/>
                  </a:lnTo>
                  <a:lnTo>
                    <a:pt x="182672" y="418666"/>
                  </a:lnTo>
                  <a:lnTo>
                    <a:pt x="210235" y="420471"/>
                  </a:lnTo>
                  <a:lnTo>
                    <a:pt x="1896478" y="420471"/>
                  </a:lnTo>
                  <a:lnTo>
                    <a:pt x="1950923" y="413318"/>
                  </a:lnTo>
                  <a:lnTo>
                    <a:pt x="2001596" y="392391"/>
                  </a:lnTo>
                  <a:lnTo>
                    <a:pt x="2045244" y="359006"/>
                  </a:lnTo>
                  <a:lnTo>
                    <a:pt x="2078634" y="315353"/>
                  </a:lnTo>
                  <a:lnTo>
                    <a:pt x="2099560" y="264685"/>
                  </a:lnTo>
                  <a:lnTo>
                    <a:pt x="2106714" y="210235"/>
                  </a:lnTo>
                  <a:lnTo>
                    <a:pt x="2104909" y="182672"/>
                  </a:lnTo>
                  <a:lnTo>
                    <a:pt x="2090769" y="129845"/>
                  </a:lnTo>
                  <a:lnTo>
                    <a:pt x="2063355" y="82143"/>
                  </a:lnTo>
                  <a:lnTo>
                    <a:pt x="2024568" y="43353"/>
                  </a:lnTo>
                  <a:lnTo>
                    <a:pt x="1976866" y="15944"/>
                  </a:lnTo>
                  <a:lnTo>
                    <a:pt x="1924036" y="1804"/>
                  </a:lnTo>
                  <a:lnTo>
                    <a:pt x="1896478" y="0"/>
                  </a:lnTo>
                  <a:close/>
                </a:path>
              </a:pathLst>
            </a:custGeom>
            <a:solidFill>
              <a:srgbClr val="EE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9724" y="5120284"/>
              <a:ext cx="2106930" cy="421005"/>
            </a:xfrm>
            <a:custGeom>
              <a:avLst/>
              <a:gdLst/>
              <a:ahLst/>
              <a:cxnLst/>
              <a:rect l="l" t="t" r="r" b="b"/>
              <a:pathLst>
                <a:path w="2106930" h="421004">
                  <a:moveTo>
                    <a:pt x="0" y="210235"/>
                  </a:moveTo>
                  <a:lnTo>
                    <a:pt x="1804" y="182672"/>
                  </a:lnTo>
                  <a:lnTo>
                    <a:pt x="7153" y="155786"/>
                  </a:lnTo>
                  <a:lnTo>
                    <a:pt x="28079" y="105117"/>
                  </a:lnTo>
                  <a:lnTo>
                    <a:pt x="61464" y="61464"/>
                  </a:lnTo>
                  <a:lnTo>
                    <a:pt x="105117" y="28079"/>
                  </a:lnTo>
                  <a:lnTo>
                    <a:pt x="155786" y="7153"/>
                  </a:lnTo>
                  <a:lnTo>
                    <a:pt x="210235" y="0"/>
                  </a:lnTo>
                  <a:lnTo>
                    <a:pt x="1896478" y="0"/>
                  </a:lnTo>
                  <a:lnTo>
                    <a:pt x="1950923" y="7153"/>
                  </a:lnTo>
                  <a:lnTo>
                    <a:pt x="2001596" y="28079"/>
                  </a:lnTo>
                  <a:lnTo>
                    <a:pt x="2045244" y="61464"/>
                  </a:lnTo>
                  <a:lnTo>
                    <a:pt x="2078634" y="105117"/>
                  </a:lnTo>
                  <a:lnTo>
                    <a:pt x="2099560" y="155786"/>
                  </a:lnTo>
                  <a:lnTo>
                    <a:pt x="2106714" y="210235"/>
                  </a:lnTo>
                  <a:lnTo>
                    <a:pt x="2104909" y="237799"/>
                  </a:lnTo>
                  <a:lnTo>
                    <a:pt x="2099560" y="264685"/>
                  </a:lnTo>
                  <a:lnTo>
                    <a:pt x="2078634" y="315353"/>
                  </a:lnTo>
                  <a:lnTo>
                    <a:pt x="2045244" y="359006"/>
                  </a:lnTo>
                  <a:lnTo>
                    <a:pt x="2001596" y="392391"/>
                  </a:lnTo>
                  <a:lnTo>
                    <a:pt x="1950923" y="413318"/>
                  </a:lnTo>
                  <a:lnTo>
                    <a:pt x="1896478" y="420471"/>
                  </a:lnTo>
                  <a:lnTo>
                    <a:pt x="210235" y="420471"/>
                  </a:lnTo>
                  <a:lnTo>
                    <a:pt x="155786" y="413318"/>
                  </a:lnTo>
                  <a:lnTo>
                    <a:pt x="105117" y="392391"/>
                  </a:lnTo>
                  <a:lnTo>
                    <a:pt x="61464" y="359006"/>
                  </a:lnTo>
                  <a:lnTo>
                    <a:pt x="28079" y="315353"/>
                  </a:lnTo>
                  <a:lnTo>
                    <a:pt x="7153" y="264685"/>
                  </a:lnTo>
                  <a:lnTo>
                    <a:pt x="1804" y="237799"/>
                  </a:lnTo>
                  <a:lnTo>
                    <a:pt x="0" y="210235"/>
                  </a:lnTo>
                  <a:close/>
                </a:path>
              </a:pathLst>
            </a:custGeom>
            <a:ln w="9359">
              <a:solidFill>
                <a:srgbClr val="D6DB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84503" y="5237898"/>
            <a:ext cx="14141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Hostel</a:t>
            </a:r>
            <a:r>
              <a:rPr dirty="0" sz="1050" spc="-1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1223E"/>
                </a:solidFill>
                <a:latin typeface="Calibri"/>
                <a:cs typeface="Calibri"/>
              </a:rPr>
              <a:t>→</a:t>
            </a:r>
            <a:r>
              <a:rPr dirty="0" sz="1050" spc="-2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Academic</a:t>
            </a:r>
            <a:r>
              <a:rPr dirty="0" sz="105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11223E"/>
                </a:solidFill>
                <a:latin typeface="Calibri"/>
                <a:cs typeface="Calibri"/>
              </a:rPr>
              <a:t>Block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943002" y="5115604"/>
            <a:ext cx="1553210" cy="429895"/>
            <a:chOff x="2943002" y="5115604"/>
            <a:chExt cx="1553210" cy="429895"/>
          </a:xfrm>
        </p:grpSpPr>
        <p:sp>
          <p:nvSpPr>
            <p:cNvPr id="35" name="object 35"/>
            <p:cNvSpPr/>
            <p:nvPr/>
          </p:nvSpPr>
          <p:spPr>
            <a:xfrm>
              <a:off x="2947682" y="5120284"/>
              <a:ext cx="1543685" cy="421005"/>
            </a:xfrm>
            <a:custGeom>
              <a:avLst/>
              <a:gdLst/>
              <a:ahLst/>
              <a:cxnLst/>
              <a:rect l="l" t="t" r="r" b="b"/>
              <a:pathLst>
                <a:path w="1543685" h="421004">
                  <a:moveTo>
                    <a:pt x="1333436" y="0"/>
                  </a:moveTo>
                  <a:lnTo>
                    <a:pt x="210235" y="0"/>
                  </a:lnTo>
                  <a:lnTo>
                    <a:pt x="182672" y="1804"/>
                  </a:lnTo>
                  <a:lnTo>
                    <a:pt x="129845" y="15944"/>
                  </a:lnTo>
                  <a:lnTo>
                    <a:pt x="82143" y="43353"/>
                  </a:lnTo>
                  <a:lnTo>
                    <a:pt x="43353" y="82143"/>
                  </a:lnTo>
                  <a:lnTo>
                    <a:pt x="15944" y="129845"/>
                  </a:lnTo>
                  <a:lnTo>
                    <a:pt x="1804" y="182672"/>
                  </a:lnTo>
                  <a:lnTo>
                    <a:pt x="0" y="210235"/>
                  </a:lnTo>
                  <a:lnTo>
                    <a:pt x="1804" y="237799"/>
                  </a:lnTo>
                  <a:lnTo>
                    <a:pt x="15944" y="290626"/>
                  </a:lnTo>
                  <a:lnTo>
                    <a:pt x="43353" y="338327"/>
                  </a:lnTo>
                  <a:lnTo>
                    <a:pt x="82143" y="377118"/>
                  </a:lnTo>
                  <a:lnTo>
                    <a:pt x="129845" y="404526"/>
                  </a:lnTo>
                  <a:lnTo>
                    <a:pt x="182672" y="418666"/>
                  </a:lnTo>
                  <a:lnTo>
                    <a:pt x="210235" y="420471"/>
                  </a:lnTo>
                  <a:lnTo>
                    <a:pt x="1333436" y="420471"/>
                  </a:lnTo>
                  <a:lnTo>
                    <a:pt x="1387886" y="413318"/>
                  </a:lnTo>
                  <a:lnTo>
                    <a:pt x="1438554" y="392391"/>
                  </a:lnTo>
                  <a:lnTo>
                    <a:pt x="1482207" y="359006"/>
                  </a:lnTo>
                  <a:lnTo>
                    <a:pt x="1515592" y="315353"/>
                  </a:lnTo>
                  <a:lnTo>
                    <a:pt x="1536519" y="264685"/>
                  </a:lnTo>
                  <a:lnTo>
                    <a:pt x="1543672" y="210235"/>
                  </a:lnTo>
                  <a:lnTo>
                    <a:pt x="1541867" y="182672"/>
                  </a:lnTo>
                  <a:lnTo>
                    <a:pt x="1527727" y="129845"/>
                  </a:lnTo>
                  <a:lnTo>
                    <a:pt x="1500319" y="82143"/>
                  </a:lnTo>
                  <a:lnTo>
                    <a:pt x="1461528" y="43353"/>
                  </a:lnTo>
                  <a:lnTo>
                    <a:pt x="1413826" y="15944"/>
                  </a:lnTo>
                  <a:lnTo>
                    <a:pt x="1361000" y="1804"/>
                  </a:lnTo>
                  <a:lnTo>
                    <a:pt x="1333436" y="0"/>
                  </a:lnTo>
                  <a:close/>
                </a:path>
              </a:pathLst>
            </a:custGeom>
            <a:solidFill>
              <a:srgbClr val="EE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947682" y="5120284"/>
              <a:ext cx="1543685" cy="421005"/>
            </a:xfrm>
            <a:custGeom>
              <a:avLst/>
              <a:gdLst/>
              <a:ahLst/>
              <a:cxnLst/>
              <a:rect l="l" t="t" r="r" b="b"/>
              <a:pathLst>
                <a:path w="1543685" h="421004">
                  <a:moveTo>
                    <a:pt x="0" y="210235"/>
                  </a:moveTo>
                  <a:lnTo>
                    <a:pt x="1804" y="182672"/>
                  </a:lnTo>
                  <a:lnTo>
                    <a:pt x="7153" y="155786"/>
                  </a:lnTo>
                  <a:lnTo>
                    <a:pt x="28079" y="105117"/>
                  </a:lnTo>
                  <a:lnTo>
                    <a:pt x="61464" y="61464"/>
                  </a:lnTo>
                  <a:lnTo>
                    <a:pt x="105117" y="28079"/>
                  </a:lnTo>
                  <a:lnTo>
                    <a:pt x="155786" y="7153"/>
                  </a:lnTo>
                  <a:lnTo>
                    <a:pt x="210235" y="0"/>
                  </a:lnTo>
                  <a:lnTo>
                    <a:pt x="1333436" y="0"/>
                  </a:lnTo>
                  <a:lnTo>
                    <a:pt x="1387886" y="7153"/>
                  </a:lnTo>
                  <a:lnTo>
                    <a:pt x="1438554" y="28079"/>
                  </a:lnTo>
                  <a:lnTo>
                    <a:pt x="1482207" y="61464"/>
                  </a:lnTo>
                  <a:lnTo>
                    <a:pt x="1515592" y="105117"/>
                  </a:lnTo>
                  <a:lnTo>
                    <a:pt x="1536519" y="155786"/>
                  </a:lnTo>
                  <a:lnTo>
                    <a:pt x="1543672" y="210235"/>
                  </a:lnTo>
                  <a:lnTo>
                    <a:pt x="1541867" y="237799"/>
                  </a:lnTo>
                  <a:lnTo>
                    <a:pt x="1536519" y="264685"/>
                  </a:lnTo>
                  <a:lnTo>
                    <a:pt x="1515592" y="315353"/>
                  </a:lnTo>
                  <a:lnTo>
                    <a:pt x="1482207" y="359006"/>
                  </a:lnTo>
                  <a:lnTo>
                    <a:pt x="1438554" y="392391"/>
                  </a:lnTo>
                  <a:lnTo>
                    <a:pt x="1387886" y="413318"/>
                  </a:lnTo>
                  <a:lnTo>
                    <a:pt x="1333436" y="420471"/>
                  </a:lnTo>
                  <a:lnTo>
                    <a:pt x="210235" y="420471"/>
                  </a:lnTo>
                  <a:lnTo>
                    <a:pt x="155786" y="413318"/>
                  </a:lnTo>
                  <a:lnTo>
                    <a:pt x="105117" y="392391"/>
                  </a:lnTo>
                  <a:lnTo>
                    <a:pt x="61464" y="359006"/>
                  </a:lnTo>
                  <a:lnTo>
                    <a:pt x="28079" y="315353"/>
                  </a:lnTo>
                  <a:lnTo>
                    <a:pt x="7153" y="264685"/>
                  </a:lnTo>
                  <a:lnTo>
                    <a:pt x="1804" y="237799"/>
                  </a:lnTo>
                  <a:lnTo>
                    <a:pt x="0" y="210235"/>
                  </a:lnTo>
                  <a:close/>
                </a:path>
              </a:pathLst>
            </a:custGeom>
            <a:ln w="9359">
              <a:solidFill>
                <a:srgbClr val="D6DB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251784" y="5237898"/>
            <a:ext cx="9328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Hostel</a:t>
            </a:r>
            <a:r>
              <a:rPr dirty="0" sz="1050" spc="-2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1223E"/>
                </a:solidFill>
                <a:latin typeface="Calibri"/>
                <a:cs typeface="Calibri"/>
              </a:rPr>
              <a:t>→</a:t>
            </a:r>
            <a:r>
              <a:rPr dirty="0" sz="1050" spc="-3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Library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87563" y="5115604"/>
            <a:ext cx="2197100" cy="429895"/>
            <a:chOff x="4687563" y="5115604"/>
            <a:chExt cx="2197100" cy="429895"/>
          </a:xfrm>
        </p:grpSpPr>
        <p:sp>
          <p:nvSpPr>
            <p:cNvPr id="39" name="object 39"/>
            <p:cNvSpPr/>
            <p:nvPr/>
          </p:nvSpPr>
          <p:spPr>
            <a:xfrm>
              <a:off x="4692243" y="5120284"/>
              <a:ext cx="2187575" cy="421005"/>
            </a:xfrm>
            <a:custGeom>
              <a:avLst/>
              <a:gdLst/>
              <a:ahLst/>
              <a:cxnLst/>
              <a:rect l="l" t="t" r="r" b="b"/>
              <a:pathLst>
                <a:path w="2187575" h="421004">
                  <a:moveTo>
                    <a:pt x="1977110" y="0"/>
                  </a:moveTo>
                  <a:lnTo>
                    <a:pt x="210235" y="0"/>
                  </a:lnTo>
                  <a:lnTo>
                    <a:pt x="182672" y="1804"/>
                  </a:lnTo>
                  <a:lnTo>
                    <a:pt x="129845" y="15944"/>
                  </a:lnTo>
                  <a:lnTo>
                    <a:pt x="82143" y="43353"/>
                  </a:lnTo>
                  <a:lnTo>
                    <a:pt x="43353" y="82143"/>
                  </a:lnTo>
                  <a:lnTo>
                    <a:pt x="15944" y="129845"/>
                  </a:lnTo>
                  <a:lnTo>
                    <a:pt x="1804" y="182672"/>
                  </a:lnTo>
                  <a:lnTo>
                    <a:pt x="0" y="210235"/>
                  </a:lnTo>
                  <a:lnTo>
                    <a:pt x="1804" y="237799"/>
                  </a:lnTo>
                  <a:lnTo>
                    <a:pt x="15944" y="290626"/>
                  </a:lnTo>
                  <a:lnTo>
                    <a:pt x="43353" y="338327"/>
                  </a:lnTo>
                  <a:lnTo>
                    <a:pt x="82143" y="377118"/>
                  </a:lnTo>
                  <a:lnTo>
                    <a:pt x="129845" y="404526"/>
                  </a:lnTo>
                  <a:lnTo>
                    <a:pt x="182672" y="418666"/>
                  </a:lnTo>
                  <a:lnTo>
                    <a:pt x="210235" y="420471"/>
                  </a:lnTo>
                  <a:lnTo>
                    <a:pt x="1977110" y="420471"/>
                  </a:lnTo>
                  <a:lnTo>
                    <a:pt x="2031566" y="413318"/>
                  </a:lnTo>
                  <a:lnTo>
                    <a:pt x="2082241" y="392391"/>
                  </a:lnTo>
                  <a:lnTo>
                    <a:pt x="2125884" y="359006"/>
                  </a:lnTo>
                  <a:lnTo>
                    <a:pt x="2159279" y="315353"/>
                  </a:lnTo>
                  <a:lnTo>
                    <a:pt x="2180201" y="264685"/>
                  </a:lnTo>
                  <a:lnTo>
                    <a:pt x="2187359" y="210235"/>
                  </a:lnTo>
                  <a:lnTo>
                    <a:pt x="2185552" y="182672"/>
                  </a:lnTo>
                  <a:lnTo>
                    <a:pt x="2171408" y="129845"/>
                  </a:lnTo>
                  <a:lnTo>
                    <a:pt x="2143998" y="82143"/>
                  </a:lnTo>
                  <a:lnTo>
                    <a:pt x="2105208" y="43353"/>
                  </a:lnTo>
                  <a:lnTo>
                    <a:pt x="2057511" y="15944"/>
                  </a:lnTo>
                  <a:lnTo>
                    <a:pt x="2004676" y="1804"/>
                  </a:lnTo>
                  <a:lnTo>
                    <a:pt x="1977110" y="0"/>
                  </a:lnTo>
                  <a:close/>
                </a:path>
              </a:pathLst>
            </a:custGeom>
            <a:solidFill>
              <a:srgbClr val="EE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92243" y="5120284"/>
              <a:ext cx="2187575" cy="421005"/>
            </a:xfrm>
            <a:custGeom>
              <a:avLst/>
              <a:gdLst/>
              <a:ahLst/>
              <a:cxnLst/>
              <a:rect l="l" t="t" r="r" b="b"/>
              <a:pathLst>
                <a:path w="2187575" h="421004">
                  <a:moveTo>
                    <a:pt x="0" y="210235"/>
                  </a:moveTo>
                  <a:lnTo>
                    <a:pt x="1804" y="182672"/>
                  </a:lnTo>
                  <a:lnTo>
                    <a:pt x="7153" y="155786"/>
                  </a:lnTo>
                  <a:lnTo>
                    <a:pt x="28079" y="105117"/>
                  </a:lnTo>
                  <a:lnTo>
                    <a:pt x="61464" y="61464"/>
                  </a:lnTo>
                  <a:lnTo>
                    <a:pt x="105117" y="28079"/>
                  </a:lnTo>
                  <a:lnTo>
                    <a:pt x="155786" y="7153"/>
                  </a:lnTo>
                  <a:lnTo>
                    <a:pt x="210235" y="0"/>
                  </a:lnTo>
                  <a:lnTo>
                    <a:pt x="1977110" y="0"/>
                  </a:lnTo>
                  <a:lnTo>
                    <a:pt x="2031566" y="7153"/>
                  </a:lnTo>
                  <a:lnTo>
                    <a:pt x="2082241" y="28079"/>
                  </a:lnTo>
                  <a:lnTo>
                    <a:pt x="2125884" y="61464"/>
                  </a:lnTo>
                  <a:lnTo>
                    <a:pt x="2159279" y="105117"/>
                  </a:lnTo>
                  <a:lnTo>
                    <a:pt x="2180201" y="155786"/>
                  </a:lnTo>
                  <a:lnTo>
                    <a:pt x="2187359" y="210235"/>
                  </a:lnTo>
                  <a:lnTo>
                    <a:pt x="2185552" y="237799"/>
                  </a:lnTo>
                  <a:lnTo>
                    <a:pt x="2180201" y="264685"/>
                  </a:lnTo>
                  <a:lnTo>
                    <a:pt x="2159279" y="315353"/>
                  </a:lnTo>
                  <a:lnTo>
                    <a:pt x="2125884" y="359006"/>
                  </a:lnTo>
                  <a:lnTo>
                    <a:pt x="2082241" y="392391"/>
                  </a:lnTo>
                  <a:lnTo>
                    <a:pt x="2031566" y="413318"/>
                  </a:lnTo>
                  <a:lnTo>
                    <a:pt x="1977110" y="420471"/>
                  </a:lnTo>
                  <a:lnTo>
                    <a:pt x="210235" y="420471"/>
                  </a:lnTo>
                  <a:lnTo>
                    <a:pt x="155786" y="413318"/>
                  </a:lnTo>
                  <a:lnTo>
                    <a:pt x="105117" y="392391"/>
                  </a:lnTo>
                  <a:lnTo>
                    <a:pt x="61464" y="359006"/>
                  </a:lnTo>
                  <a:lnTo>
                    <a:pt x="28079" y="315353"/>
                  </a:lnTo>
                  <a:lnTo>
                    <a:pt x="7153" y="264685"/>
                  </a:lnTo>
                  <a:lnTo>
                    <a:pt x="1804" y="237799"/>
                  </a:lnTo>
                  <a:lnTo>
                    <a:pt x="0" y="210235"/>
                  </a:lnTo>
                  <a:close/>
                </a:path>
              </a:pathLst>
            </a:custGeom>
            <a:ln w="9359">
              <a:solidFill>
                <a:srgbClr val="D6DB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063655" y="5237898"/>
            <a:ext cx="14420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Library</a:t>
            </a:r>
            <a:r>
              <a:rPr dirty="0" sz="1050" spc="-3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1223E"/>
                </a:solidFill>
                <a:latin typeface="Calibri"/>
                <a:cs typeface="Calibri"/>
              </a:rPr>
              <a:t>→</a:t>
            </a:r>
            <a:r>
              <a:rPr dirty="0" sz="1050" spc="-2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1223E"/>
                </a:solidFill>
                <a:latin typeface="Calibri"/>
                <a:cs typeface="Calibri"/>
              </a:rPr>
              <a:t>Sports</a:t>
            </a:r>
            <a:r>
              <a:rPr dirty="0" sz="1050" spc="-2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Complex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076522" y="5115604"/>
            <a:ext cx="2357755" cy="429895"/>
            <a:chOff x="7076522" y="5115604"/>
            <a:chExt cx="2357755" cy="429895"/>
          </a:xfrm>
        </p:grpSpPr>
        <p:sp>
          <p:nvSpPr>
            <p:cNvPr id="43" name="object 43"/>
            <p:cNvSpPr/>
            <p:nvPr/>
          </p:nvSpPr>
          <p:spPr>
            <a:xfrm>
              <a:off x="7081202" y="5120284"/>
              <a:ext cx="2348865" cy="421005"/>
            </a:xfrm>
            <a:custGeom>
              <a:avLst/>
              <a:gdLst/>
              <a:ahLst/>
              <a:cxnLst/>
              <a:rect l="l" t="t" r="r" b="b"/>
              <a:pathLst>
                <a:path w="2348865" h="421004">
                  <a:moveTo>
                    <a:pt x="2138032" y="0"/>
                  </a:moveTo>
                  <a:lnTo>
                    <a:pt x="210235" y="0"/>
                  </a:lnTo>
                  <a:lnTo>
                    <a:pt x="182672" y="1804"/>
                  </a:lnTo>
                  <a:lnTo>
                    <a:pt x="129845" y="15944"/>
                  </a:lnTo>
                  <a:lnTo>
                    <a:pt x="82143" y="43353"/>
                  </a:lnTo>
                  <a:lnTo>
                    <a:pt x="43353" y="82143"/>
                  </a:lnTo>
                  <a:lnTo>
                    <a:pt x="15944" y="129845"/>
                  </a:lnTo>
                  <a:lnTo>
                    <a:pt x="1804" y="182672"/>
                  </a:lnTo>
                  <a:lnTo>
                    <a:pt x="0" y="210235"/>
                  </a:lnTo>
                  <a:lnTo>
                    <a:pt x="1804" y="237799"/>
                  </a:lnTo>
                  <a:lnTo>
                    <a:pt x="15944" y="290626"/>
                  </a:lnTo>
                  <a:lnTo>
                    <a:pt x="43353" y="338327"/>
                  </a:lnTo>
                  <a:lnTo>
                    <a:pt x="82143" y="377118"/>
                  </a:lnTo>
                  <a:lnTo>
                    <a:pt x="129845" y="404526"/>
                  </a:lnTo>
                  <a:lnTo>
                    <a:pt x="182672" y="418666"/>
                  </a:lnTo>
                  <a:lnTo>
                    <a:pt x="210235" y="420471"/>
                  </a:lnTo>
                  <a:lnTo>
                    <a:pt x="2138032" y="420471"/>
                  </a:lnTo>
                  <a:lnTo>
                    <a:pt x="2192488" y="413318"/>
                  </a:lnTo>
                  <a:lnTo>
                    <a:pt x="2243162" y="392391"/>
                  </a:lnTo>
                  <a:lnTo>
                    <a:pt x="2286806" y="359006"/>
                  </a:lnTo>
                  <a:lnTo>
                    <a:pt x="2320201" y="315353"/>
                  </a:lnTo>
                  <a:lnTo>
                    <a:pt x="2341122" y="264685"/>
                  </a:lnTo>
                  <a:lnTo>
                    <a:pt x="2348280" y="210235"/>
                  </a:lnTo>
                  <a:lnTo>
                    <a:pt x="2346474" y="182672"/>
                  </a:lnTo>
                  <a:lnTo>
                    <a:pt x="2332330" y="129845"/>
                  </a:lnTo>
                  <a:lnTo>
                    <a:pt x="2304920" y="82143"/>
                  </a:lnTo>
                  <a:lnTo>
                    <a:pt x="2266130" y="43353"/>
                  </a:lnTo>
                  <a:lnTo>
                    <a:pt x="2218433" y="15944"/>
                  </a:lnTo>
                  <a:lnTo>
                    <a:pt x="2165597" y="1804"/>
                  </a:lnTo>
                  <a:lnTo>
                    <a:pt x="2138032" y="0"/>
                  </a:lnTo>
                  <a:close/>
                </a:path>
              </a:pathLst>
            </a:custGeom>
            <a:solidFill>
              <a:srgbClr val="EE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081202" y="5120284"/>
              <a:ext cx="2348865" cy="421005"/>
            </a:xfrm>
            <a:custGeom>
              <a:avLst/>
              <a:gdLst/>
              <a:ahLst/>
              <a:cxnLst/>
              <a:rect l="l" t="t" r="r" b="b"/>
              <a:pathLst>
                <a:path w="2348865" h="421004">
                  <a:moveTo>
                    <a:pt x="0" y="210235"/>
                  </a:moveTo>
                  <a:lnTo>
                    <a:pt x="1804" y="182672"/>
                  </a:lnTo>
                  <a:lnTo>
                    <a:pt x="7153" y="155786"/>
                  </a:lnTo>
                  <a:lnTo>
                    <a:pt x="28079" y="105117"/>
                  </a:lnTo>
                  <a:lnTo>
                    <a:pt x="61464" y="61464"/>
                  </a:lnTo>
                  <a:lnTo>
                    <a:pt x="105117" y="28079"/>
                  </a:lnTo>
                  <a:lnTo>
                    <a:pt x="155786" y="7153"/>
                  </a:lnTo>
                  <a:lnTo>
                    <a:pt x="210235" y="0"/>
                  </a:lnTo>
                  <a:lnTo>
                    <a:pt x="2138032" y="0"/>
                  </a:lnTo>
                  <a:lnTo>
                    <a:pt x="2192488" y="7153"/>
                  </a:lnTo>
                  <a:lnTo>
                    <a:pt x="2243162" y="28079"/>
                  </a:lnTo>
                  <a:lnTo>
                    <a:pt x="2286806" y="61464"/>
                  </a:lnTo>
                  <a:lnTo>
                    <a:pt x="2320201" y="105117"/>
                  </a:lnTo>
                  <a:lnTo>
                    <a:pt x="2341122" y="155786"/>
                  </a:lnTo>
                  <a:lnTo>
                    <a:pt x="2348280" y="210235"/>
                  </a:lnTo>
                  <a:lnTo>
                    <a:pt x="2346474" y="237799"/>
                  </a:lnTo>
                  <a:lnTo>
                    <a:pt x="2341122" y="264685"/>
                  </a:lnTo>
                  <a:lnTo>
                    <a:pt x="2320201" y="315353"/>
                  </a:lnTo>
                  <a:lnTo>
                    <a:pt x="2286806" y="359006"/>
                  </a:lnTo>
                  <a:lnTo>
                    <a:pt x="2243162" y="392391"/>
                  </a:lnTo>
                  <a:lnTo>
                    <a:pt x="2192488" y="413318"/>
                  </a:lnTo>
                  <a:lnTo>
                    <a:pt x="2138032" y="420471"/>
                  </a:lnTo>
                  <a:lnTo>
                    <a:pt x="210235" y="420471"/>
                  </a:lnTo>
                  <a:lnTo>
                    <a:pt x="155786" y="413318"/>
                  </a:lnTo>
                  <a:lnTo>
                    <a:pt x="105117" y="392391"/>
                  </a:lnTo>
                  <a:lnTo>
                    <a:pt x="61464" y="359006"/>
                  </a:lnTo>
                  <a:lnTo>
                    <a:pt x="28079" y="315353"/>
                  </a:lnTo>
                  <a:lnTo>
                    <a:pt x="7153" y="264685"/>
                  </a:lnTo>
                  <a:lnTo>
                    <a:pt x="1804" y="237799"/>
                  </a:lnTo>
                  <a:lnTo>
                    <a:pt x="0" y="210235"/>
                  </a:lnTo>
                  <a:close/>
                </a:path>
              </a:pathLst>
            </a:custGeom>
            <a:ln w="9359">
              <a:solidFill>
                <a:srgbClr val="D6DB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7473505" y="5237898"/>
            <a:ext cx="15608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Academic</a:t>
            </a:r>
            <a:r>
              <a:rPr dirty="0" sz="1050" spc="-2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1223E"/>
                </a:solidFill>
                <a:latin typeface="Calibri"/>
                <a:cs typeface="Calibri"/>
              </a:rPr>
              <a:t>Block</a:t>
            </a:r>
            <a:r>
              <a:rPr dirty="0" sz="1050" spc="-2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1223E"/>
                </a:solidFill>
                <a:latin typeface="Calibri"/>
                <a:cs typeface="Calibri"/>
              </a:rPr>
              <a:t>→</a:t>
            </a:r>
            <a:r>
              <a:rPr dirty="0" sz="1050" spc="-1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1223E"/>
                </a:solidFill>
                <a:latin typeface="Calibri"/>
                <a:cs typeface="Calibri"/>
              </a:rPr>
              <a:t>Cafeteria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686222" y="6402870"/>
            <a:ext cx="154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6A717F"/>
                </a:solidFill>
                <a:latin typeface="Tahoma"/>
                <a:cs typeface="Tahoma"/>
              </a:rPr>
              <a:t>03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122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90825" y="278536"/>
            <a:ext cx="631126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105">
                <a:solidFill>
                  <a:srgbClr val="F1A83A"/>
                </a:solidFill>
                <a:latin typeface="Calibri"/>
                <a:cs typeface="Calibri"/>
              </a:rPr>
              <a:t>HOW</a:t>
            </a:r>
            <a:r>
              <a:rPr dirty="0" sz="3200" spc="420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3200" spc="110">
                <a:solidFill>
                  <a:srgbClr val="F1A83A"/>
                </a:solidFill>
                <a:latin typeface="Calibri"/>
                <a:cs typeface="Calibri"/>
              </a:rPr>
              <a:t>THE</a:t>
            </a:r>
            <a:r>
              <a:rPr dirty="0" sz="3200" spc="420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3200" spc="150">
                <a:solidFill>
                  <a:srgbClr val="F1A83A"/>
                </a:solidFill>
                <a:latin typeface="Calibri"/>
                <a:cs typeface="Calibri"/>
              </a:rPr>
              <a:t>GAMIFICATION</a:t>
            </a:r>
            <a:r>
              <a:rPr dirty="0" sz="3200" spc="415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3200" spc="125">
                <a:solidFill>
                  <a:srgbClr val="F1A83A"/>
                </a:solidFill>
                <a:latin typeface="Calibri"/>
                <a:cs typeface="Calibri"/>
              </a:rPr>
              <a:t>WORKS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8163" y="2631236"/>
            <a:ext cx="243357" cy="16380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938483" y="3671646"/>
            <a:ext cx="128905" cy="256540"/>
          </a:xfrm>
          <a:custGeom>
            <a:avLst/>
            <a:gdLst/>
            <a:ahLst/>
            <a:cxnLst/>
            <a:rect l="l" t="t" r="r" b="b"/>
            <a:pathLst>
              <a:path w="128904" h="256539">
                <a:moveTo>
                  <a:pt x="56159" y="0"/>
                </a:moveTo>
                <a:lnTo>
                  <a:pt x="0" y="12954"/>
                </a:lnTo>
                <a:lnTo>
                  <a:pt x="44272" y="206273"/>
                </a:lnTo>
                <a:lnTo>
                  <a:pt x="16192" y="212750"/>
                </a:lnTo>
                <a:lnTo>
                  <a:pt x="84950" y="255955"/>
                </a:lnTo>
                <a:lnTo>
                  <a:pt x="128511" y="186829"/>
                </a:lnTo>
                <a:lnTo>
                  <a:pt x="100431" y="193319"/>
                </a:lnTo>
                <a:lnTo>
                  <a:pt x="56159" y="0"/>
                </a:lnTo>
                <a:close/>
              </a:path>
            </a:pathLst>
          </a:custGeom>
          <a:solidFill>
            <a:srgbClr val="3D598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6485" y="5044325"/>
            <a:ext cx="191160" cy="21779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301200" y="5709602"/>
            <a:ext cx="256540" cy="115570"/>
          </a:xfrm>
          <a:custGeom>
            <a:avLst/>
            <a:gdLst/>
            <a:ahLst/>
            <a:cxnLst/>
            <a:rect l="l" t="t" r="r" b="b"/>
            <a:pathLst>
              <a:path w="256539" h="115570">
                <a:moveTo>
                  <a:pt x="57594" y="0"/>
                </a:moveTo>
                <a:lnTo>
                  <a:pt x="0" y="57594"/>
                </a:lnTo>
                <a:lnTo>
                  <a:pt x="57594" y="115201"/>
                </a:lnTo>
                <a:lnTo>
                  <a:pt x="57594" y="86398"/>
                </a:lnTo>
                <a:lnTo>
                  <a:pt x="255955" y="86398"/>
                </a:lnTo>
                <a:lnTo>
                  <a:pt x="255955" y="28803"/>
                </a:lnTo>
                <a:lnTo>
                  <a:pt x="57594" y="28803"/>
                </a:lnTo>
                <a:lnTo>
                  <a:pt x="57594" y="0"/>
                </a:lnTo>
                <a:close/>
              </a:path>
            </a:pathLst>
          </a:custGeom>
          <a:solidFill>
            <a:srgbClr val="3D598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4044" y="5062321"/>
            <a:ext cx="191160" cy="21779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805762" y="3678123"/>
            <a:ext cx="128905" cy="256540"/>
          </a:xfrm>
          <a:custGeom>
            <a:avLst/>
            <a:gdLst/>
            <a:ahLst/>
            <a:cxnLst/>
            <a:rect l="l" t="t" r="r" b="b"/>
            <a:pathLst>
              <a:path w="128905" h="256539">
                <a:moveTo>
                  <a:pt x="84962" y="0"/>
                </a:moveTo>
                <a:lnTo>
                  <a:pt x="16192" y="43192"/>
                </a:lnTo>
                <a:lnTo>
                  <a:pt x="44272" y="49682"/>
                </a:lnTo>
                <a:lnTo>
                  <a:pt x="0" y="243001"/>
                </a:lnTo>
                <a:lnTo>
                  <a:pt x="56159" y="255955"/>
                </a:lnTo>
                <a:lnTo>
                  <a:pt x="100431" y="62636"/>
                </a:lnTo>
                <a:lnTo>
                  <a:pt x="128524" y="69113"/>
                </a:lnTo>
                <a:lnTo>
                  <a:pt x="84962" y="0"/>
                </a:lnTo>
                <a:close/>
              </a:path>
            </a:pathLst>
          </a:custGeom>
          <a:solidFill>
            <a:srgbClr val="3D598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03880" y="2630525"/>
            <a:ext cx="243357" cy="16379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145675" y="2093760"/>
            <a:ext cx="567055" cy="567055"/>
            <a:chOff x="3145675" y="2093760"/>
            <a:chExt cx="567055" cy="567055"/>
          </a:xfrm>
        </p:grpSpPr>
        <p:sp>
          <p:nvSpPr>
            <p:cNvPr id="12" name="object 12"/>
            <p:cNvSpPr/>
            <p:nvPr/>
          </p:nvSpPr>
          <p:spPr>
            <a:xfrm>
              <a:off x="3145675" y="20937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62" y="9766"/>
                  </a:lnTo>
                  <a:lnTo>
                    <a:pt x="141846" y="38163"/>
                  </a:lnTo>
                  <a:lnTo>
                    <a:pt x="83118" y="83250"/>
                  </a:lnTo>
                  <a:lnTo>
                    <a:pt x="38163" y="141833"/>
                  </a:lnTo>
                  <a:lnTo>
                    <a:pt x="9632" y="210327"/>
                  </a:lnTo>
                  <a:lnTo>
                    <a:pt x="0" y="283679"/>
                  </a:lnTo>
                  <a:lnTo>
                    <a:pt x="2419" y="320727"/>
                  </a:lnTo>
                  <a:lnTo>
                    <a:pt x="21570" y="392122"/>
                  </a:lnTo>
                  <a:lnTo>
                    <a:pt x="58768" y="456303"/>
                  </a:lnTo>
                  <a:lnTo>
                    <a:pt x="110911" y="508541"/>
                  </a:lnTo>
                  <a:lnTo>
                    <a:pt x="175043" y="545583"/>
                  </a:lnTo>
                  <a:lnTo>
                    <a:pt x="246432" y="564590"/>
                  </a:lnTo>
                  <a:lnTo>
                    <a:pt x="283679" y="567004"/>
                  </a:lnTo>
                  <a:lnTo>
                    <a:pt x="320721" y="564590"/>
                  </a:lnTo>
                  <a:lnTo>
                    <a:pt x="391972" y="545583"/>
                  </a:lnTo>
                  <a:lnTo>
                    <a:pt x="456097" y="508541"/>
                  </a:lnTo>
                  <a:lnTo>
                    <a:pt x="508236" y="456303"/>
                  </a:lnTo>
                  <a:lnTo>
                    <a:pt x="545439" y="392122"/>
                  </a:lnTo>
                  <a:lnTo>
                    <a:pt x="564586" y="320727"/>
                  </a:lnTo>
                  <a:lnTo>
                    <a:pt x="567004" y="283679"/>
                  </a:lnTo>
                  <a:lnTo>
                    <a:pt x="564586" y="246632"/>
                  </a:lnTo>
                  <a:lnTo>
                    <a:pt x="545439" y="175237"/>
                  </a:lnTo>
                  <a:lnTo>
                    <a:pt x="508236" y="111056"/>
                  </a:lnTo>
                  <a:lnTo>
                    <a:pt x="456097" y="58817"/>
                  </a:lnTo>
                  <a:lnTo>
                    <a:pt x="391972" y="21720"/>
                  </a:lnTo>
                  <a:lnTo>
                    <a:pt x="320721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87153" y="2235238"/>
              <a:ext cx="282955" cy="2829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277336" y="922947"/>
            <a:ext cx="4925695" cy="881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dirty="0" sz="32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dirty="0" sz="32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Becomes</a:t>
            </a:r>
            <a:r>
              <a:rPr dirty="0" sz="320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Progress</a:t>
            </a:r>
            <a:endParaRPr sz="3200">
              <a:latin typeface="Calibri"/>
              <a:cs typeface="Calibri"/>
            </a:endParaRPr>
          </a:p>
          <a:p>
            <a:pPr marL="37465">
              <a:lnSpc>
                <a:spcPct val="100000"/>
              </a:lnSpc>
              <a:spcBef>
                <a:spcPts val="1700"/>
              </a:spcBef>
            </a:pPr>
            <a:r>
              <a:rPr dirty="0" sz="1000" spc="-20" b="1">
                <a:solidFill>
                  <a:srgbClr val="FFFFFF"/>
                </a:solidFill>
                <a:latin typeface="Calibri"/>
                <a:cs typeface="Calibri"/>
              </a:rPr>
              <a:t>WALK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39602" y="2764802"/>
            <a:ext cx="567055" cy="567055"/>
            <a:chOff x="4539602" y="2764802"/>
            <a:chExt cx="567055" cy="567055"/>
          </a:xfrm>
        </p:grpSpPr>
        <p:sp>
          <p:nvSpPr>
            <p:cNvPr id="16" name="object 16"/>
            <p:cNvSpPr/>
            <p:nvPr/>
          </p:nvSpPr>
          <p:spPr>
            <a:xfrm>
              <a:off x="4539602" y="276480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61" y="9766"/>
                  </a:lnTo>
                  <a:lnTo>
                    <a:pt x="141833" y="38163"/>
                  </a:lnTo>
                  <a:lnTo>
                    <a:pt x="83111" y="83245"/>
                  </a:lnTo>
                  <a:lnTo>
                    <a:pt x="38163" y="141833"/>
                  </a:lnTo>
                  <a:lnTo>
                    <a:pt x="9628" y="210327"/>
                  </a:lnTo>
                  <a:lnTo>
                    <a:pt x="0" y="283679"/>
                  </a:lnTo>
                  <a:lnTo>
                    <a:pt x="2417" y="320727"/>
                  </a:lnTo>
                  <a:lnTo>
                    <a:pt x="21565" y="392116"/>
                  </a:lnTo>
                  <a:lnTo>
                    <a:pt x="58762" y="456297"/>
                  </a:lnTo>
                  <a:lnTo>
                    <a:pt x="110904" y="508541"/>
                  </a:lnTo>
                  <a:lnTo>
                    <a:pt x="175037" y="545581"/>
                  </a:lnTo>
                  <a:lnTo>
                    <a:pt x="246432" y="564579"/>
                  </a:lnTo>
                  <a:lnTo>
                    <a:pt x="283679" y="566991"/>
                  </a:lnTo>
                  <a:lnTo>
                    <a:pt x="320721" y="564579"/>
                  </a:lnTo>
                  <a:lnTo>
                    <a:pt x="391966" y="545581"/>
                  </a:lnTo>
                  <a:lnTo>
                    <a:pt x="456092" y="508541"/>
                  </a:lnTo>
                  <a:lnTo>
                    <a:pt x="508236" y="456297"/>
                  </a:lnTo>
                  <a:lnTo>
                    <a:pt x="545431" y="392116"/>
                  </a:lnTo>
                  <a:lnTo>
                    <a:pt x="564573" y="320727"/>
                  </a:lnTo>
                  <a:lnTo>
                    <a:pt x="566991" y="283679"/>
                  </a:lnTo>
                  <a:lnTo>
                    <a:pt x="564573" y="246632"/>
                  </a:lnTo>
                  <a:lnTo>
                    <a:pt x="545431" y="175237"/>
                  </a:lnTo>
                  <a:lnTo>
                    <a:pt x="508236" y="111054"/>
                  </a:lnTo>
                  <a:lnTo>
                    <a:pt x="456092" y="58812"/>
                  </a:lnTo>
                  <a:lnTo>
                    <a:pt x="391966" y="21720"/>
                  </a:lnTo>
                  <a:lnTo>
                    <a:pt x="320721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1435" y="2906649"/>
              <a:ext cx="282956" cy="2829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298744" y="2562021"/>
            <a:ext cx="4819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EARN</a:t>
            </a: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Calibri"/>
                <a:cs typeface="Calibri"/>
              </a:rPr>
              <a:t>XP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83759" y="4273918"/>
            <a:ext cx="567055" cy="567055"/>
            <a:chOff x="4883759" y="4273918"/>
            <a:chExt cx="567055" cy="567055"/>
          </a:xfrm>
        </p:grpSpPr>
        <p:sp>
          <p:nvSpPr>
            <p:cNvPr id="20" name="object 20"/>
            <p:cNvSpPr/>
            <p:nvPr/>
          </p:nvSpPr>
          <p:spPr>
            <a:xfrm>
              <a:off x="4883759" y="427391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62" y="9588"/>
                  </a:lnTo>
                  <a:lnTo>
                    <a:pt x="141846" y="37807"/>
                  </a:lnTo>
                  <a:lnTo>
                    <a:pt x="83118" y="82889"/>
                  </a:lnTo>
                  <a:lnTo>
                    <a:pt x="38163" y="141478"/>
                  </a:lnTo>
                  <a:lnTo>
                    <a:pt x="9632" y="209972"/>
                  </a:lnTo>
                  <a:lnTo>
                    <a:pt x="0" y="283324"/>
                  </a:lnTo>
                  <a:lnTo>
                    <a:pt x="2419" y="320371"/>
                  </a:lnTo>
                  <a:lnTo>
                    <a:pt x="21570" y="391761"/>
                  </a:lnTo>
                  <a:lnTo>
                    <a:pt x="58768" y="455942"/>
                  </a:lnTo>
                  <a:lnTo>
                    <a:pt x="110911" y="508186"/>
                  </a:lnTo>
                  <a:lnTo>
                    <a:pt x="175043" y="545226"/>
                  </a:lnTo>
                  <a:lnTo>
                    <a:pt x="246432" y="564223"/>
                  </a:lnTo>
                  <a:lnTo>
                    <a:pt x="283679" y="566635"/>
                  </a:lnTo>
                  <a:lnTo>
                    <a:pt x="320721" y="564223"/>
                  </a:lnTo>
                  <a:lnTo>
                    <a:pt x="391966" y="545226"/>
                  </a:lnTo>
                  <a:lnTo>
                    <a:pt x="456092" y="508186"/>
                  </a:lnTo>
                  <a:lnTo>
                    <a:pt x="508236" y="455942"/>
                  </a:lnTo>
                  <a:lnTo>
                    <a:pt x="545433" y="391761"/>
                  </a:lnTo>
                  <a:lnTo>
                    <a:pt x="564584" y="320371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9"/>
                  </a:lnTo>
                  <a:lnTo>
                    <a:pt x="456092" y="58456"/>
                  </a:lnTo>
                  <a:lnTo>
                    <a:pt x="391966" y="21420"/>
                  </a:lnTo>
                  <a:lnTo>
                    <a:pt x="320721" y="2414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5605" y="4415040"/>
              <a:ext cx="282955" cy="28295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809945" y="4677384"/>
            <a:ext cx="642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13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COMPLETE CHALLENGE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19321" y="5483517"/>
            <a:ext cx="567055" cy="567055"/>
            <a:chOff x="3919321" y="5483517"/>
            <a:chExt cx="567055" cy="567055"/>
          </a:xfrm>
        </p:grpSpPr>
        <p:sp>
          <p:nvSpPr>
            <p:cNvPr id="24" name="object 24"/>
            <p:cNvSpPr/>
            <p:nvPr/>
          </p:nvSpPr>
          <p:spPr>
            <a:xfrm>
              <a:off x="3919321" y="5483517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61" y="9588"/>
                  </a:lnTo>
                  <a:lnTo>
                    <a:pt x="141833" y="37807"/>
                  </a:lnTo>
                  <a:lnTo>
                    <a:pt x="83116" y="82894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71"/>
                  </a:lnTo>
                  <a:lnTo>
                    <a:pt x="21565" y="391761"/>
                  </a:lnTo>
                  <a:lnTo>
                    <a:pt x="58767" y="455942"/>
                  </a:lnTo>
                  <a:lnTo>
                    <a:pt x="110906" y="508186"/>
                  </a:lnTo>
                  <a:lnTo>
                    <a:pt x="175037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6"/>
                  </a:lnTo>
                  <a:lnTo>
                    <a:pt x="508236" y="455942"/>
                  </a:lnTo>
                  <a:lnTo>
                    <a:pt x="545433" y="391761"/>
                  </a:lnTo>
                  <a:lnTo>
                    <a:pt x="564584" y="320371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700"/>
                  </a:lnTo>
                  <a:lnTo>
                    <a:pt x="456092" y="58462"/>
                  </a:lnTo>
                  <a:lnTo>
                    <a:pt x="391966" y="21420"/>
                  </a:lnTo>
                  <a:lnTo>
                    <a:pt x="320721" y="2414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60799" y="5625007"/>
              <a:ext cx="282956" cy="28295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532655" y="6380543"/>
            <a:ext cx="4241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BUILD </a:t>
            </a:r>
            <a:r>
              <a:rPr dirty="0" sz="1000" spc="-20" b="1">
                <a:solidFill>
                  <a:srgbClr val="FFFFFF"/>
                </a:solidFill>
                <a:latin typeface="Calibri"/>
                <a:cs typeface="Calibri"/>
              </a:rPr>
              <a:t>STREAK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72042" y="5483517"/>
            <a:ext cx="567055" cy="567055"/>
            <a:chOff x="2372042" y="5483517"/>
            <a:chExt cx="567055" cy="567055"/>
          </a:xfrm>
        </p:grpSpPr>
        <p:sp>
          <p:nvSpPr>
            <p:cNvPr id="28" name="object 28"/>
            <p:cNvSpPr/>
            <p:nvPr/>
          </p:nvSpPr>
          <p:spPr>
            <a:xfrm>
              <a:off x="2372042" y="5483517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679" y="0"/>
                  </a:moveTo>
                  <a:lnTo>
                    <a:pt x="210061" y="9588"/>
                  </a:lnTo>
                  <a:lnTo>
                    <a:pt x="141833" y="37807"/>
                  </a:lnTo>
                  <a:lnTo>
                    <a:pt x="83111" y="82894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71"/>
                  </a:lnTo>
                  <a:lnTo>
                    <a:pt x="21565" y="391761"/>
                  </a:lnTo>
                  <a:lnTo>
                    <a:pt x="58762" y="455942"/>
                  </a:lnTo>
                  <a:lnTo>
                    <a:pt x="110904" y="508186"/>
                  </a:lnTo>
                  <a:lnTo>
                    <a:pt x="175037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6"/>
                  </a:lnTo>
                  <a:lnTo>
                    <a:pt x="508236" y="455942"/>
                  </a:lnTo>
                  <a:lnTo>
                    <a:pt x="545431" y="391761"/>
                  </a:lnTo>
                  <a:lnTo>
                    <a:pt x="564573" y="320371"/>
                  </a:lnTo>
                  <a:lnTo>
                    <a:pt x="566991" y="283324"/>
                  </a:lnTo>
                  <a:lnTo>
                    <a:pt x="564573" y="246276"/>
                  </a:lnTo>
                  <a:lnTo>
                    <a:pt x="545431" y="174882"/>
                  </a:lnTo>
                  <a:lnTo>
                    <a:pt x="508236" y="110700"/>
                  </a:lnTo>
                  <a:lnTo>
                    <a:pt x="456092" y="58462"/>
                  </a:lnTo>
                  <a:lnTo>
                    <a:pt x="391966" y="21420"/>
                  </a:lnTo>
                  <a:lnTo>
                    <a:pt x="320721" y="2414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13520" y="5625007"/>
              <a:ext cx="282956" cy="28295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010498" y="6392786"/>
            <a:ext cx="8102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479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CLIMB LEADERBOARD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07236" y="4273918"/>
            <a:ext cx="567055" cy="567055"/>
            <a:chOff x="1407236" y="4273918"/>
            <a:chExt cx="567055" cy="567055"/>
          </a:xfrm>
        </p:grpSpPr>
        <p:sp>
          <p:nvSpPr>
            <p:cNvPr id="32" name="object 32"/>
            <p:cNvSpPr/>
            <p:nvPr/>
          </p:nvSpPr>
          <p:spPr>
            <a:xfrm>
              <a:off x="1407236" y="427391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679" y="0"/>
                  </a:moveTo>
                  <a:lnTo>
                    <a:pt x="210062" y="9588"/>
                  </a:lnTo>
                  <a:lnTo>
                    <a:pt x="141846" y="37807"/>
                  </a:lnTo>
                  <a:lnTo>
                    <a:pt x="83118" y="82889"/>
                  </a:lnTo>
                  <a:lnTo>
                    <a:pt x="38163" y="141478"/>
                  </a:lnTo>
                  <a:lnTo>
                    <a:pt x="9632" y="209972"/>
                  </a:lnTo>
                  <a:lnTo>
                    <a:pt x="0" y="283324"/>
                  </a:lnTo>
                  <a:lnTo>
                    <a:pt x="2419" y="320371"/>
                  </a:lnTo>
                  <a:lnTo>
                    <a:pt x="21570" y="391761"/>
                  </a:lnTo>
                  <a:lnTo>
                    <a:pt x="58768" y="455942"/>
                  </a:lnTo>
                  <a:lnTo>
                    <a:pt x="110911" y="508186"/>
                  </a:lnTo>
                  <a:lnTo>
                    <a:pt x="175043" y="545226"/>
                  </a:lnTo>
                  <a:lnTo>
                    <a:pt x="246432" y="564223"/>
                  </a:lnTo>
                  <a:lnTo>
                    <a:pt x="283679" y="566635"/>
                  </a:lnTo>
                  <a:lnTo>
                    <a:pt x="320721" y="564223"/>
                  </a:lnTo>
                  <a:lnTo>
                    <a:pt x="391966" y="545226"/>
                  </a:lnTo>
                  <a:lnTo>
                    <a:pt x="456092" y="508186"/>
                  </a:lnTo>
                  <a:lnTo>
                    <a:pt x="508236" y="455942"/>
                  </a:lnTo>
                  <a:lnTo>
                    <a:pt x="545433" y="391761"/>
                  </a:lnTo>
                  <a:lnTo>
                    <a:pt x="564584" y="320371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9"/>
                  </a:lnTo>
                  <a:lnTo>
                    <a:pt x="456092" y="58456"/>
                  </a:lnTo>
                  <a:lnTo>
                    <a:pt x="391966" y="21420"/>
                  </a:lnTo>
                  <a:lnTo>
                    <a:pt x="320721" y="2414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48714" y="4415040"/>
              <a:ext cx="282956" cy="282956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06221" y="4720589"/>
            <a:ext cx="45148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731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FFFFFF"/>
                </a:solidFill>
                <a:latin typeface="Calibri"/>
                <a:cs typeface="Calibri"/>
              </a:rPr>
              <a:t>EARN BADGES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51406" y="2764802"/>
            <a:ext cx="567055" cy="567055"/>
            <a:chOff x="1751406" y="2764802"/>
            <a:chExt cx="567055" cy="567055"/>
          </a:xfrm>
        </p:grpSpPr>
        <p:sp>
          <p:nvSpPr>
            <p:cNvPr id="36" name="object 36"/>
            <p:cNvSpPr/>
            <p:nvPr/>
          </p:nvSpPr>
          <p:spPr>
            <a:xfrm>
              <a:off x="1751406" y="276480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679" y="0"/>
                  </a:moveTo>
                  <a:lnTo>
                    <a:pt x="210051" y="9766"/>
                  </a:lnTo>
                  <a:lnTo>
                    <a:pt x="141833" y="38163"/>
                  </a:lnTo>
                  <a:lnTo>
                    <a:pt x="83105" y="83245"/>
                  </a:lnTo>
                  <a:lnTo>
                    <a:pt x="38150" y="141833"/>
                  </a:lnTo>
                  <a:lnTo>
                    <a:pt x="9626" y="210327"/>
                  </a:lnTo>
                  <a:lnTo>
                    <a:pt x="0" y="283679"/>
                  </a:lnTo>
                  <a:lnTo>
                    <a:pt x="2417" y="320727"/>
                  </a:lnTo>
                  <a:lnTo>
                    <a:pt x="21559" y="392116"/>
                  </a:lnTo>
                  <a:lnTo>
                    <a:pt x="58755" y="456297"/>
                  </a:lnTo>
                  <a:lnTo>
                    <a:pt x="110899" y="508541"/>
                  </a:lnTo>
                  <a:lnTo>
                    <a:pt x="175030" y="545581"/>
                  </a:lnTo>
                  <a:lnTo>
                    <a:pt x="246425" y="564579"/>
                  </a:lnTo>
                  <a:lnTo>
                    <a:pt x="283679" y="566991"/>
                  </a:lnTo>
                  <a:lnTo>
                    <a:pt x="320714" y="564579"/>
                  </a:lnTo>
                  <a:lnTo>
                    <a:pt x="391959" y="545581"/>
                  </a:lnTo>
                  <a:lnTo>
                    <a:pt x="456086" y="508541"/>
                  </a:lnTo>
                  <a:lnTo>
                    <a:pt x="508228" y="456297"/>
                  </a:lnTo>
                  <a:lnTo>
                    <a:pt x="545426" y="392116"/>
                  </a:lnTo>
                  <a:lnTo>
                    <a:pt x="564573" y="320727"/>
                  </a:lnTo>
                  <a:lnTo>
                    <a:pt x="566991" y="283679"/>
                  </a:lnTo>
                  <a:lnTo>
                    <a:pt x="564573" y="246632"/>
                  </a:lnTo>
                  <a:lnTo>
                    <a:pt x="545426" y="175237"/>
                  </a:lnTo>
                  <a:lnTo>
                    <a:pt x="508228" y="111054"/>
                  </a:lnTo>
                  <a:lnTo>
                    <a:pt x="456086" y="58812"/>
                  </a:lnTo>
                  <a:lnTo>
                    <a:pt x="391959" y="21720"/>
                  </a:lnTo>
                  <a:lnTo>
                    <a:pt x="320714" y="2469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93239" y="2906649"/>
              <a:ext cx="282956" cy="28295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219580" y="2562021"/>
            <a:ext cx="4146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551356" y="1709635"/>
            <a:ext cx="3794760" cy="4572000"/>
          </a:xfrm>
          <a:custGeom>
            <a:avLst/>
            <a:gdLst/>
            <a:ahLst/>
            <a:cxnLst/>
            <a:rect l="l" t="t" r="r" b="b"/>
            <a:pathLst>
              <a:path w="3794759" h="4572000">
                <a:moveTo>
                  <a:pt x="3794404" y="0"/>
                </a:moveTo>
                <a:lnTo>
                  <a:pt x="0" y="0"/>
                </a:lnTo>
                <a:lnTo>
                  <a:pt x="0" y="4571644"/>
                </a:lnTo>
                <a:lnTo>
                  <a:pt x="1897202" y="4571644"/>
                </a:lnTo>
                <a:lnTo>
                  <a:pt x="3794404" y="4571644"/>
                </a:lnTo>
                <a:lnTo>
                  <a:pt x="3794404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169376" y="1924100"/>
            <a:ext cx="7772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1A83A"/>
                </a:solidFill>
                <a:latin typeface="Calibri"/>
                <a:cs typeface="Calibri"/>
              </a:rPr>
              <a:t>E</a:t>
            </a:r>
            <a:r>
              <a:rPr dirty="0" sz="1100" spc="-11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1A83A"/>
                </a:solidFill>
                <a:latin typeface="Calibri"/>
                <a:cs typeface="Calibri"/>
              </a:rPr>
              <a:t>X</a:t>
            </a:r>
            <a:r>
              <a:rPr dirty="0" sz="1100" spc="-9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1A83A"/>
                </a:solidFill>
                <a:latin typeface="Calibri"/>
                <a:cs typeface="Calibri"/>
              </a:rPr>
              <a:t>A</a:t>
            </a:r>
            <a:r>
              <a:rPr dirty="0" sz="1100" spc="-9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1A83A"/>
                </a:solidFill>
                <a:latin typeface="Calibri"/>
                <a:cs typeface="Calibri"/>
              </a:rPr>
              <a:t>M</a:t>
            </a:r>
            <a:r>
              <a:rPr dirty="0" sz="1100" spc="-10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1A83A"/>
                </a:solidFill>
                <a:latin typeface="Calibri"/>
                <a:cs typeface="Calibri"/>
              </a:rPr>
              <a:t>P</a:t>
            </a:r>
            <a:r>
              <a:rPr dirty="0" sz="1100" spc="-10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1A83A"/>
                </a:solidFill>
                <a:latin typeface="Calibri"/>
                <a:cs typeface="Calibri"/>
              </a:rPr>
              <a:t>L</a:t>
            </a:r>
            <a:r>
              <a:rPr dirty="0" sz="1100" spc="-9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1A83A"/>
                </a:solidFill>
                <a:latin typeface="Calibri"/>
                <a:cs typeface="Calibri"/>
              </a:rPr>
              <a:t>E</a:t>
            </a:r>
            <a:r>
              <a:rPr dirty="0" sz="1100" spc="-11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1A83A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83524" y="2395435"/>
            <a:ext cx="457200" cy="3566160"/>
            <a:chOff x="8183524" y="2395435"/>
            <a:chExt cx="457200" cy="3566160"/>
          </a:xfrm>
        </p:grpSpPr>
        <p:sp>
          <p:nvSpPr>
            <p:cNvPr id="42" name="object 42"/>
            <p:cNvSpPr/>
            <p:nvPr/>
          </p:nvSpPr>
          <p:spPr>
            <a:xfrm>
              <a:off x="8183524" y="23954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40"/>
                  </a:lnTo>
                  <a:lnTo>
                    <a:pt x="114477" y="30606"/>
                  </a:lnTo>
                  <a:lnTo>
                    <a:pt x="67002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93684" y="2505240"/>
              <a:ext cx="237235" cy="2372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183524" y="31726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40"/>
                  </a:lnTo>
                  <a:lnTo>
                    <a:pt x="114477" y="30606"/>
                  </a:lnTo>
                  <a:lnTo>
                    <a:pt x="67002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93684" y="3282480"/>
              <a:ext cx="237235" cy="23723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183524" y="394991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40"/>
                  </a:lnTo>
                  <a:lnTo>
                    <a:pt x="114477" y="30606"/>
                  </a:lnTo>
                  <a:lnTo>
                    <a:pt x="67002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93684" y="4059720"/>
              <a:ext cx="237235" cy="23723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183524" y="472715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40"/>
                  </a:lnTo>
                  <a:lnTo>
                    <a:pt x="114477" y="30607"/>
                  </a:lnTo>
                  <a:lnTo>
                    <a:pt x="67002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93684" y="4836960"/>
              <a:ext cx="237235" cy="23723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83524" y="55043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40"/>
                  </a:lnTo>
                  <a:lnTo>
                    <a:pt x="114477" y="30606"/>
                  </a:lnTo>
                  <a:lnTo>
                    <a:pt x="67002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599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199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599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A8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93684" y="5614200"/>
              <a:ext cx="237235" cy="237236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8855176" y="2517025"/>
            <a:ext cx="9740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30-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Day</a:t>
            </a:r>
            <a:r>
              <a:rPr dirty="0" sz="13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Streak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855176" y="3294265"/>
            <a:ext cx="15735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40" b="1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dirty="0" sz="13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dirty="0" sz="13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Campus</a:t>
            </a:r>
            <a:r>
              <a:rPr dirty="0" sz="13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Walker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55176" y="4071505"/>
            <a:ext cx="13938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10K</a:t>
            </a:r>
            <a:r>
              <a:rPr dirty="0" sz="13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r>
              <a:rPr dirty="0" sz="13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855176" y="4848745"/>
            <a:ext cx="11938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Hostel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Champion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55176" y="5625985"/>
            <a:ext cx="61658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5,000</a:t>
            </a:r>
            <a:r>
              <a:rPr dirty="0" sz="13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XP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686222" y="6402870"/>
            <a:ext cx="154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AEC1D8"/>
                </a:solidFill>
                <a:latin typeface="Tahoma"/>
                <a:cs typeface="Tahoma"/>
              </a:rPr>
              <a:t>04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4493" y="174497"/>
            <a:ext cx="45599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4">
                <a:solidFill>
                  <a:srgbClr val="1E895E"/>
                </a:solidFill>
                <a:latin typeface="Calibri"/>
                <a:cs typeface="Calibri"/>
              </a:rPr>
              <a:t>WHY</a:t>
            </a:r>
            <a:r>
              <a:rPr dirty="0" spc="395">
                <a:solidFill>
                  <a:srgbClr val="1E895E"/>
                </a:solidFill>
                <a:latin typeface="Calibri"/>
                <a:cs typeface="Calibri"/>
              </a:rPr>
              <a:t> </a:t>
            </a:r>
            <a:r>
              <a:rPr dirty="0" spc="105">
                <a:solidFill>
                  <a:srgbClr val="1E895E"/>
                </a:solidFill>
                <a:latin typeface="Calibri"/>
                <a:cs typeface="Calibri"/>
              </a:rPr>
              <a:t>THAPAR</a:t>
            </a:r>
            <a:r>
              <a:rPr dirty="0" spc="409">
                <a:solidFill>
                  <a:srgbClr val="1E895E"/>
                </a:solidFill>
                <a:latin typeface="Calibri"/>
                <a:cs typeface="Calibri"/>
              </a:rPr>
              <a:t> </a:t>
            </a:r>
            <a:r>
              <a:rPr dirty="0" spc="140">
                <a:solidFill>
                  <a:srgbClr val="1E895E"/>
                </a:solidFill>
                <a:latin typeface="Calibri"/>
                <a:cs typeface="Calibri"/>
              </a:rPr>
              <a:t>STEPUP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1103" y="863536"/>
            <a:ext cx="4550410" cy="106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More</a:t>
            </a:r>
            <a:r>
              <a:rPr dirty="0" sz="3200" spc="-5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Than</a:t>
            </a:r>
            <a:r>
              <a:rPr dirty="0" sz="3200" spc="-5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a</a:t>
            </a:r>
            <a:r>
              <a:rPr dirty="0" sz="3200" spc="-5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11223E"/>
                </a:solidFill>
                <a:latin typeface="Calibri"/>
                <a:cs typeface="Calibri"/>
              </a:rPr>
              <a:t>Step</a:t>
            </a:r>
            <a:r>
              <a:rPr dirty="0" sz="3200" spc="-5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11223E"/>
                </a:solidFill>
                <a:latin typeface="Calibri"/>
                <a:cs typeface="Calibri"/>
              </a:rPr>
              <a:t>Counter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0"/>
              </a:spcBef>
            </a:pPr>
            <a:r>
              <a:rPr dirty="0" sz="1200" spc="95" b="1">
                <a:solidFill>
                  <a:srgbClr val="6A717F"/>
                </a:solidFill>
                <a:latin typeface="Calibri"/>
                <a:cs typeface="Calibri"/>
              </a:rPr>
              <a:t>GENERIC</a:t>
            </a:r>
            <a:r>
              <a:rPr dirty="0" sz="1200" spc="245" b="1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dirty="0" sz="1200" spc="90" b="1">
                <a:solidFill>
                  <a:srgbClr val="6A717F"/>
                </a:solidFill>
                <a:latin typeface="Calibri"/>
                <a:cs typeface="Calibri"/>
              </a:rPr>
              <a:t>FITNESS</a:t>
            </a:r>
            <a:r>
              <a:rPr dirty="0" sz="1200" spc="250" b="1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6A717F"/>
                </a:solidFill>
                <a:latin typeface="Calibri"/>
                <a:cs typeface="Calibri"/>
              </a:rPr>
              <a:t>APPS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8075" y="230399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5"/>
                </a:lnTo>
                <a:lnTo>
                  <a:pt x="91440" y="24485"/>
                </a:lnTo>
                <a:lnTo>
                  <a:pt x="53643" y="53643"/>
                </a:lnTo>
                <a:lnTo>
                  <a:pt x="24485" y="91440"/>
                </a:lnTo>
                <a:lnTo>
                  <a:pt x="6165" y="135540"/>
                </a:lnTo>
                <a:lnTo>
                  <a:pt x="0" y="182880"/>
                </a:lnTo>
                <a:lnTo>
                  <a:pt x="1547" y="206788"/>
                </a:lnTo>
                <a:lnTo>
                  <a:pt x="13823" y="252847"/>
                </a:lnTo>
                <a:lnTo>
                  <a:pt x="37881" y="294200"/>
                </a:lnTo>
                <a:lnTo>
                  <a:pt x="71564" y="327885"/>
                </a:lnTo>
                <a:lnTo>
                  <a:pt x="112917" y="351942"/>
                </a:lnTo>
                <a:lnTo>
                  <a:pt x="158973" y="364213"/>
                </a:lnTo>
                <a:lnTo>
                  <a:pt x="182879" y="365760"/>
                </a:lnTo>
                <a:lnTo>
                  <a:pt x="206788" y="364213"/>
                </a:lnTo>
                <a:lnTo>
                  <a:pt x="252847" y="351942"/>
                </a:lnTo>
                <a:lnTo>
                  <a:pt x="294200" y="327885"/>
                </a:lnTo>
                <a:lnTo>
                  <a:pt x="327885" y="294200"/>
                </a:lnTo>
                <a:lnTo>
                  <a:pt x="351942" y="252847"/>
                </a:lnTo>
                <a:lnTo>
                  <a:pt x="364213" y="206788"/>
                </a:lnTo>
                <a:lnTo>
                  <a:pt x="365760" y="182880"/>
                </a:lnTo>
                <a:lnTo>
                  <a:pt x="364213" y="158973"/>
                </a:lnTo>
                <a:lnTo>
                  <a:pt x="351942" y="112917"/>
                </a:lnTo>
                <a:lnTo>
                  <a:pt x="327885" y="71564"/>
                </a:lnTo>
                <a:lnTo>
                  <a:pt x="294200" y="37881"/>
                </a:lnTo>
                <a:lnTo>
                  <a:pt x="252847" y="13823"/>
                </a:lnTo>
                <a:lnTo>
                  <a:pt x="206788" y="1547"/>
                </a:lnTo>
                <a:lnTo>
                  <a:pt x="182879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20304" y="2374823"/>
            <a:ext cx="157226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0">
                <a:latin typeface="Tahoma"/>
                <a:cs typeface="Tahoma"/>
              </a:rPr>
              <a:t>Individual</a:t>
            </a:r>
            <a:r>
              <a:rPr dirty="0" sz="1300" spc="-45">
                <a:latin typeface="Tahoma"/>
                <a:cs typeface="Tahoma"/>
              </a:rPr>
              <a:t> </a:t>
            </a:r>
            <a:r>
              <a:rPr dirty="0" sz="1300" spc="-60">
                <a:latin typeface="Tahoma"/>
                <a:cs typeface="Tahoma"/>
              </a:rPr>
              <a:t>tracking</a:t>
            </a:r>
            <a:r>
              <a:rPr dirty="0" sz="1300" spc="-5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only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8075" y="28710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5"/>
                </a:lnTo>
                <a:lnTo>
                  <a:pt x="91440" y="24485"/>
                </a:lnTo>
                <a:lnTo>
                  <a:pt x="53643" y="53638"/>
                </a:lnTo>
                <a:lnTo>
                  <a:pt x="24485" y="91439"/>
                </a:lnTo>
                <a:lnTo>
                  <a:pt x="6165" y="135540"/>
                </a:lnTo>
                <a:lnTo>
                  <a:pt x="0" y="182880"/>
                </a:lnTo>
                <a:lnTo>
                  <a:pt x="1547" y="206786"/>
                </a:lnTo>
                <a:lnTo>
                  <a:pt x="13823" y="252842"/>
                </a:lnTo>
                <a:lnTo>
                  <a:pt x="37881" y="294200"/>
                </a:lnTo>
                <a:lnTo>
                  <a:pt x="71564" y="327880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80"/>
                </a:lnTo>
                <a:lnTo>
                  <a:pt x="327885" y="294200"/>
                </a:lnTo>
                <a:lnTo>
                  <a:pt x="351942" y="252842"/>
                </a:lnTo>
                <a:lnTo>
                  <a:pt x="364213" y="206786"/>
                </a:lnTo>
                <a:lnTo>
                  <a:pt x="365760" y="182880"/>
                </a:lnTo>
                <a:lnTo>
                  <a:pt x="364213" y="158973"/>
                </a:lnTo>
                <a:lnTo>
                  <a:pt x="351942" y="112917"/>
                </a:lnTo>
                <a:lnTo>
                  <a:pt x="327885" y="71559"/>
                </a:lnTo>
                <a:lnTo>
                  <a:pt x="294200" y="37879"/>
                </a:lnTo>
                <a:lnTo>
                  <a:pt x="252847" y="13823"/>
                </a:lnTo>
                <a:lnTo>
                  <a:pt x="206788" y="1547"/>
                </a:lnTo>
                <a:lnTo>
                  <a:pt x="182879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0304" y="2941815"/>
            <a:ext cx="15544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latin typeface="Tahoma"/>
                <a:cs typeface="Tahoma"/>
              </a:rPr>
              <a:t>Generic,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60">
                <a:latin typeface="Tahoma"/>
                <a:cs typeface="Tahoma"/>
              </a:rPr>
              <a:t>one-size </a:t>
            </a:r>
            <a:r>
              <a:rPr dirty="0" sz="1300" spc="-35">
                <a:latin typeface="Tahoma"/>
                <a:cs typeface="Tahoma"/>
              </a:rPr>
              <a:t>goals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8075" y="343763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5"/>
                </a:lnTo>
                <a:lnTo>
                  <a:pt x="91440" y="24485"/>
                </a:lnTo>
                <a:lnTo>
                  <a:pt x="53643" y="53643"/>
                </a:lnTo>
                <a:lnTo>
                  <a:pt x="24485" y="91439"/>
                </a:lnTo>
                <a:lnTo>
                  <a:pt x="6165" y="135540"/>
                </a:lnTo>
                <a:lnTo>
                  <a:pt x="0" y="182880"/>
                </a:lnTo>
                <a:lnTo>
                  <a:pt x="1547" y="206788"/>
                </a:lnTo>
                <a:lnTo>
                  <a:pt x="13823" y="252847"/>
                </a:lnTo>
                <a:lnTo>
                  <a:pt x="37881" y="294200"/>
                </a:lnTo>
                <a:lnTo>
                  <a:pt x="71564" y="327885"/>
                </a:lnTo>
                <a:lnTo>
                  <a:pt x="112917" y="351942"/>
                </a:lnTo>
                <a:lnTo>
                  <a:pt x="158973" y="364213"/>
                </a:lnTo>
                <a:lnTo>
                  <a:pt x="182879" y="365759"/>
                </a:lnTo>
                <a:lnTo>
                  <a:pt x="206788" y="364213"/>
                </a:lnTo>
                <a:lnTo>
                  <a:pt x="252847" y="351942"/>
                </a:lnTo>
                <a:lnTo>
                  <a:pt x="294200" y="327885"/>
                </a:lnTo>
                <a:lnTo>
                  <a:pt x="327885" y="294200"/>
                </a:lnTo>
                <a:lnTo>
                  <a:pt x="351942" y="252847"/>
                </a:lnTo>
                <a:lnTo>
                  <a:pt x="364213" y="206788"/>
                </a:lnTo>
                <a:lnTo>
                  <a:pt x="365760" y="182880"/>
                </a:lnTo>
                <a:lnTo>
                  <a:pt x="364213" y="158973"/>
                </a:lnTo>
                <a:lnTo>
                  <a:pt x="351942" y="112917"/>
                </a:lnTo>
                <a:lnTo>
                  <a:pt x="327885" y="71564"/>
                </a:lnTo>
                <a:lnTo>
                  <a:pt x="294200" y="37881"/>
                </a:lnTo>
                <a:lnTo>
                  <a:pt x="252847" y="13823"/>
                </a:lnTo>
                <a:lnTo>
                  <a:pt x="206788" y="1547"/>
                </a:lnTo>
                <a:lnTo>
                  <a:pt x="182879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20304" y="3508819"/>
            <a:ext cx="13081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35">
                <a:latin typeface="Tahoma"/>
                <a:cs typeface="Tahoma"/>
              </a:rPr>
              <a:t>No</a:t>
            </a:r>
            <a:r>
              <a:rPr dirty="0" sz="1300" spc="-75">
                <a:latin typeface="Tahoma"/>
                <a:cs typeface="Tahoma"/>
              </a:rPr>
              <a:t> </a:t>
            </a:r>
            <a:r>
              <a:rPr dirty="0" sz="1300" spc="-70">
                <a:latin typeface="Tahoma"/>
                <a:cs typeface="Tahoma"/>
              </a:rPr>
              <a:t>campus</a:t>
            </a:r>
            <a:r>
              <a:rPr dirty="0" sz="1300" spc="-80">
                <a:latin typeface="Tahoma"/>
                <a:cs typeface="Tahoma"/>
              </a:rPr>
              <a:t> </a:t>
            </a:r>
            <a:r>
              <a:rPr dirty="0" sz="1300" spc="-35">
                <a:latin typeface="Tahoma"/>
                <a:cs typeface="Tahoma"/>
              </a:rPr>
              <a:t>context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8075" y="40046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5"/>
                </a:lnTo>
                <a:lnTo>
                  <a:pt x="91440" y="24485"/>
                </a:lnTo>
                <a:lnTo>
                  <a:pt x="53643" y="53638"/>
                </a:lnTo>
                <a:lnTo>
                  <a:pt x="24485" y="91439"/>
                </a:lnTo>
                <a:lnTo>
                  <a:pt x="6165" y="135540"/>
                </a:lnTo>
                <a:lnTo>
                  <a:pt x="0" y="182879"/>
                </a:lnTo>
                <a:lnTo>
                  <a:pt x="1547" y="206786"/>
                </a:lnTo>
                <a:lnTo>
                  <a:pt x="13823" y="252842"/>
                </a:lnTo>
                <a:lnTo>
                  <a:pt x="37881" y="294200"/>
                </a:lnTo>
                <a:lnTo>
                  <a:pt x="71564" y="327880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59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80"/>
                </a:lnTo>
                <a:lnTo>
                  <a:pt x="327885" y="294200"/>
                </a:lnTo>
                <a:lnTo>
                  <a:pt x="351942" y="252842"/>
                </a:lnTo>
                <a:lnTo>
                  <a:pt x="364213" y="206786"/>
                </a:lnTo>
                <a:lnTo>
                  <a:pt x="365760" y="182879"/>
                </a:lnTo>
                <a:lnTo>
                  <a:pt x="364213" y="158973"/>
                </a:lnTo>
                <a:lnTo>
                  <a:pt x="351942" y="112917"/>
                </a:lnTo>
                <a:lnTo>
                  <a:pt x="327885" y="71559"/>
                </a:lnTo>
                <a:lnTo>
                  <a:pt x="294200" y="37879"/>
                </a:lnTo>
                <a:lnTo>
                  <a:pt x="252847" y="13823"/>
                </a:lnTo>
                <a:lnTo>
                  <a:pt x="206788" y="1547"/>
                </a:lnTo>
                <a:lnTo>
                  <a:pt x="182879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20304" y="4075455"/>
            <a:ext cx="19215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latin typeface="Tahoma"/>
                <a:cs typeface="Tahoma"/>
              </a:rPr>
              <a:t>Limited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50">
                <a:latin typeface="Tahoma"/>
                <a:cs typeface="Tahoma"/>
              </a:rPr>
              <a:t>student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competition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8075" y="457164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40" y="24472"/>
                </a:lnTo>
                <a:lnTo>
                  <a:pt x="53643" y="53636"/>
                </a:lnTo>
                <a:lnTo>
                  <a:pt x="24485" y="91440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60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20304" y="4642459"/>
            <a:ext cx="205549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35">
                <a:latin typeface="Tahoma"/>
                <a:cs typeface="Tahoma"/>
              </a:rPr>
              <a:t>No</a:t>
            </a:r>
            <a:r>
              <a:rPr dirty="0" sz="1300" spc="-80">
                <a:latin typeface="Tahoma"/>
                <a:cs typeface="Tahoma"/>
              </a:rPr>
              <a:t> </a:t>
            </a:r>
            <a:r>
              <a:rPr dirty="0" sz="1300" spc="-65">
                <a:latin typeface="Tahoma"/>
                <a:cs typeface="Tahoma"/>
              </a:rPr>
              <a:t>campus-</a:t>
            </a:r>
            <a:r>
              <a:rPr dirty="0" sz="1300" spc="-45">
                <a:latin typeface="Tahoma"/>
                <a:cs typeface="Tahoma"/>
              </a:rPr>
              <a:t>specific</a:t>
            </a:r>
            <a:r>
              <a:rPr dirty="0" sz="1300" spc="-80">
                <a:latin typeface="Tahoma"/>
                <a:cs typeface="Tahoma"/>
              </a:rPr>
              <a:t> </a:t>
            </a:r>
            <a:r>
              <a:rPr dirty="0" sz="1300" spc="-45">
                <a:latin typeface="Tahoma"/>
                <a:cs typeface="Tahoma"/>
              </a:rPr>
              <a:t>challenges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23204" y="1600200"/>
            <a:ext cx="5943600" cy="4709160"/>
            <a:chOff x="5623204" y="1600200"/>
            <a:chExt cx="5943600" cy="4709160"/>
          </a:xfrm>
        </p:grpSpPr>
        <p:sp>
          <p:nvSpPr>
            <p:cNvPr id="15" name="object 15"/>
            <p:cNvSpPr/>
            <p:nvPr/>
          </p:nvSpPr>
          <p:spPr>
            <a:xfrm>
              <a:off x="5623204" y="1600200"/>
              <a:ext cx="5943600" cy="4709160"/>
            </a:xfrm>
            <a:custGeom>
              <a:avLst/>
              <a:gdLst/>
              <a:ahLst/>
              <a:cxnLst/>
              <a:rect l="l" t="t" r="r" b="b"/>
              <a:pathLst>
                <a:path w="5943600" h="4709160">
                  <a:moveTo>
                    <a:pt x="5943231" y="0"/>
                  </a:moveTo>
                  <a:lnTo>
                    <a:pt x="0" y="0"/>
                  </a:lnTo>
                  <a:lnTo>
                    <a:pt x="0" y="4708804"/>
                  </a:lnTo>
                  <a:lnTo>
                    <a:pt x="2971800" y="4708804"/>
                  </a:lnTo>
                  <a:lnTo>
                    <a:pt x="5943231" y="4708804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122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80404" y="253259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89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69" y="323796"/>
                  </a:lnTo>
                  <a:lnTo>
                    <a:pt x="78837" y="360822"/>
                  </a:lnTo>
                  <a:lnTo>
                    <a:pt x="124287" y="387148"/>
                  </a:lnTo>
                  <a:lnTo>
                    <a:pt x="174907" y="400750"/>
                  </a:lnTo>
                  <a:lnTo>
                    <a:pt x="201231" y="402488"/>
                  </a:lnTo>
                  <a:lnTo>
                    <a:pt x="227563" y="400750"/>
                  </a:lnTo>
                  <a:lnTo>
                    <a:pt x="278335" y="387148"/>
                  </a:lnTo>
                  <a:lnTo>
                    <a:pt x="323783" y="360822"/>
                  </a:lnTo>
                  <a:lnTo>
                    <a:pt x="360810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1E89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706336" y="2607018"/>
            <a:ext cx="19748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Campus-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 tracking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80404" y="3218395"/>
            <a:ext cx="402590" cy="2459990"/>
          </a:xfrm>
          <a:custGeom>
            <a:avLst/>
            <a:gdLst/>
            <a:ahLst/>
            <a:cxnLst/>
            <a:rect l="l" t="t" r="r" b="b"/>
            <a:pathLst>
              <a:path w="402589" h="2459990">
                <a:moveTo>
                  <a:pt x="402475" y="2258644"/>
                </a:moveTo>
                <a:lnTo>
                  <a:pt x="395579" y="2206536"/>
                </a:lnTo>
                <a:lnTo>
                  <a:pt x="375475" y="2158200"/>
                </a:lnTo>
                <a:lnTo>
                  <a:pt x="343471" y="2116442"/>
                </a:lnTo>
                <a:lnTo>
                  <a:pt x="302031" y="2084400"/>
                </a:lnTo>
                <a:lnTo>
                  <a:pt x="253377" y="2064296"/>
                </a:lnTo>
                <a:lnTo>
                  <a:pt x="201231" y="2057400"/>
                </a:lnTo>
                <a:lnTo>
                  <a:pt x="174904" y="2059139"/>
                </a:lnTo>
                <a:lnTo>
                  <a:pt x="124282" y="2072741"/>
                </a:lnTo>
                <a:lnTo>
                  <a:pt x="78828" y="2099081"/>
                </a:lnTo>
                <a:lnTo>
                  <a:pt x="41668" y="2136254"/>
                </a:lnTo>
                <a:lnTo>
                  <a:pt x="15328" y="2181695"/>
                </a:lnTo>
                <a:lnTo>
                  <a:pt x="1727" y="2232329"/>
                </a:lnTo>
                <a:lnTo>
                  <a:pt x="0" y="2258644"/>
                </a:lnTo>
                <a:lnTo>
                  <a:pt x="1727" y="2284984"/>
                </a:lnTo>
                <a:lnTo>
                  <a:pt x="15328" y="2335758"/>
                </a:lnTo>
                <a:lnTo>
                  <a:pt x="41668" y="2381199"/>
                </a:lnTo>
                <a:lnTo>
                  <a:pt x="78828" y="2418232"/>
                </a:lnTo>
                <a:lnTo>
                  <a:pt x="124282" y="2444559"/>
                </a:lnTo>
                <a:lnTo>
                  <a:pt x="174904" y="2458161"/>
                </a:lnTo>
                <a:lnTo>
                  <a:pt x="201231" y="2459888"/>
                </a:lnTo>
                <a:lnTo>
                  <a:pt x="227558" y="2458161"/>
                </a:lnTo>
                <a:lnTo>
                  <a:pt x="278333" y="2444559"/>
                </a:lnTo>
                <a:lnTo>
                  <a:pt x="323773" y="2418232"/>
                </a:lnTo>
                <a:lnTo>
                  <a:pt x="360807" y="2381199"/>
                </a:lnTo>
                <a:lnTo>
                  <a:pt x="387134" y="2335758"/>
                </a:lnTo>
                <a:lnTo>
                  <a:pt x="400735" y="2284984"/>
                </a:lnTo>
                <a:lnTo>
                  <a:pt x="402475" y="2258644"/>
                </a:lnTo>
                <a:close/>
              </a:path>
              <a:path w="402589" h="2459990">
                <a:moveTo>
                  <a:pt x="402475" y="1572844"/>
                </a:moveTo>
                <a:lnTo>
                  <a:pt x="395579" y="1520736"/>
                </a:lnTo>
                <a:lnTo>
                  <a:pt x="375475" y="1472399"/>
                </a:lnTo>
                <a:lnTo>
                  <a:pt x="343471" y="1430642"/>
                </a:lnTo>
                <a:lnTo>
                  <a:pt x="302031" y="1398600"/>
                </a:lnTo>
                <a:lnTo>
                  <a:pt x="253377" y="1378496"/>
                </a:lnTo>
                <a:lnTo>
                  <a:pt x="201231" y="1371600"/>
                </a:lnTo>
                <a:lnTo>
                  <a:pt x="174904" y="1373339"/>
                </a:lnTo>
                <a:lnTo>
                  <a:pt x="124282" y="1386941"/>
                </a:lnTo>
                <a:lnTo>
                  <a:pt x="78828" y="1413281"/>
                </a:lnTo>
                <a:lnTo>
                  <a:pt x="41668" y="1450454"/>
                </a:lnTo>
                <a:lnTo>
                  <a:pt x="15328" y="1495894"/>
                </a:lnTo>
                <a:lnTo>
                  <a:pt x="1727" y="1546529"/>
                </a:lnTo>
                <a:lnTo>
                  <a:pt x="0" y="1572844"/>
                </a:lnTo>
                <a:lnTo>
                  <a:pt x="1727" y="1599184"/>
                </a:lnTo>
                <a:lnTo>
                  <a:pt x="15328" y="1649958"/>
                </a:lnTo>
                <a:lnTo>
                  <a:pt x="41668" y="1695399"/>
                </a:lnTo>
                <a:lnTo>
                  <a:pt x="78828" y="1732432"/>
                </a:lnTo>
                <a:lnTo>
                  <a:pt x="124282" y="1758759"/>
                </a:lnTo>
                <a:lnTo>
                  <a:pt x="174904" y="1772361"/>
                </a:lnTo>
                <a:lnTo>
                  <a:pt x="201231" y="1774088"/>
                </a:lnTo>
                <a:lnTo>
                  <a:pt x="227558" y="1772361"/>
                </a:lnTo>
                <a:lnTo>
                  <a:pt x="278333" y="1758759"/>
                </a:lnTo>
                <a:lnTo>
                  <a:pt x="323773" y="1732432"/>
                </a:lnTo>
                <a:lnTo>
                  <a:pt x="360807" y="1695399"/>
                </a:lnTo>
                <a:lnTo>
                  <a:pt x="387134" y="1649958"/>
                </a:lnTo>
                <a:lnTo>
                  <a:pt x="400735" y="1599184"/>
                </a:lnTo>
                <a:lnTo>
                  <a:pt x="402475" y="1572844"/>
                </a:lnTo>
                <a:close/>
              </a:path>
              <a:path w="402589" h="2459990">
                <a:moveTo>
                  <a:pt x="402475" y="887044"/>
                </a:moveTo>
                <a:lnTo>
                  <a:pt x="395579" y="834936"/>
                </a:lnTo>
                <a:lnTo>
                  <a:pt x="375475" y="786599"/>
                </a:lnTo>
                <a:lnTo>
                  <a:pt x="343471" y="744842"/>
                </a:lnTo>
                <a:lnTo>
                  <a:pt x="302031" y="712800"/>
                </a:lnTo>
                <a:lnTo>
                  <a:pt x="253377" y="692696"/>
                </a:lnTo>
                <a:lnTo>
                  <a:pt x="201231" y="685800"/>
                </a:lnTo>
                <a:lnTo>
                  <a:pt x="174904" y="687539"/>
                </a:lnTo>
                <a:lnTo>
                  <a:pt x="124282" y="701141"/>
                </a:lnTo>
                <a:lnTo>
                  <a:pt x="78828" y="727481"/>
                </a:lnTo>
                <a:lnTo>
                  <a:pt x="41668" y="764654"/>
                </a:lnTo>
                <a:lnTo>
                  <a:pt x="15328" y="810094"/>
                </a:lnTo>
                <a:lnTo>
                  <a:pt x="1727" y="860729"/>
                </a:lnTo>
                <a:lnTo>
                  <a:pt x="0" y="887044"/>
                </a:lnTo>
                <a:lnTo>
                  <a:pt x="1727" y="913384"/>
                </a:lnTo>
                <a:lnTo>
                  <a:pt x="15328" y="964158"/>
                </a:lnTo>
                <a:lnTo>
                  <a:pt x="41668" y="1009599"/>
                </a:lnTo>
                <a:lnTo>
                  <a:pt x="78828" y="1046632"/>
                </a:lnTo>
                <a:lnTo>
                  <a:pt x="124282" y="1072959"/>
                </a:lnTo>
                <a:lnTo>
                  <a:pt x="174904" y="1086561"/>
                </a:lnTo>
                <a:lnTo>
                  <a:pt x="201231" y="1088288"/>
                </a:lnTo>
                <a:lnTo>
                  <a:pt x="227558" y="1086561"/>
                </a:lnTo>
                <a:lnTo>
                  <a:pt x="278333" y="1072959"/>
                </a:lnTo>
                <a:lnTo>
                  <a:pt x="323773" y="1046632"/>
                </a:lnTo>
                <a:lnTo>
                  <a:pt x="360807" y="1009599"/>
                </a:lnTo>
                <a:lnTo>
                  <a:pt x="387134" y="964158"/>
                </a:lnTo>
                <a:lnTo>
                  <a:pt x="400735" y="913384"/>
                </a:lnTo>
                <a:lnTo>
                  <a:pt x="402475" y="887044"/>
                </a:lnTo>
                <a:close/>
              </a:path>
              <a:path w="402589" h="2459990">
                <a:moveTo>
                  <a:pt x="402475" y="201244"/>
                </a:moveTo>
                <a:lnTo>
                  <a:pt x="395579" y="149136"/>
                </a:lnTo>
                <a:lnTo>
                  <a:pt x="375475" y="100799"/>
                </a:lnTo>
                <a:lnTo>
                  <a:pt x="343471" y="59055"/>
                </a:lnTo>
                <a:lnTo>
                  <a:pt x="302031" y="27000"/>
                </a:lnTo>
                <a:lnTo>
                  <a:pt x="253377" y="6896"/>
                </a:lnTo>
                <a:lnTo>
                  <a:pt x="201231" y="0"/>
                </a:lnTo>
                <a:lnTo>
                  <a:pt x="174904" y="1739"/>
                </a:lnTo>
                <a:lnTo>
                  <a:pt x="124282" y="15341"/>
                </a:lnTo>
                <a:lnTo>
                  <a:pt x="78828" y="41681"/>
                </a:lnTo>
                <a:lnTo>
                  <a:pt x="41668" y="78854"/>
                </a:lnTo>
                <a:lnTo>
                  <a:pt x="15328" y="124294"/>
                </a:lnTo>
                <a:lnTo>
                  <a:pt x="1727" y="174929"/>
                </a:lnTo>
                <a:lnTo>
                  <a:pt x="0" y="201244"/>
                </a:lnTo>
                <a:lnTo>
                  <a:pt x="1727" y="227584"/>
                </a:lnTo>
                <a:lnTo>
                  <a:pt x="15328" y="278358"/>
                </a:lnTo>
                <a:lnTo>
                  <a:pt x="41668" y="323799"/>
                </a:lnTo>
                <a:lnTo>
                  <a:pt x="78828" y="360832"/>
                </a:lnTo>
                <a:lnTo>
                  <a:pt x="124282" y="387159"/>
                </a:lnTo>
                <a:lnTo>
                  <a:pt x="174904" y="400761"/>
                </a:lnTo>
                <a:lnTo>
                  <a:pt x="201231" y="402488"/>
                </a:lnTo>
                <a:lnTo>
                  <a:pt x="227558" y="400761"/>
                </a:lnTo>
                <a:lnTo>
                  <a:pt x="278333" y="387159"/>
                </a:lnTo>
                <a:lnTo>
                  <a:pt x="323773" y="360832"/>
                </a:lnTo>
                <a:lnTo>
                  <a:pt x="360807" y="323799"/>
                </a:lnTo>
                <a:lnTo>
                  <a:pt x="387134" y="278358"/>
                </a:lnTo>
                <a:lnTo>
                  <a:pt x="400735" y="227584"/>
                </a:lnTo>
                <a:lnTo>
                  <a:pt x="402475" y="201244"/>
                </a:lnTo>
                <a:close/>
              </a:path>
            </a:pathLst>
          </a:custGeom>
          <a:solidFill>
            <a:srgbClr val="1E89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706336" y="3292818"/>
            <a:ext cx="22047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Hostel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leaderboards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6336" y="3978618"/>
            <a:ext cx="26409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15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campus</a:t>
            </a:r>
            <a:r>
              <a:rPr dirty="0" sz="15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routes</a:t>
            </a:r>
            <a:r>
              <a:rPr dirty="0" sz="15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5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milestones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06336" y="4664418"/>
            <a:ext cx="207263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Daily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streaks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06336" y="5350218"/>
            <a:ext cx="22345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Rewards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5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social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motivation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86222" y="6402870"/>
            <a:ext cx="154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6A717F"/>
                </a:solidFill>
                <a:latin typeface="Tahoma"/>
                <a:cs typeface="Tahoma"/>
              </a:rPr>
              <a:t>05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856" y="6410426"/>
            <a:ext cx="10058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95">
                <a:solidFill>
                  <a:srgbClr val="6A717F"/>
                </a:solidFill>
                <a:latin typeface="Tahoma"/>
                <a:cs typeface="Tahoma"/>
              </a:rPr>
              <a:t>T</a:t>
            </a:r>
            <a:r>
              <a:rPr dirty="0" sz="900" spc="-14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6A717F"/>
                </a:solidFill>
                <a:latin typeface="Tahoma"/>
                <a:cs typeface="Tahoma"/>
              </a:rPr>
              <a:t>H</a:t>
            </a:r>
            <a:r>
              <a:rPr dirty="0" sz="900" spc="-13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6A717F"/>
                </a:solidFill>
                <a:latin typeface="Tahoma"/>
                <a:cs typeface="Tahoma"/>
              </a:rPr>
              <a:t>A</a:t>
            </a:r>
            <a:r>
              <a:rPr dirty="0" sz="900" spc="-14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6A717F"/>
                </a:solidFill>
                <a:latin typeface="Tahoma"/>
                <a:cs typeface="Tahoma"/>
              </a:rPr>
              <a:t>PA</a:t>
            </a:r>
            <a:r>
              <a:rPr dirty="0" sz="900" spc="-12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6A717F"/>
                </a:solidFill>
                <a:latin typeface="Tahoma"/>
                <a:cs typeface="Tahoma"/>
              </a:rPr>
              <a:t>R</a:t>
            </a:r>
            <a:r>
              <a:rPr dirty="0" sz="900" spc="204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90">
                <a:solidFill>
                  <a:srgbClr val="6A717F"/>
                </a:solidFill>
                <a:latin typeface="Tahoma"/>
                <a:cs typeface="Tahoma"/>
              </a:rPr>
              <a:t>S</a:t>
            </a:r>
            <a:r>
              <a:rPr dirty="0" sz="900" spc="-14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95">
                <a:solidFill>
                  <a:srgbClr val="6A717F"/>
                </a:solidFill>
                <a:latin typeface="Tahoma"/>
                <a:cs typeface="Tahoma"/>
              </a:rPr>
              <a:t>T</a:t>
            </a:r>
            <a:r>
              <a:rPr dirty="0" sz="900" spc="-13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6A717F"/>
                </a:solidFill>
                <a:latin typeface="Tahoma"/>
                <a:cs typeface="Tahoma"/>
              </a:rPr>
              <a:t>E</a:t>
            </a:r>
            <a:r>
              <a:rPr dirty="0" sz="900" spc="-130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6A717F"/>
                </a:solidFill>
                <a:latin typeface="Tahoma"/>
                <a:cs typeface="Tahoma"/>
              </a:rPr>
              <a:t>P</a:t>
            </a:r>
            <a:r>
              <a:rPr dirty="0" sz="900" spc="-14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6A717F"/>
                </a:solidFill>
                <a:latin typeface="Tahoma"/>
                <a:cs typeface="Tahoma"/>
              </a:rPr>
              <a:t>U</a:t>
            </a:r>
            <a:r>
              <a:rPr dirty="0" sz="900" spc="-135">
                <a:solidFill>
                  <a:srgbClr val="6A717F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6A717F"/>
                </a:solidFill>
                <a:latin typeface="Tahoma"/>
                <a:cs typeface="Tahoma"/>
              </a:rPr>
              <a:t>P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614" y="433336"/>
            <a:ext cx="2641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5" b="1">
                <a:solidFill>
                  <a:srgbClr val="1E895E"/>
                </a:solidFill>
                <a:latin typeface="Calibri"/>
                <a:cs typeface="Calibri"/>
              </a:rPr>
              <a:t>IMPACT</a:t>
            </a:r>
            <a:r>
              <a:rPr dirty="0" sz="1800" spc="405" b="1">
                <a:solidFill>
                  <a:srgbClr val="1E895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E895E"/>
                </a:solidFill>
                <a:latin typeface="Calibri"/>
                <a:cs typeface="Calibri"/>
              </a:rPr>
              <a:t>&amp;</a:t>
            </a:r>
            <a:r>
              <a:rPr dirty="0" sz="1800" spc="400" b="1">
                <a:solidFill>
                  <a:srgbClr val="1E895E"/>
                </a:solidFill>
                <a:latin typeface="Calibri"/>
                <a:cs typeface="Calibri"/>
              </a:rPr>
              <a:t> </a:t>
            </a:r>
            <a:r>
              <a:rPr dirty="0" sz="1800" spc="135" b="1">
                <a:solidFill>
                  <a:srgbClr val="1E895E"/>
                </a:solidFill>
                <a:latin typeface="Calibri"/>
                <a:cs typeface="Calibri"/>
              </a:rPr>
              <a:t>VALIDATION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21454" y="623417"/>
            <a:ext cx="440182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11223E"/>
                </a:solidFill>
                <a:latin typeface="Calibri"/>
                <a:cs typeface="Calibri"/>
              </a:rPr>
              <a:t>How</a:t>
            </a:r>
            <a:r>
              <a:rPr dirty="0" sz="3200" spc="-105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1223E"/>
                </a:solidFill>
                <a:latin typeface="Calibri"/>
                <a:cs typeface="Calibri"/>
              </a:rPr>
              <a:t>We</a:t>
            </a:r>
            <a:r>
              <a:rPr dirty="0" sz="3200" spc="-100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1223E"/>
                </a:solidFill>
                <a:latin typeface="Calibri"/>
                <a:cs typeface="Calibri"/>
              </a:rPr>
              <a:t>Measure</a:t>
            </a:r>
            <a:r>
              <a:rPr dirty="0" sz="3200" spc="-95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1223E"/>
                </a:solidFill>
                <a:latin typeface="Calibri"/>
                <a:cs typeface="Calibri"/>
              </a:rPr>
              <a:t>Success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5322" y="1668957"/>
            <a:ext cx="3611879" cy="960119"/>
          </a:xfrm>
          <a:custGeom>
            <a:avLst/>
            <a:gdLst/>
            <a:ahLst/>
            <a:cxnLst/>
            <a:rect l="l" t="t" r="r" b="b"/>
            <a:pathLst>
              <a:path w="3611879" h="960119">
                <a:moveTo>
                  <a:pt x="3611511" y="0"/>
                </a:moveTo>
                <a:lnTo>
                  <a:pt x="0" y="0"/>
                </a:lnTo>
                <a:lnTo>
                  <a:pt x="0" y="959764"/>
                </a:lnTo>
                <a:lnTo>
                  <a:pt x="1805762" y="959764"/>
                </a:lnTo>
                <a:lnTo>
                  <a:pt x="3611511" y="959764"/>
                </a:lnTo>
                <a:lnTo>
                  <a:pt x="3611511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08786" y="1932025"/>
            <a:ext cx="22847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1223E"/>
                </a:solidFill>
                <a:latin typeface="Calibri"/>
                <a:cs typeface="Calibri"/>
              </a:rPr>
              <a:t>Daily</a:t>
            </a:r>
            <a:r>
              <a:rPr dirty="0" sz="2400" spc="-8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223E"/>
                </a:solidFill>
                <a:latin typeface="Calibri"/>
                <a:cs typeface="Calibri"/>
              </a:rPr>
              <a:t>Active</a:t>
            </a:r>
            <a:r>
              <a:rPr dirty="0" sz="2400" spc="-7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11223E"/>
                </a:solidFill>
                <a:latin typeface="Calibri"/>
                <a:cs typeface="Calibri"/>
              </a:rPr>
              <a:t>Users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43844" y="1704962"/>
            <a:ext cx="3611879" cy="960119"/>
          </a:xfrm>
          <a:custGeom>
            <a:avLst/>
            <a:gdLst/>
            <a:ahLst/>
            <a:cxnLst/>
            <a:rect l="l" t="t" r="r" b="b"/>
            <a:pathLst>
              <a:path w="3611879" h="960119">
                <a:moveTo>
                  <a:pt x="3611511" y="0"/>
                </a:moveTo>
                <a:lnTo>
                  <a:pt x="0" y="0"/>
                </a:lnTo>
                <a:lnTo>
                  <a:pt x="0" y="959751"/>
                </a:lnTo>
                <a:lnTo>
                  <a:pt x="1805749" y="959751"/>
                </a:lnTo>
                <a:lnTo>
                  <a:pt x="3611511" y="959751"/>
                </a:lnTo>
                <a:lnTo>
                  <a:pt x="3611511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83174" y="1940648"/>
            <a:ext cx="20929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11223E"/>
                </a:solidFill>
                <a:latin typeface="Calibri"/>
                <a:cs typeface="Calibri"/>
              </a:rPr>
              <a:t>Average</a:t>
            </a:r>
            <a:r>
              <a:rPr dirty="0" sz="2000" spc="-5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1223E"/>
                </a:solidFill>
                <a:latin typeface="Calibri"/>
                <a:cs typeface="Calibri"/>
              </a:rPr>
              <a:t>Daily</a:t>
            </a:r>
            <a:r>
              <a:rPr dirty="0" sz="2000" spc="-3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11223E"/>
                </a:solidFill>
                <a:latin typeface="Calibri"/>
                <a:cs typeface="Calibri"/>
              </a:rPr>
              <a:t>Steps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92884" y="1691639"/>
            <a:ext cx="3611879" cy="960119"/>
            <a:chOff x="8192884" y="1691639"/>
            <a:chExt cx="3611879" cy="960119"/>
          </a:xfrm>
        </p:grpSpPr>
        <p:sp>
          <p:nvSpPr>
            <p:cNvPr id="9" name="object 9"/>
            <p:cNvSpPr/>
            <p:nvPr/>
          </p:nvSpPr>
          <p:spPr>
            <a:xfrm>
              <a:off x="8192884" y="1691639"/>
              <a:ext cx="3611879" cy="960119"/>
            </a:xfrm>
            <a:custGeom>
              <a:avLst/>
              <a:gdLst/>
              <a:ahLst/>
              <a:cxnLst/>
              <a:rect l="l" t="t" r="r" b="b"/>
              <a:pathLst>
                <a:path w="3611879" h="960119">
                  <a:moveTo>
                    <a:pt x="3611511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1805749" y="959764"/>
                  </a:lnTo>
                  <a:lnTo>
                    <a:pt x="3611511" y="959764"/>
                  </a:lnTo>
                  <a:lnTo>
                    <a:pt x="3611511" y="0"/>
                  </a:lnTo>
                  <a:close/>
                </a:path>
              </a:pathLst>
            </a:custGeom>
            <a:solidFill>
              <a:srgbClr val="EEF6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6995" y="2052358"/>
              <a:ext cx="185530" cy="2372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138856" y="1884502"/>
            <a:ext cx="16592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223E"/>
                </a:solidFill>
                <a:latin typeface="Calibri"/>
                <a:cs typeface="Calibri"/>
              </a:rPr>
              <a:t>7</a:t>
            </a:r>
            <a:r>
              <a:rPr dirty="0" sz="1800" spc="-3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223E"/>
                </a:solidFill>
                <a:latin typeface="Calibri"/>
                <a:cs typeface="Calibri"/>
              </a:rPr>
              <a:t>/</a:t>
            </a:r>
            <a:r>
              <a:rPr dirty="0" sz="1800" spc="-1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1223E"/>
                </a:solidFill>
                <a:latin typeface="Calibri"/>
                <a:cs typeface="Calibri"/>
              </a:rPr>
              <a:t>30-</a:t>
            </a:r>
            <a:r>
              <a:rPr dirty="0" sz="1800" b="1">
                <a:solidFill>
                  <a:srgbClr val="11223E"/>
                </a:solidFill>
                <a:latin typeface="Calibri"/>
                <a:cs typeface="Calibri"/>
              </a:rPr>
              <a:t>Day</a:t>
            </a:r>
            <a:r>
              <a:rPr dirty="0" sz="1800" spc="-2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1223E"/>
                </a:solidFill>
                <a:latin typeface="Calibri"/>
                <a:cs typeface="Calibri"/>
              </a:rPr>
              <a:t>Streak Retention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0001" y="2847594"/>
            <a:ext cx="3611879" cy="960119"/>
          </a:xfrm>
          <a:custGeom>
            <a:avLst/>
            <a:gdLst/>
            <a:ahLst/>
            <a:cxnLst/>
            <a:rect l="l" t="t" r="r" b="b"/>
            <a:pathLst>
              <a:path w="3611879" h="960120">
                <a:moveTo>
                  <a:pt x="3611524" y="0"/>
                </a:moveTo>
                <a:lnTo>
                  <a:pt x="0" y="0"/>
                </a:lnTo>
                <a:lnTo>
                  <a:pt x="0" y="959764"/>
                </a:lnTo>
                <a:lnTo>
                  <a:pt x="1805762" y="959764"/>
                </a:lnTo>
                <a:lnTo>
                  <a:pt x="3611524" y="959764"/>
                </a:lnTo>
                <a:lnTo>
                  <a:pt x="3611524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08786" y="3171139"/>
            <a:ext cx="2294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1223E"/>
                </a:solidFill>
                <a:latin typeface="Calibri"/>
                <a:cs typeface="Calibri"/>
              </a:rPr>
              <a:t>Challenge</a:t>
            </a:r>
            <a:r>
              <a:rPr dirty="0" sz="1600" spc="-1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1223E"/>
                </a:solidFill>
                <a:latin typeface="Calibri"/>
                <a:cs typeface="Calibri"/>
              </a:rPr>
              <a:t>Completion</a:t>
            </a:r>
            <a:r>
              <a:rPr dirty="0" sz="1600" spc="-20" b="1">
                <a:solidFill>
                  <a:srgbClr val="11223E"/>
                </a:solidFill>
                <a:latin typeface="Calibri"/>
                <a:cs typeface="Calibri"/>
              </a:rPr>
              <a:t> Rate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16475" y="2834639"/>
            <a:ext cx="3611879" cy="960119"/>
          </a:xfrm>
          <a:custGeom>
            <a:avLst/>
            <a:gdLst/>
            <a:ahLst/>
            <a:cxnLst/>
            <a:rect l="l" t="t" r="r" b="b"/>
            <a:pathLst>
              <a:path w="3611879" h="960120">
                <a:moveTo>
                  <a:pt x="3611524" y="0"/>
                </a:moveTo>
                <a:lnTo>
                  <a:pt x="0" y="0"/>
                </a:lnTo>
                <a:lnTo>
                  <a:pt x="0" y="959764"/>
                </a:lnTo>
                <a:lnTo>
                  <a:pt x="1805762" y="959764"/>
                </a:lnTo>
                <a:lnTo>
                  <a:pt x="3611524" y="959764"/>
                </a:lnTo>
                <a:lnTo>
                  <a:pt x="3611524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362460" y="3027502"/>
            <a:ext cx="12338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1223E"/>
                </a:solidFill>
                <a:latin typeface="Calibri"/>
                <a:cs typeface="Calibri"/>
              </a:rPr>
              <a:t>Leaderboard Participation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12962" y="2857677"/>
            <a:ext cx="3611879" cy="960119"/>
          </a:xfrm>
          <a:custGeom>
            <a:avLst/>
            <a:gdLst/>
            <a:ahLst/>
            <a:cxnLst/>
            <a:rect l="l" t="t" r="r" b="b"/>
            <a:pathLst>
              <a:path w="3611879" h="960120">
                <a:moveTo>
                  <a:pt x="3611511" y="0"/>
                </a:moveTo>
                <a:lnTo>
                  <a:pt x="0" y="0"/>
                </a:lnTo>
                <a:lnTo>
                  <a:pt x="0" y="959764"/>
                </a:lnTo>
                <a:lnTo>
                  <a:pt x="1805762" y="959764"/>
                </a:lnTo>
                <a:lnTo>
                  <a:pt x="3611511" y="959764"/>
                </a:lnTo>
                <a:lnTo>
                  <a:pt x="3611511" y="0"/>
                </a:lnTo>
                <a:close/>
              </a:path>
            </a:pathLst>
          </a:custGeom>
          <a:solidFill>
            <a:srgbClr val="EE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138856" y="2996895"/>
            <a:ext cx="17164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11223E"/>
                </a:solidFill>
                <a:latin typeface="Calibri"/>
                <a:cs typeface="Calibri"/>
              </a:rPr>
              <a:t>Average</a:t>
            </a:r>
            <a:r>
              <a:rPr dirty="0" sz="2000" spc="-6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1223E"/>
                </a:solidFill>
                <a:latin typeface="Calibri"/>
                <a:cs typeface="Calibri"/>
              </a:rPr>
              <a:t>Weekly Walking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215" y="4484420"/>
            <a:ext cx="2166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5" b="1">
                <a:solidFill>
                  <a:srgbClr val="11223E"/>
                </a:solidFill>
                <a:latin typeface="Calibri"/>
                <a:cs typeface="Calibri"/>
              </a:rPr>
              <a:t>VALIDATION</a:t>
            </a:r>
            <a:r>
              <a:rPr dirty="0" sz="2000" spc="300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2000" spc="75" b="1">
                <a:solidFill>
                  <a:srgbClr val="11223E"/>
                </a:solidFill>
                <a:latin typeface="Calibri"/>
                <a:cs typeface="Calibri"/>
              </a:rPr>
              <a:t>PLAN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416" y="5235740"/>
            <a:ext cx="12890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1223E"/>
                </a:solidFill>
                <a:latin typeface="Calibri"/>
                <a:cs typeface="Calibri"/>
              </a:rPr>
              <a:t>Prototype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75116" y="5291277"/>
            <a:ext cx="256540" cy="115570"/>
          </a:xfrm>
          <a:custGeom>
            <a:avLst/>
            <a:gdLst/>
            <a:ahLst/>
            <a:cxnLst/>
            <a:rect l="l" t="t" r="r" b="b"/>
            <a:pathLst>
              <a:path w="256539" h="115570">
                <a:moveTo>
                  <a:pt x="198361" y="0"/>
                </a:moveTo>
                <a:lnTo>
                  <a:pt x="198361" y="28803"/>
                </a:lnTo>
                <a:lnTo>
                  <a:pt x="0" y="28803"/>
                </a:lnTo>
                <a:lnTo>
                  <a:pt x="0" y="86398"/>
                </a:lnTo>
                <a:lnTo>
                  <a:pt x="198361" y="86398"/>
                </a:lnTo>
                <a:lnTo>
                  <a:pt x="198361" y="115201"/>
                </a:lnTo>
                <a:lnTo>
                  <a:pt x="255968" y="57607"/>
                </a:lnTo>
                <a:lnTo>
                  <a:pt x="198361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991142" y="5131689"/>
            <a:ext cx="10433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880" marR="5080" indent="-4381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1223E"/>
                </a:solidFill>
                <a:latin typeface="Calibri"/>
                <a:cs typeface="Calibri"/>
              </a:rPr>
              <a:t>Pilot</a:t>
            </a:r>
            <a:r>
              <a:rPr dirty="0" sz="2000" spc="-25" b="1">
                <a:solidFill>
                  <a:srgbClr val="11223E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11223E"/>
                </a:solidFill>
                <a:latin typeface="Calibri"/>
                <a:cs typeface="Calibri"/>
              </a:rPr>
              <a:t>with </a:t>
            </a:r>
            <a:r>
              <a:rPr dirty="0" sz="2000" spc="-10" b="1">
                <a:solidFill>
                  <a:srgbClr val="11223E"/>
                </a:solidFill>
                <a:latin typeface="Calibri"/>
                <a:cs typeface="Calibri"/>
              </a:rPr>
              <a:t>Students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78197" y="5291277"/>
            <a:ext cx="256540" cy="115570"/>
          </a:xfrm>
          <a:custGeom>
            <a:avLst/>
            <a:gdLst/>
            <a:ahLst/>
            <a:cxnLst/>
            <a:rect l="l" t="t" r="r" b="b"/>
            <a:pathLst>
              <a:path w="256539" h="115570">
                <a:moveTo>
                  <a:pt x="198361" y="0"/>
                </a:moveTo>
                <a:lnTo>
                  <a:pt x="198361" y="28803"/>
                </a:lnTo>
                <a:lnTo>
                  <a:pt x="0" y="28803"/>
                </a:lnTo>
                <a:lnTo>
                  <a:pt x="0" y="86398"/>
                </a:lnTo>
                <a:lnTo>
                  <a:pt x="198361" y="86398"/>
                </a:lnTo>
                <a:lnTo>
                  <a:pt x="198361" y="115201"/>
                </a:lnTo>
                <a:lnTo>
                  <a:pt x="255968" y="57607"/>
                </a:lnTo>
                <a:lnTo>
                  <a:pt x="198361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5197" y="5165991"/>
            <a:ext cx="365404" cy="36540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644337" y="5113693"/>
            <a:ext cx="74485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5095" marR="5080" indent="-11303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11223E"/>
                </a:solidFill>
                <a:latin typeface="Calibri"/>
                <a:cs typeface="Calibri"/>
              </a:rPr>
              <a:t>Collect </a:t>
            </a:r>
            <a:r>
              <a:rPr dirty="0" sz="2000" spc="-20" b="1">
                <a:solidFill>
                  <a:srgbClr val="11223E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81633" y="5291277"/>
            <a:ext cx="256540" cy="115570"/>
          </a:xfrm>
          <a:custGeom>
            <a:avLst/>
            <a:gdLst/>
            <a:ahLst/>
            <a:cxnLst/>
            <a:rect l="l" t="t" r="r" b="b"/>
            <a:pathLst>
              <a:path w="256540" h="115570">
                <a:moveTo>
                  <a:pt x="198361" y="0"/>
                </a:moveTo>
                <a:lnTo>
                  <a:pt x="198361" y="28803"/>
                </a:lnTo>
                <a:lnTo>
                  <a:pt x="0" y="28803"/>
                </a:lnTo>
                <a:lnTo>
                  <a:pt x="0" y="86398"/>
                </a:lnTo>
                <a:lnTo>
                  <a:pt x="198361" y="86398"/>
                </a:lnTo>
                <a:lnTo>
                  <a:pt x="198361" y="115201"/>
                </a:lnTo>
                <a:lnTo>
                  <a:pt x="255968" y="57607"/>
                </a:lnTo>
                <a:lnTo>
                  <a:pt x="198361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910538" y="5031257"/>
            <a:ext cx="133096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796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11223E"/>
                </a:solidFill>
                <a:latin typeface="Calibri"/>
                <a:cs typeface="Calibri"/>
              </a:rPr>
              <a:t>Measure </a:t>
            </a:r>
            <a:r>
              <a:rPr dirty="0" sz="2000" spc="-20" b="1">
                <a:solidFill>
                  <a:srgbClr val="11223E"/>
                </a:solidFill>
                <a:latin typeface="Calibri"/>
                <a:cs typeface="Calibri"/>
              </a:rPr>
              <a:t>Engagement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684715" y="5291277"/>
            <a:ext cx="256540" cy="115570"/>
          </a:xfrm>
          <a:custGeom>
            <a:avLst/>
            <a:gdLst/>
            <a:ahLst/>
            <a:cxnLst/>
            <a:rect l="l" t="t" r="r" b="b"/>
            <a:pathLst>
              <a:path w="256540" h="115570">
                <a:moveTo>
                  <a:pt x="198361" y="0"/>
                </a:moveTo>
                <a:lnTo>
                  <a:pt x="198361" y="28803"/>
                </a:lnTo>
                <a:lnTo>
                  <a:pt x="0" y="28803"/>
                </a:lnTo>
                <a:lnTo>
                  <a:pt x="0" y="86398"/>
                </a:lnTo>
                <a:lnTo>
                  <a:pt x="198361" y="86398"/>
                </a:lnTo>
                <a:lnTo>
                  <a:pt x="198361" y="115201"/>
                </a:lnTo>
                <a:lnTo>
                  <a:pt x="255968" y="57607"/>
                </a:lnTo>
                <a:lnTo>
                  <a:pt x="198361" y="0"/>
                </a:lnTo>
                <a:close/>
              </a:path>
            </a:pathLst>
          </a:custGeom>
          <a:solidFill>
            <a:srgbClr val="D6DB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1359" y="5165991"/>
            <a:ext cx="365404" cy="36540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0583900" y="5229250"/>
            <a:ext cx="7270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11223E"/>
                </a:solidFill>
                <a:latin typeface="Calibri"/>
                <a:cs typeface="Calibri"/>
              </a:rPr>
              <a:t>Iterate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86222" y="6402870"/>
            <a:ext cx="154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6A717F"/>
                </a:solidFill>
                <a:latin typeface="Tahoma"/>
                <a:cs typeface="Tahoma"/>
              </a:rPr>
              <a:t>06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122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90416" y="398068"/>
            <a:ext cx="342011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60">
                <a:solidFill>
                  <a:srgbClr val="F1A83A"/>
                </a:solidFill>
                <a:latin typeface="Calibri"/>
                <a:cs typeface="Calibri"/>
              </a:rPr>
              <a:t>FEASIBILITY</a:t>
            </a:r>
            <a:r>
              <a:rPr dirty="0" sz="2800" spc="400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1A83A"/>
                </a:solidFill>
                <a:latin typeface="Calibri"/>
                <a:cs typeface="Calibri"/>
              </a:rPr>
              <a:t>&amp;</a:t>
            </a:r>
            <a:r>
              <a:rPr dirty="0" sz="2800" spc="400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2800" spc="130">
                <a:solidFill>
                  <a:srgbClr val="F1A83A"/>
                </a:solidFill>
                <a:latin typeface="Calibri"/>
                <a:cs typeface="Calibri"/>
              </a:rPr>
              <a:t>RISKS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8665" y="893787"/>
            <a:ext cx="22764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dirty="0" sz="2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384" y="2007971"/>
            <a:ext cx="9220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5" b="1">
                <a:solidFill>
                  <a:srgbClr val="1E895E"/>
                </a:solidFill>
                <a:latin typeface="Calibri"/>
                <a:cs typeface="Calibri"/>
              </a:rPr>
              <a:t>FEASIBILITY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8075" y="24228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40" y="24472"/>
                </a:lnTo>
                <a:lnTo>
                  <a:pt x="53643" y="53636"/>
                </a:lnTo>
                <a:lnTo>
                  <a:pt x="24485" y="91439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60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19936" y="2497582"/>
            <a:ext cx="164782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5">
                <a:solidFill>
                  <a:srgbClr val="DBE5EF"/>
                </a:solidFill>
                <a:latin typeface="Tahoma"/>
                <a:cs typeface="Tahoma"/>
              </a:rPr>
              <a:t>Smartphone</a:t>
            </a:r>
            <a:r>
              <a:rPr dirty="0" sz="1250" spc="-75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55">
                <a:solidFill>
                  <a:srgbClr val="DBE5EF"/>
                </a:solidFill>
                <a:latin typeface="Tahoma"/>
                <a:cs typeface="Tahoma"/>
              </a:rPr>
              <a:t>step</a:t>
            </a:r>
            <a:r>
              <a:rPr dirty="0" sz="1250" spc="-7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40">
                <a:solidFill>
                  <a:srgbClr val="DBE5EF"/>
                </a:solidFill>
                <a:latin typeface="Tahoma"/>
                <a:cs typeface="Tahoma"/>
              </a:rPr>
              <a:t>sensors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936" y="2954782"/>
            <a:ext cx="230759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70">
                <a:solidFill>
                  <a:srgbClr val="DBE5EF"/>
                </a:solidFill>
                <a:latin typeface="Tahoma"/>
                <a:cs typeface="Tahoma"/>
              </a:rPr>
              <a:t>Campus</a:t>
            </a:r>
            <a:r>
              <a:rPr dirty="0" sz="1250" spc="-65">
                <a:solidFill>
                  <a:srgbClr val="DBE5EF"/>
                </a:solidFill>
                <a:latin typeface="Tahoma"/>
                <a:cs typeface="Tahoma"/>
              </a:rPr>
              <a:t> geofencing</a:t>
            </a:r>
            <a:r>
              <a:rPr dirty="0" sz="1250" spc="-7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DBE5EF"/>
                </a:solidFill>
                <a:latin typeface="Tahoma"/>
                <a:cs typeface="Tahoma"/>
              </a:rPr>
              <a:t>where</a:t>
            </a:r>
            <a:r>
              <a:rPr dirty="0" sz="1250" spc="-7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BE5EF"/>
                </a:solidFill>
                <a:latin typeface="Tahoma"/>
                <a:cs typeface="Tahoma"/>
              </a:rPr>
              <a:t>required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8075" y="33372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40" y="24472"/>
                </a:lnTo>
                <a:lnTo>
                  <a:pt x="53643" y="53636"/>
                </a:lnTo>
                <a:lnTo>
                  <a:pt x="24485" y="91439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60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19936" y="3411982"/>
            <a:ext cx="168592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0">
                <a:solidFill>
                  <a:srgbClr val="DBE5EF"/>
                </a:solidFill>
                <a:latin typeface="Tahoma"/>
                <a:cs typeface="Tahoma"/>
              </a:rPr>
              <a:t>Cloud</a:t>
            </a:r>
            <a:r>
              <a:rPr dirty="0" sz="1250" spc="-8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BE5EF"/>
                </a:solidFill>
                <a:latin typeface="Tahoma"/>
                <a:cs typeface="Tahoma"/>
              </a:rPr>
              <a:t>/</a:t>
            </a:r>
            <a:r>
              <a:rPr dirty="0" sz="1250" spc="-75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60">
                <a:solidFill>
                  <a:srgbClr val="DBE5EF"/>
                </a:solidFill>
                <a:latin typeface="Tahoma"/>
                <a:cs typeface="Tahoma"/>
              </a:rPr>
              <a:t>database</a:t>
            </a:r>
            <a:r>
              <a:rPr dirty="0" sz="1250" spc="-8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35">
                <a:solidFill>
                  <a:srgbClr val="DBE5EF"/>
                </a:solidFill>
                <a:latin typeface="Tahoma"/>
                <a:cs typeface="Tahoma"/>
              </a:rPr>
              <a:t>backend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8075" y="37944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40" y="24472"/>
                </a:lnTo>
                <a:lnTo>
                  <a:pt x="53643" y="53636"/>
                </a:lnTo>
                <a:lnTo>
                  <a:pt x="24485" y="91440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60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19936" y="3869182"/>
            <a:ext cx="164592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45">
                <a:solidFill>
                  <a:srgbClr val="DBE5EF"/>
                </a:solidFill>
                <a:latin typeface="Tahoma"/>
                <a:cs typeface="Tahoma"/>
              </a:rPr>
              <a:t>Gamification </a:t>
            </a:r>
            <a:r>
              <a:rPr dirty="0" sz="1250" spc="-50">
                <a:solidFill>
                  <a:srgbClr val="DBE5EF"/>
                </a:solidFill>
                <a:latin typeface="Tahoma"/>
                <a:cs typeface="Tahoma"/>
              </a:rPr>
              <a:t>logic</a:t>
            </a:r>
            <a:r>
              <a:rPr dirty="0" sz="1250" spc="-30">
                <a:solidFill>
                  <a:srgbClr val="DBE5EF"/>
                </a:solidFill>
                <a:latin typeface="Tahoma"/>
                <a:cs typeface="Tahoma"/>
              </a:rPr>
              <a:t> engine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8075" y="42516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40" y="24472"/>
                </a:lnTo>
                <a:lnTo>
                  <a:pt x="53643" y="53636"/>
                </a:lnTo>
                <a:lnTo>
                  <a:pt x="24485" y="91440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60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19936" y="4326382"/>
            <a:ext cx="176276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5">
                <a:solidFill>
                  <a:srgbClr val="DBE5EF"/>
                </a:solidFill>
                <a:latin typeface="Tahoma"/>
                <a:cs typeface="Tahoma"/>
              </a:rPr>
              <a:t>Simple</a:t>
            </a:r>
            <a:r>
              <a:rPr dirty="0" sz="1250" spc="-7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DBE5EF"/>
                </a:solidFill>
                <a:latin typeface="Tahoma"/>
                <a:cs typeface="Tahoma"/>
              </a:rPr>
              <a:t>student</a:t>
            </a:r>
            <a:r>
              <a:rPr dirty="0" sz="1250" spc="-7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30">
                <a:solidFill>
                  <a:srgbClr val="DBE5EF"/>
                </a:solidFill>
                <a:latin typeface="Tahoma"/>
                <a:cs typeface="Tahoma"/>
              </a:rPr>
              <a:t>onboarding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2384" y="2007971"/>
            <a:ext cx="443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85" b="1">
                <a:solidFill>
                  <a:srgbClr val="F1A83A"/>
                </a:solidFill>
                <a:latin typeface="Calibri"/>
                <a:cs typeface="Calibri"/>
              </a:rPr>
              <a:t>RISKS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73075" y="24228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39" y="24472"/>
                </a:lnTo>
                <a:lnTo>
                  <a:pt x="53643" y="53636"/>
                </a:lnTo>
                <a:lnTo>
                  <a:pt x="24485" y="91439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59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934936" y="2497582"/>
            <a:ext cx="128079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85">
                <a:solidFill>
                  <a:srgbClr val="DBE5EF"/>
                </a:solidFill>
                <a:latin typeface="Tahoma"/>
                <a:cs typeface="Tahoma"/>
              </a:rPr>
              <a:t>GPS</a:t>
            </a:r>
            <a:r>
              <a:rPr dirty="0" sz="1250" spc="-114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BE5EF"/>
                </a:solidFill>
                <a:latin typeface="Tahoma"/>
                <a:cs typeface="Tahoma"/>
              </a:rPr>
              <a:t>/</a:t>
            </a:r>
            <a:r>
              <a:rPr dirty="0" sz="1250" spc="-9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55">
                <a:solidFill>
                  <a:srgbClr val="DBE5EF"/>
                </a:solidFill>
                <a:latin typeface="Tahoma"/>
                <a:cs typeface="Tahoma"/>
              </a:rPr>
              <a:t>step</a:t>
            </a:r>
            <a:r>
              <a:rPr dirty="0" sz="1250" spc="-95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DBE5EF"/>
                </a:solidFill>
                <a:latin typeface="Tahoma"/>
                <a:cs typeface="Tahoma"/>
              </a:rPr>
              <a:t>accuracy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73075" y="28800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39" y="24472"/>
                </a:lnTo>
                <a:lnTo>
                  <a:pt x="53643" y="53636"/>
                </a:lnTo>
                <a:lnTo>
                  <a:pt x="24485" y="91439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59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934936" y="2954782"/>
            <a:ext cx="899794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0">
                <a:solidFill>
                  <a:srgbClr val="DBE5EF"/>
                </a:solidFill>
                <a:latin typeface="Tahoma"/>
                <a:cs typeface="Tahoma"/>
              </a:rPr>
              <a:t>Battery</a:t>
            </a:r>
            <a:r>
              <a:rPr dirty="0" sz="1250" spc="-75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55">
                <a:solidFill>
                  <a:srgbClr val="DBE5EF"/>
                </a:solidFill>
                <a:latin typeface="Tahoma"/>
                <a:cs typeface="Tahoma"/>
              </a:rPr>
              <a:t>usage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73075" y="33372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39" y="24472"/>
                </a:lnTo>
                <a:lnTo>
                  <a:pt x="53643" y="53636"/>
                </a:lnTo>
                <a:lnTo>
                  <a:pt x="24485" y="91439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59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934936" y="3411982"/>
            <a:ext cx="10960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5">
                <a:solidFill>
                  <a:srgbClr val="DBE5EF"/>
                </a:solidFill>
                <a:latin typeface="Tahoma"/>
                <a:cs typeface="Tahoma"/>
              </a:rPr>
              <a:t>Privacy</a:t>
            </a:r>
            <a:r>
              <a:rPr dirty="0" sz="1250" spc="-8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40">
                <a:solidFill>
                  <a:srgbClr val="DBE5EF"/>
                </a:solidFill>
                <a:latin typeface="Tahoma"/>
                <a:cs typeface="Tahoma"/>
              </a:rPr>
              <a:t>concerns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73075" y="37944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39" y="24472"/>
                </a:lnTo>
                <a:lnTo>
                  <a:pt x="53643" y="53636"/>
                </a:lnTo>
                <a:lnTo>
                  <a:pt x="24485" y="91440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59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934936" y="3869182"/>
            <a:ext cx="136207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60">
                <a:solidFill>
                  <a:srgbClr val="DBE5EF"/>
                </a:solidFill>
                <a:latin typeface="Tahoma"/>
                <a:cs typeface="Tahoma"/>
              </a:rPr>
              <a:t>Cheating</a:t>
            </a:r>
            <a:r>
              <a:rPr dirty="0" sz="1250" spc="-95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BE5EF"/>
                </a:solidFill>
                <a:latin typeface="Tahoma"/>
                <a:cs typeface="Tahoma"/>
              </a:rPr>
              <a:t>/</a:t>
            </a:r>
            <a:r>
              <a:rPr dirty="0" sz="1250" spc="-8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75">
                <a:solidFill>
                  <a:srgbClr val="DBE5EF"/>
                </a:solidFill>
                <a:latin typeface="Tahoma"/>
                <a:cs typeface="Tahoma"/>
              </a:rPr>
              <a:t>fake</a:t>
            </a:r>
            <a:r>
              <a:rPr dirty="0" sz="1250" spc="-70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30">
                <a:solidFill>
                  <a:srgbClr val="DBE5EF"/>
                </a:solidFill>
                <a:latin typeface="Tahoma"/>
                <a:cs typeface="Tahoma"/>
              </a:rPr>
              <a:t>steps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73075" y="425160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0"/>
                </a:moveTo>
                <a:lnTo>
                  <a:pt x="135540" y="6164"/>
                </a:lnTo>
                <a:lnTo>
                  <a:pt x="91439" y="24472"/>
                </a:lnTo>
                <a:lnTo>
                  <a:pt x="53643" y="53636"/>
                </a:lnTo>
                <a:lnTo>
                  <a:pt x="24485" y="91440"/>
                </a:lnTo>
                <a:lnTo>
                  <a:pt x="6165" y="135535"/>
                </a:lnTo>
                <a:lnTo>
                  <a:pt x="0" y="182880"/>
                </a:lnTo>
                <a:lnTo>
                  <a:pt x="1547" y="206781"/>
                </a:lnTo>
                <a:lnTo>
                  <a:pt x="13823" y="252840"/>
                </a:lnTo>
                <a:lnTo>
                  <a:pt x="37881" y="294195"/>
                </a:lnTo>
                <a:lnTo>
                  <a:pt x="71564" y="327878"/>
                </a:lnTo>
                <a:lnTo>
                  <a:pt x="112917" y="351936"/>
                </a:lnTo>
                <a:lnTo>
                  <a:pt x="158973" y="364212"/>
                </a:lnTo>
                <a:lnTo>
                  <a:pt x="182879" y="365760"/>
                </a:lnTo>
                <a:lnTo>
                  <a:pt x="206788" y="364212"/>
                </a:lnTo>
                <a:lnTo>
                  <a:pt x="252847" y="351936"/>
                </a:lnTo>
                <a:lnTo>
                  <a:pt x="294200" y="327878"/>
                </a:lnTo>
                <a:lnTo>
                  <a:pt x="327885" y="294195"/>
                </a:lnTo>
                <a:lnTo>
                  <a:pt x="351942" y="252840"/>
                </a:lnTo>
                <a:lnTo>
                  <a:pt x="364213" y="206781"/>
                </a:lnTo>
                <a:lnTo>
                  <a:pt x="365759" y="182880"/>
                </a:lnTo>
                <a:lnTo>
                  <a:pt x="364213" y="158971"/>
                </a:lnTo>
                <a:lnTo>
                  <a:pt x="351942" y="112912"/>
                </a:lnTo>
                <a:lnTo>
                  <a:pt x="327885" y="71559"/>
                </a:lnTo>
                <a:lnTo>
                  <a:pt x="294200" y="37874"/>
                </a:lnTo>
                <a:lnTo>
                  <a:pt x="252847" y="13817"/>
                </a:lnTo>
                <a:lnTo>
                  <a:pt x="206788" y="1546"/>
                </a:lnTo>
                <a:lnTo>
                  <a:pt x="182879" y="0"/>
                </a:lnTo>
                <a:close/>
              </a:path>
            </a:pathLst>
          </a:custGeom>
          <a:solidFill>
            <a:srgbClr val="193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934936" y="4326382"/>
            <a:ext cx="152971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80">
                <a:solidFill>
                  <a:srgbClr val="DBE5EF"/>
                </a:solidFill>
                <a:latin typeface="Tahoma"/>
                <a:cs typeface="Tahoma"/>
              </a:rPr>
              <a:t>Long-</a:t>
            </a:r>
            <a:r>
              <a:rPr dirty="0" sz="1250" spc="-45">
                <a:solidFill>
                  <a:srgbClr val="DBE5EF"/>
                </a:solidFill>
                <a:latin typeface="Tahoma"/>
                <a:cs typeface="Tahoma"/>
              </a:rPr>
              <a:t>term</a:t>
            </a:r>
            <a:r>
              <a:rPr dirty="0" sz="1250" spc="-35">
                <a:solidFill>
                  <a:srgbClr val="DBE5EF"/>
                </a:solidFill>
                <a:latin typeface="Tahoma"/>
                <a:cs typeface="Tahoma"/>
              </a:rPr>
              <a:t> </a:t>
            </a:r>
            <a:r>
              <a:rPr dirty="0" sz="1250" spc="-55">
                <a:solidFill>
                  <a:srgbClr val="DBE5EF"/>
                </a:solidFill>
                <a:latin typeface="Tahoma"/>
                <a:cs typeface="Tahoma"/>
              </a:rPr>
              <a:t>engagement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0080" y="4892040"/>
            <a:ext cx="10909300" cy="635"/>
          </a:xfrm>
          <a:custGeom>
            <a:avLst/>
            <a:gdLst/>
            <a:ahLst/>
            <a:cxnLst/>
            <a:rect l="l" t="t" r="r" b="b"/>
            <a:pathLst>
              <a:path w="10909300" h="635">
                <a:moveTo>
                  <a:pt x="0" y="0"/>
                </a:moveTo>
                <a:lnTo>
                  <a:pt x="10908715" y="355"/>
                </a:lnTo>
              </a:path>
            </a:pathLst>
          </a:custGeom>
          <a:ln w="12599">
            <a:solidFill>
              <a:srgbClr val="2B43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995815" y="5381891"/>
            <a:ext cx="6162675" cy="1054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10" b="1" i="1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dirty="0" sz="3000" spc="-200" b="1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254" b="1" i="1">
                <a:solidFill>
                  <a:srgbClr val="FFFFFF"/>
                </a:solidFill>
                <a:latin typeface="Trebuchet MS"/>
                <a:cs typeface="Trebuchet MS"/>
              </a:rPr>
              <a:t>every</a:t>
            </a:r>
            <a:r>
              <a:rPr dirty="0" sz="3000" spc="-190" b="1" i="1">
                <a:solidFill>
                  <a:srgbClr val="FFFFFF"/>
                </a:solidFill>
                <a:latin typeface="Trebuchet MS"/>
                <a:cs typeface="Trebuchet MS"/>
              </a:rPr>
              <a:t> walk </a:t>
            </a:r>
            <a:r>
              <a:rPr dirty="0" sz="3000" spc="-225" b="1" i="1">
                <a:solidFill>
                  <a:srgbClr val="FFFFFF"/>
                </a:solidFill>
                <a:latin typeface="Trebuchet MS"/>
                <a:cs typeface="Trebuchet MS"/>
              </a:rPr>
              <a:t>across</a:t>
            </a:r>
            <a:r>
              <a:rPr dirty="0" sz="3000" spc="-190" b="1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195" b="1" i="1">
                <a:solidFill>
                  <a:srgbClr val="FFFFFF"/>
                </a:solidFill>
                <a:latin typeface="Trebuchet MS"/>
                <a:cs typeface="Trebuchet MS"/>
              </a:rPr>
              <a:t>campus </a:t>
            </a:r>
            <a:r>
              <a:rPr dirty="0" sz="3000" spc="-130" b="1" i="1">
                <a:solidFill>
                  <a:srgbClr val="FFFFFF"/>
                </a:solidFill>
                <a:latin typeface="Trebuchet MS"/>
                <a:cs typeface="Trebuchet MS"/>
              </a:rPr>
              <a:t>count.</a:t>
            </a:r>
            <a:endParaRPr sz="3000">
              <a:latin typeface="Trebuchet MS"/>
              <a:cs typeface="Trebuchet MS"/>
            </a:endParaRPr>
          </a:p>
          <a:p>
            <a:pPr algn="ctr" marL="3175">
              <a:lnSpc>
                <a:spcPct val="100000"/>
              </a:lnSpc>
              <a:spcBef>
                <a:spcPts val="3060"/>
              </a:spcBef>
            </a:pP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T</a:t>
            </a:r>
            <a:r>
              <a:rPr dirty="0" sz="1200" spc="-4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H</a:t>
            </a:r>
            <a:r>
              <a:rPr dirty="0" sz="1200" spc="-3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A</a:t>
            </a:r>
            <a:r>
              <a:rPr dirty="0" sz="1200" spc="-2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P</a:t>
            </a:r>
            <a:r>
              <a:rPr dirty="0" sz="1200" spc="-11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R</a:t>
            </a:r>
            <a:r>
              <a:rPr dirty="0" sz="1200" spc="49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S</a:t>
            </a:r>
            <a:r>
              <a:rPr dirty="0" sz="1200" spc="-4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T</a:t>
            </a:r>
            <a:r>
              <a:rPr dirty="0" sz="1200" spc="-4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E</a:t>
            </a:r>
            <a:r>
              <a:rPr dirty="0" sz="1200" spc="-25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P</a:t>
            </a:r>
            <a:r>
              <a:rPr dirty="0" sz="1200" spc="-3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A83A"/>
                </a:solidFill>
                <a:latin typeface="Calibri"/>
                <a:cs typeface="Calibri"/>
              </a:rPr>
              <a:t>U</a:t>
            </a:r>
            <a:r>
              <a:rPr dirty="0" sz="1200" spc="-20" b="1">
                <a:solidFill>
                  <a:srgbClr val="F1A83A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F1A83A"/>
                </a:solidFill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6333845"/>
            <a:ext cx="12192000" cy="523875"/>
            <a:chOff x="-355" y="6333845"/>
            <a:chExt cx="12192000" cy="523875"/>
          </a:xfrm>
        </p:grpSpPr>
        <p:sp>
          <p:nvSpPr>
            <p:cNvPr id="3" name="object 3"/>
            <p:cNvSpPr/>
            <p:nvPr/>
          </p:nvSpPr>
          <p:spPr>
            <a:xfrm>
              <a:off x="2882" y="6400444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520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094437" y="456831"/>
                  </a:lnTo>
                  <a:lnTo>
                    <a:pt x="12188520" y="456831"/>
                  </a:lnTo>
                  <a:lnTo>
                    <a:pt x="12188520" y="0"/>
                  </a:lnTo>
                  <a:close/>
                </a:path>
              </a:pathLst>
            </a:custGeom>
            <a:solidFill>
              <a:srgbClr val="BC5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-355" y="63338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520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6094437" y="63715"/>
                  </a:lnTo>
                  <a:lnTo>
                    <a:pt x="12188520" y="63715"/>
                  </a:lnTo>
                  <a:lnTo>
                    <a:pt x="12188520" y="0"/>
                  </a:lnTo>
                  <a:close/>
                </a:path>
              </a:pathLst>
            </a:custGeom>
            <a:solidFill>
              <a:srgbClr val="E382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207439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 h="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47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98120" rIns="0" bIns="0" rtlCol="0" vert="horz">
            <a:spAutoFit/>
          </a:bodyPr>
          <a:lstStyle/>
          <a:p>
            <a:pPr marL="12700" marR="5080">
              <a:lnSpc>
                <a:spcPts val="8170"/>
              </a:lnSpc>
              <a:spcBef>
                <a:spcPts val="1560"/>
              </a:spcBef>
            </a:pPr>
            <a:r>
              <a:rPr dirty="0" sz="8000" spc="445" b="0">
                <a:solidFill>
                  <a:srgbClr val="252525"/>
                </a:solidFill>
                <a:latin typeface="Microsoft Sans Serif"/>
                <a:cs typeface="Microsoft Sans Serif"/>
              </a:rPr>
              <a:t>SmartGate</a:t>
            </a:r>
            <a:r>
              <a:rPr dirty="0" sz="8000" spc="335" b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dirty="0" sz="8000" spc="3279" b="0">
                <a:solidFill>
                  <a:srgbClr val="252525"/>
                </a:solidFill>
                <a:latin typeface="Microsoft Sans Serif"/>
                <a:cs typeface="Microsoft Sans Serif"/>
              </a:rPr>
              <a:t>—</a:t>
            </a:r>
            <a:r>
              <a:rPr dirty="0" sz="8000" spc="330" b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dirty="0" sz="8000" spc="-85" b="0">
                <a:solidFill>
                  <a:srgbClr val="252525"/>
                </a:solidFill>
                <a:latin typeface="Microsoft Sans Serif"/>
                <a:cs typeface="Microsoft Sans Serif"/>
              </a:rPr>
              <a:t>ANPR </a:t>
            </a:r>
            <a:r>
              <a:rPr dirty="0" sz="8000" spc="310" b="0">
                <a:solidFill>
                  <a:srgbClr val="252525"/>
                </a:solidFill>
                <a:latin typeface="Microsoft Sans Serif"/>
                <a:cs typeface="Microsoft Sans Serif"/>
              </a:rPr>
              <a:t>Based</a:t>
            </a:r>
            <a:r>
              <a:rPr dirty="0" sz="8000" spc="315" b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dirty="0" sz="8000" spc="459" b="0">
                <a:solidFill>
                  <a:srgbClr val="252525"/>
                </a:solidFill>
                <a:latin typeface="Microsoft Sans Serif"/>
                <a:cs typeface="Microsoft Sans Serif"/>
              </a:rPr>
              <a:t>Intelligent </a:t>
            </a:r>
            <a:r>
              <a:rPr dirty="0" sz="8000" spc="-285" b="0">
                <a:solidFill>
                  <a:srgbClr val="252525"/>
                </a:solidFill>
                <a:latin typeface="Microsoft Sans Serif"/>
                <a:cs typeface="Microsoft Sans Serif"/>
              </a:rPr>
              <a:t>V</a:t>
            </a:r>
            <a:r>
              <a:rPr dirty="0" sz="8000" spc="330" b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dirty="0" sz="8000" spc="335" b="0">
                <a:solidFill>
                  <a:srgbClr val="252525"/>
                </a:solidFill>
                <a:latin typeface="Microsoft Sans Serif"/>
                <a:cs typeface="Microsoft Sans Serif"/>
              </a:rPr>
              <a:t>h</a:t>
            </a:r>
            <a:r>
              <a:rPr dirty="0" sz="8000" spc="330" b="0">
                <a:solidFill>
                  <a:srgbClr val="252525"/>
                </a:solidFill>
                <a:latin typeface="Microsoft Sans Serif"/>
                <a:cs typeface="Microsoft Sans Serif"/>
              </a:rPr>
              <a:t>icl</a:t>
            </a:r>
            <a:r>
              <a:rPr dirty="0" sz="8000" spc="380" b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dirty="0" sz="8000" spc="335" b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dirty="0" sz="8000" spc="190" b="0">
                <a:solidFill>
                  <a:srgbClr val="252525"/>
                </a:solidFill>
                <a:latin typeface="Microsoft Sans Serif"/>
                <a:cs typeface="Microsoft Sans Serif"/>
              </a:rPr>
              <a:t>Access</a:t>
            </a:r>
            <a:endParaRPr sz="8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8902" y="4447349"/>
            <a:ext cx="23310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85">
                <a:solidFill>
                  <a:srgbClr val="393939"/>
                </a:solidFill>
                <a:latin typeface="Microsoft Sans Serif"/>
                <a:cs typeface="Microsoft Sans Serif"/>
              </a:rPr>
              <a:t>DISHA</a:t>
            </a:r>
            <a:r>
              <a:rPr dirty="0" sz="2400" spc="515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55">
                <a:solidFill>
                  <a:srgbClr val="393939"/>
                </a:solidFill>
                <a:latin typeface="Microsoft Sans Serif"/>
                <a:cs typeface="Microsoft Sans Serif"/>
              </a:rPr>
              <a:t>GOYAL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4201"/>
            <a:ext cx="12192000" cy="523240"/>
            <a:chOff x="0" y="6334201"/>
            <a:chExt cx="12192000" cy="523240"/>
          </a:xfrm>
        </p:grpSpPr>
        <p:sp>
          <p:nvSpPr>
            <p:cNvPr id="3" name="object 3"/>
            <p:cNvSpPr/>
            <p:nvPr/>
          </p:nvSpPr>
          <p:spPr>
            <a:xfrm>
              <a:off x="0" y="6400444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1758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095885" y="456831"/>
                  </a:lnTo>
                  <a:lnTo>
                    <a:pt x="12191758" y="456831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BC5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6334201"/>
              <a:ext cx="12192000" cy="66040"/>
            </a:xfrm>
            <a:custGeom>
              <a:avLst/>
              <a:gdLst/>
              <a:ahLst/>
              <a:cxnLst/>
              <a:rect l="l" t="t" r="r" b="b"/>
              <a:pathLst>
                <a:path w="12192000" h="66039">
                  <a:moveTo>
                    <a:pt x="12191758" y="0"/>
                  </a:moveTo>
                  <a:lnTo>
                    <a:pt x="0" y="0"/>
                  </a:lnTo>
                  <a:lnTo>
                    <a:pt x="0" y="65519"/>
                  </a:lnTo>
                  <a:lnTo>
                    <a:pt x="6095885" y="65519"/>
                  </a:lnTo>
                  <a:lnTo>
                    <a:pt x="12191758" y="65519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E382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193406" y="1737715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47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76019" y="944892"/>
            <a:ext cx="581406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180" b="0">
                <a:solidFill>
                  <a:srgbClr val="3F3F3F"/>
                </a:solidFill>
                <a:latin typeface="Microsoft Sans Serif"/>
                <a:cs typeface="Microsoft Sans Serif"/>
              </a:rPr>
              <a:t>Problem</a:t>
            </a:r>
            <a:r>
              <a:rPr dirty="0" sz="4800" spc="140" b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295" b="0">
                <a:solidFill>
                  <a:srgbClr val="3F3F3F"/>
                </a:solidFill>
                <a:latin typeface="Microsoft Sans Serif"/>
                <a:cs typeface="Microsoft Sans Serif"/>
              </a:rPr>
              <a:t>Statement</a:t>
            </a:r>
            <a:endParaRPr sz="4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180" y="1844179"/>
            <a:ext cx="10071100" cy="35109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8905" marR="30480" indent="-109855">
              <a:lnSpc>
                <a:spcPts val="2160"/>
              </a:lnSpc>
              <a:spcBef>
                <a:spcPts val="370"/>
              </a:spcBef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spc="-110">
                <a:solidFill>
                  <a:srgbClr val="3F3F3F"/>
                </a:solidFill>
                <a:latin typeface="Tahoma"/>
                <a:cs typeface="Tahoma"/>
              </a:rPr>
              <a:t>	</a:t>
            </a:r>
            <a:r>
              <a:rPr dirty="0" sz="2000" spc="-110">
                <a:solidFill>
                  <a:srgbClr val="3F3F3F"/>
                </a:solidFill>
                <a:latin typeface="Tahoma"/>
                <a:cs typeface="Tahoma"/>
              </a:rPr>
              <a:t>Every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registered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vehicle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—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95">
                <a:solidFill>
                  <a:srgbClr val="3F3F3F"/>
                </a:solidFill>
                <a:latin typeface="Tahoma"/>
                <a:cs typeface="Tahoma"/>
              </a:rPr>
              <a:t>faculty,</a:t>
            </a:r>
            <a:r>
              <a:rPr dirty="0" sz="2000" spc="-130">
                <a:solidFill>
                  <a:srgbClr val="3F3F3F"/>
                </a:solidFill>
                <a:latin typeface="Tahoma"/>
                <a:cs typeface="Tahoma"/>
              </a:rPr>
              <a:t> staff,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3F3F3F"/>
                </a:solidFill>
                <a:latin typeface="Tahoma"/>
                <a:cs typeface="Tahoma"/>
              </a:rPr>
              <a:t>or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student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—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issued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3F3F3F"/>
                </a:solidFill>
                <a:latin typeface="Tahoma"/>
                <a:cs typeface="Tahoma"/>
              </a:rPr>
              <a:t>colored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sticker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5">
                <a:solidFill>
                  <a:srgbClr val="3F3F3F"/>
                </a:solidFill>
                <a:latin typeface="Tahoma"/>
                <a:cs typeface="Tahoma"/>
              </a:rPr>
              <a:t>that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determines </a:t>
            </a:r>
            <a:r>
              <a:rPr dirty="0" sz="2000" spc="-45">
                <a:solidFill>
                  <a:srgbClr val="3F3F3F"/>
                </a:solidFill>
                <a:latin typeface="Tahoma"/>
                <a:cs typeface="Tahoma"/>
              </a:rPr>
              <a:t>their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access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3F3F3F"/>
                </a:solidFill>
                <a:latin typeface="Tahoma"/>
                <a:cs typeface="Tahoma"/>
              </a:rPr>
              <a:t>level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5">
                <a:solidFill>
                  <a:srgbClr val="3F3F3F"/>
                </a:solidFill>
                <a:latin typeface="Tahoma"/>
                <a:cs typeface="Tahoma"/>
              </a:rPr>
              <a:t>on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campus.</a:t>
            </a:r>
            <a:endParaRPr sz="2000">
              <a:latin typeface="Tahoma"/>
              <a:cs typeface="Tahoma"/>
            </a:endParaRPr>
          </a:p>
          <a:p>
            <a:pPr marL="128905" marR="516890" indent="-109855">
              <a:lnSpc>
                <a:spcPts val="2160"/>
              </a:lnSpc>
              <a:spcBef>
                <a:spcPts val="1400"/>
              </a:spcBef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spc="-90">
                <a:solidFill>
                  <a:srgbClr val="4B4B4B"/>
                </a:solidFill>
                <a:latin typeface="Tahoma"/>
                <a:cs typeface="Tahoma"/>
              </a:rPr>
              <a:t>	</a:t>
            </a:r>
            <a:r>
              <a:rPr dirty="0" sz="2000" spc="-90">
                <a:solidFill>
                  <a:srgbClr val="4B4B4B"/>
                </a:solidFill>
                <a:latin typeface="Tahoma"/>
                <a:cs typeface="Tahoma"/>
              </a:rPr>
              <a:t>During</a:t>
            </a:r>
            <a:r>
              <a:rPr dirty="0" sz="2000" spc="-14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90">
                <a:solidFill>
                  <a:srgbClr val="4B4B4B"/>
                </a:solidFill>
                <a:latin typeface="Tahoma"/>
                <a:cs typeface="Tahoma"/>
              </a:rPr>
              <a:t>peak</a:t>
            </a:r>
            <a:r>
              <a:rPr dirty="0" sz="2000" spc="-14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4B4B4B"/>
                </a:solidFill>
                <a:latin typeface="Tahoma"/>
                <a:cs typeface="Tahoma"/>
              </a:rPr>
              <a:t>hours</a:t>
            </a:r>
            <a:r>
              <a:rPr dirty="0" sz="2000" spc="-15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4B4B4B"/>
                </a:solidFill>
                <a:latin typeface="Tahoma"/>
                <a:cs typeface="Tahoma"/>
              </a:rPr>
              <a:t>—</a:t>
            </a:r>
            <a:r>
              <a:rPr dirty="0" sz="2000" spc="-15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4B4B4B"/>
                </a:solidFill>
                <a:latin typeface="Tahoma"/>
                <a:cs typeface="Tahoma"/>
              </a:rPr>
              <a:t>8</a:t>
            </a:r>
            <a:r>
              <a:rPr dirty="0" sz="2000" spc="-15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4B4B4B"/>
                </a:solidFill>
                <a:latin typeface="Tahoma"/>
                <a:cs typeface="Tahoma"/>
              </a:rPr>
              <a:t>to</a:t>
            </a:r>
            <a:r>
              <a:rPr dirty="0" sz="2000" spc="-14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4B4B4B"/>
                </a:solidFill>
                <a:latin typeface="Tahoma"/>
                <a:cs typeface="Tahoma"/>
              </a:rPr>
              <a:t>9</a:t>
            </a:r>
            <a:r>
              <a:rPr dirty="0" sz="2000" spc="-15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4B4B4B"/>
                </a:solidFill>
                <a:latin typeface="Tahoma"/>
                <a:cs typeface="Tahoma"/>
              </a:rPr>
              <a:t>AM</a:t>
            </a:r>
            <a:r>
              <a:rPr dirty="0" sz="2000" spc="-15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4B4B4B"/>
                </a:solidFill>
                <a:latin typeface="Tahoma"/>
                <a:cs typeface="Tahoma"/>
              </a:rPr>
              <a:t>and</a:t>
            </a:r>
            <a:r>
              <a:rPr dirty="0" sz="2000" spc="-16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4B4B4B"/>
                </a:solidFill>
                <a:latin typeface="Tahoma"/>
                <a:cs typeface="Tahoma"/>
              </a:rPr>
              <a:t>5</a:t>
            </a:r>
            <a:r>
              <a:rPr dirty="0" sz="2000" spc="-14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4B4B4B"/>
                </a:solidFill>
                <a:latin typeface="Tahoma"/>
                <a:cs typeface="Tahoma"/>
              </a:rPr>
              <a:t>to</a:t>
            </a:r>
            <a:r>
              <a:rPr dirty="0" sz="2000" spc="-15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4B4B4B"/>
                </a:solidFill>
                <a:latin typeface="Tahoma"/>
                <a:cs typeface="Tahoma"/>
              </a:rPr>
              <a:t>6</a:t>
            </a:r>
            <a:r>
              <a:rPr dirty="0" sz="2000" spc="-15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4B4B4B"/>
                </a:solidFill>
                <a:latin typeface="Tahoma"/>
                <a:cs typeface="Tahoma"/>
              </a:rPr>
              <a:t>PM</a:t>
            </a:r>
            <a:r>
              <a:rPr dirty="0" sz="2000" spc="-16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4B4B4B"/>
                </a:solidFill>
                <a:latin typeface="Tahoma"/>
                <a:cs typeface="Tahoma"/>
              </a:rPr>
              <a:t>—</a:t>
            </a:r>
            <a:r>
              <a:rPr dirty="0" sz="2000" spc="-15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4B4B4B"/>
                </a:solidFill>
                <a:latin typeface="Tahoma"/>
                <a:cs typeface="Tahoma"/>
              </a:rPr>
              <a:t>hundreds</a:t>
            </a:r>
            <a:r>
              <a:rPr dirty="0" sz="2000" spc="-15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4B4B4B"/>
                </a:solidFill>
                <a:latin typeface="Tahoma"/>
                <a:cs typeface="Tahoma"/>
              </a:rPr>
              <a:t>of</a:t>
            </a:r>
            <a:r>
              <a:rPr dirty="0" sz="2000" spc="-15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4B4B4B"/>
                </a:solidFill>
                <a:latin typeface="Tahoma"/>
                <a:cs typeface="Tahoma"/>
              </a:rPr>
              <a:t>vehicles</a:t>
            </a:r>
            <a:r>
              <a:rPr dirty="0" sz="2000" spc="-15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105">
                <a:solidFill>
                  <a:srgbClr val="4B4B4B"/>
                </a:solidFill>
                <a:latin typeface="Tahoma"/>
                <a:cs typeface="Tahoma"/>
              </a:rPr>
              <a:t>pass</a:t>
            </a:r>
            <a:r>
              <a:rPr dirty="0" sz="2000" spc="-15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4B4B4B"/>
                </a:solidFill>
                <a:latin typeface="Tahoma"/>
                <a:cs typeface="Tahoma"/>
              </a:rPr>
              <a:t>simultaneously, </a:t>
            </a:r>
            <a:r>
              <a:rPr dirty="0" sz="2000" spc="-90">
                <a:solidFill>
                  <a:srgbClr val="4B4B4B"/>
                </a:solidFill>
                <a:latin typeface="Tahoma"/>
                <a:cs typeface="Tahoma"/>
              </a:rPr>
              <a:t>making</a:t>
            </a:r>
            <a:r>
              <a:rPr dirty="0" sz="2000" spc="-160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4B4B4B"/>
                </a:solidFill>
                <a:latin typeface="Tahoma"/>
                <a:cs typeface="Tahoma"/>
              </a:rPr>
              <a:t>accurate</a:t>
            </a:r>
            <a:r>
              <a:rPr dirty="0" sz="2000" spc="-15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4B4B4B"/>
                </a:solidFill>
                <a:latin typeface="Tahoma"/>
                <a:cs typeface="Tahoma"/>
              </a:rPr>
              <a:t>checking</a:t>
            </a:r>
            <a:r>
              <a:rPr dirty="0" sz="2000" spc="-145">
                <a:solidFill>
                  <a:srgbClr val="4B4B4B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4B4B4B"/>
                </a:solidFill>
                <a:latin typeface="Tahoma"/>
                <a:cs typeface="Tahoma"/>
              </a:rPr>
              <a:t>impossible.</a:t>
            </a:r>
            <a:endParaRPr sz="2000">
              <a:latin typeface="Tahoma"/>
              <a:cs typeface="Tahoma"/>
            </a:endParaRPr>
          </a:p>
          <a:p>
            <a:pPr marL="128905" marR="72390" indent="-109855">
              <a:lnSpc>
                <a:spcPts val="2160"/>
              </a:lnSpc>
              <a:spcBef>
                <a:spcPts val="1400"/>
              </a:spcBef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spc="-90">
                <a:solidFill>
                  <a:srgbClr val="3F3F3F"/>
                </a:solidFill>
                <a:latin typeface="Tahoma"/>
                <a:cs typeface="Tahoma"/>
              </a:rPr>
              <a:t>	</a:t>
            </a:r>
            <a:r>
              <a:rPr dirty="0" sz="2000" spc="-90">
                <a:solidFill>
                  <a:srgbClr val="3F3F3F"/>
                </a:solidFill>
                <a:latin typeface="Tahoma"/>
                <a:cs typeface="Tahoma"/>
              </a:rPr>
              <a:t>Stickers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fade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over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3F3F3F"/>
                </a:solidFill>
                <a:latin typeface="Tahoma"/>
                <a:cs typeface="Tahoma"/>
              </a:rPr>
              <a:t>time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due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sun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exposure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weather.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20">
                <a:solidFill>
                  <a:srgbClr val="3F3F3F"/>
                </a:solidFill>
                <a:latin typeface="Tahoma"/>
                <a:cs typeface="Tahoma"/>
              </a:rPr>
              <a:t>They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can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be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misused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—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student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can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enter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90">
                <a:solidFill>
                  <a:srgbClr val="3F3F3F"/>
                </a:solidFill>
                <a:latin typeface="Tahoma"/>
                <a:cs typeface="Tahoma"/>
              </a:rPr>
              <a:t>staff-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only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zone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3F3F3F"/>
                </a:solidFill>
                <a:latin typeface="Tahoma"/>
                <a:cs typeface="Tahoma"/>
              </a:rPr>
              <a:t>if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5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guard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3F3F3F"/>
                </a:solidFill>
                <a:latin typeface="Tahoma"/>
                <a:cs typeface="Tahoma"/>
              </a:rPr>
              <a:t>not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attentive.</a:t>
            </a:r>
            <a:endParaRPr sz="2000">
              <a:latin typeface="Tahoma"/>
              <a:cs typeface="Tahoma"/>
            </a:endParaRPr>
          </a:p>
          <a:p>
            <a:pPr marL="128905" marR="262255" indent="-109855">
              <a:lnSpc>
                <a:spcPts val="2160"/>
              </a:lnSpc>
              <a:spcBef>
                <a:spcPts val="1405"/>
              </a:spcBef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	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There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5">
                <a:solidFill>
                  <a:srgbClr val="3F3F3F"/>
                </a:solidFill>
                <a:latin typeface="Tahoma"/>
                <a:cs typeface="Tahoma"/>
              </a:rPr>
              <a:t>no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digital</a:t>
            </a:r>
            <a:r>
              <a:rPr dirty="0" sz="2000" spc="-12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record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which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vehicles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entered,</a:t>
            </a:r>
            <a:r>
              <a:rPr dirty="0" sz="2000" spc="-13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at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what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time,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through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which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10">
                <a:solidFill>
                  <a:srgbClr val="3F3F3F"/>
                </a:solidFill>
                <a:latin typeface="Tahoma"/>
                <a:cs typeface="Tahoma"/>
              </a:rPr>
              <a:t>gate,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3F3F3F"/>
                </a:solidFill>
                <a:latin typeface="Tahoma"/>
                <a:cs typeface="Tahoma"/>
              </a:rPr>
              <a:t>or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how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long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they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stayed.</a:t>
            </a:r>
            <a:endParaRPr sz="2000">
              <a:latin typeface="Tahoma"/>
              <a:cs typeface="Tahoma"/>
            </a:endParaRPr>
          </a:p>
          <a:p>
            <a:pPr marL="128905" marR="491490" indent="-109855">
              <a:lnSpc>
                <a:spcPts val="2160"/>
              </a:lnSpc>
              <a:spcBef>
                <a:spcPts val="1400"/>
              </a:spcBef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spc="-120">
                <a:solidFill>
                  <a:srgbClr val="3F3F3F"/>
                </a:solidFill>
                <a:latin typeface="Tahoma"/>
                <a:cs typeface="Tahoma"/>
              </a:rPr>
              <a:t>	</a:t>
            </a:r>
            <a:r>
              <a:rPr dirty="0" sz="2000" spc="-12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core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3F3F3F"/>
                </a:solidFill>
                <a:latin typeface="Tahoma"/>
                <a:cs typeface="Tahoma"/>
              </a:rPr>
              <a:t>problem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3F3F3F"/>
                </a:solidFill>
                <a:latin typeface="Tahoma"/>
                <a:cs typeface="Tahoma"/>
              </a:rPr>
              <a:t>simple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—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Thapar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95">
                <a:solidFill>
                  <a:srgbClr val="3F3F3F"/>
                </a:solidFill>
                <a:latin typeface="Tahoma"/>
                <a:cs typeface="Tahoma"/>
              </a:rPr>
              <a:t>has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5">
                <a:solidFill>
                  <a:srgbClr val="3F3F3F"/>
                </a:solidFill>
                <a:latin typeface="Tahoma"/>
                <a:cs typeface="Tahoma"/>
              </a:rPr>
              <a:t>no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3F3F3F"/>
                </a:solidFill>
                <a:latin typeface="Tahoma"/>
                <a:cs typeface="Tahoma"/>
              </a:rPr>
              <a:t>intelligent,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automated,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digitized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system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to </a:t>
            </a:r>
            <a:r>
              <a:rPr dirty="0" sz="2000" spc="-105">
                <a:solidFill>
                  <a:srgbClr val="3F3F3F"/>
                </a:solidFill>
                <a:latin typeface="Tahoma"/>
                <a:cs typeface="Tahoma"/>
              </a:rPr>
              <a:t>manage</a:t>
            </a:r>
            <a:r>
              <a:rPr dirty="0" sz="2000" spc="-13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vehicle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95">
                <a:solidFill>
                  <a:srgbClr val="3F3F3F"/>
                </a:solidFill>
                <a:latin typeface="Tahoma"/>
                <a:cs typeface="Tahoma"/>
              </a:rPr>
              <a:t>entry,</a:t>
            </a:r>
            <a:r>
              <a:rPr dirty="0" sz="2000" spc="-12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access</a:t>
            </a:r>
            <a:r>
              <a:rPr dirty="0" sz="2000" spc="-12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control,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dirty="0" sz="2000" spc="-12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95">
                <a:solidFill>
                  <a:srgbClr val="3F3F3F"/>
                </a:solidFill>
                <a:latin typeface="Tahoma"/>
                <a:cs typeface="Tahoma"/>
              </a:rPr>
              <a:t>campus</a:t>
            </a:r>
            <a:r>
              <a:rPr dirty="0" sz="2000" spc="-12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security.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4201"/>
            <a:ext cx="12192000" cy="523240"/>
            <a:chOff x="0" y="6334201"/>
            <a:chExt cx="12192000" cy="523240"/>
          </a:xfrm>
        </p:grpSpPr>
        <p:sp>
          <p:nvSpPr>
            <p:cNvPr id="3" name="object 3"/>
            <p:cNvSpPr/>
            <p:nvPr/>
          </p:nvSpPr>
          <p:spPr>
            <a:xfrm>
              <a:off x="0" y="6400444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1758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095885" y="456831"/>
                  </a:lnTo>
                  <a:lnTo>
                    <a:pt x="12191758" y="456831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BC5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6334201"/>
              <a:ext cx="12192000" cy="66040"/>
            </a:xfrm>
            <a:custGeom>
              <a:avLst/>
              <a:gdLst/>
              <a:ahLst/>
              <a:cxnLst/>
              <a:rect l="l" t="t" r="r" b="b"/>
              <a:pathLst>
                <a:path w="12192000" h="66039">
                  <a:moveTo>
                    <a:pt x="12191758" y="0"/>
                  </a:moveTo>
                  <a:lnTo>
                    <a:pt x="0" y="0"/>
                  </a:lnTo>
                  <a:lnTo>
                    <a:pt x="0" y="65519"/>
                  </a:lnTo>
                  <a:lnTo>
                    <a:pt x="6095885" y="65519"/>
                  </a:lnTo>
                  <a:lnTo>
                    <a:pt x="12191758" y="65519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E382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193406" y="1737715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47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76019" y="323176"/>
            <a:ext cx="9184640" cy="1378585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290" b="0">
                <a:solidFill>
                  <a:srgbClr val="393939"/>
                </a:solidFill>
                <a:latin typeface="Microsoft Sans Serif"/>
                <a:cs typeface="Microsoft Sans Serif"/>
              </a:rPr>
              <a:t>Automatic</a:t>
            </a:r>
            <a:r>
              <a:rPr dirty="0" sz="4800" spc="180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300" b="0">
                <a:solidFill>
                  <a:srgbClr val="393939"/>
                </a:solidFill>
                <a:latin typeface="Microsoft Sans Serif"/>
                <a:cs typeface="Microsoft Sans Serif"/>
              </a:rPr>
              <a:t>Number</a:t>
            </a:r>
            <a:r>
              <a:rPr dirty="0" sz="4800" spc="185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135" b="0">
                <a:solidFill>
                  <a:srgbClr val="393939"/>
                </a:solidFill>
                <a:latin typeface="Microsoft Sans Serif"/>
                <a:cs typeface="Microsoft Sans Serif"/>
              </a:rPr>
              <a:t>Plate </a:t>
            </a:r>
            <a:r>
              <a:rPr dirty="0" sz="4800" spc="190" b="0">
                <a:solidFill>
                  <a:srgbClr val="393939"/>
                </a:solidFill>
                <a:latin typeface="Microsoft Sans Serif"/>
                <a:cs typeface="Microsoft Sans Serif"/>
              </a:rPr>
              <a:t>Recognition</a:t>
            </a:r>
            <a:r>
              <a:rPr dirty="0" sz="4800" spc="165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1964" b="0">
                <a:solidFill>
                  <a:srgbClr val="393939"/>
                </a:solidFill>
                <a:latin typeface="Microsoft Sans Serif"/>
                <a:cs typeface="Microsoft Sans Serif"/>
              </a:rPr>
              <a:t>—</a:t>
            </a:r>
            <a:r>
              <a:rPr dirty="0" sz="4800" spc="170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240" b="0">
                <a:solidFill>
                  <a:srgbClr val="393939"/>
                </a:solidFill>
                <a:latin typeface="Microsoft Sans Serif"/>
                <a:cs typeface="Microsoft Sans Serif"/>
              </a:rPr>
              <a:t>Built</a:t>
            </a:r>
            <a:r>
              <a:rPr dirty="0" sz="4800" spc="165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285" b="0">
                <a:solidFill>
                  <a:srgbClr val="393939"/>
                </a:solidFill>
                <a:latin typeface="Microsoft Sans Serif"/>
                <a:cs typeface="Microsoft Sans Serif"/>
              </a:rPr>
              <a:t>for</a:t>
            </a:r>
            <a:r>
              <a:rPr dirty="0" sz="4800" spc="170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195" b="0">
                <a:solidFill>
                  <a:srgbClr val="393939"/>
                </a:solidFill>
                <a:latin typeface="Microsoft Sans Serif"/>
                <a:cs typeface="Microsoft Sans Serif"/>
              </a:rPr>
              <a:t>Thapar</a:t>
            </a:r>
            <a:endParaRPr sz="4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1832952"/>
            <a:ext cx="10029825" cy="62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100"/>
              </a:spcBef>
            </a:pPr>
            <a:r>
              <a:rPr dirty="0" sz="1500">
                <a:solidFill>
                  <a:srgbClr val="4B4B4B"/>
                </a:solidFill>
                <a:latin typeface="Microsoft Sans Serif"/>
                <a:cs typeface="Microsoft Sans Serif"/>
              </a:rPr>
              <a:t>ANPR</a:t>
            </a:r>
            <a:r>
              <a:rPr dirty="0" sz="1500" spc="6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cameras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read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5">
                <a:solidFill>
                  <a:srgbClr val="4B4B4B"/>
                </a:solidFill>
                <a:latin typeface="Microsoft Sans Serif"/>
                <a:cs typeface="Microsoft Sans Serif"/>
              </a:rPr>
              <a:t>every</a:t>
            </a:r>
            <a:r>
              <a:rPr dirty="0" sz="1500" spc="6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plate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in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under</a:t>
            </a:r>
            <a:r>
              <a:rPr dirty="0" sz="1500" spc="114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65" b="1">
                <a:solidFill>
                  <a:srgbClr val="4B4B4B"/>
                </a:solidFill>
                <a:latin typeface="Trebuchet MS"/>
                <a:cs typeface="Trebuchet MS"/>
              </a:rPr>
              <a:t>2</a:t>
            </a:r>
            <a:r>
              <a:rPr dirty="0" sz="1500" spc="60" b="1">
                <a:solidFill>
                  <a:srgbClr val="4B4B4B"/>
                </a:solidFill>
                <a:latin typeface="Trebuchet MS"/>
                <a:cs typeface="Trebuchet MS"/>
              </a:rPr>
              <a:t> </a:t>
            </a:r>
            <a:r>
              <a:rPr dirty="0" sz="1500" spc="165" b="1">
                <a:solidFill>
                  <a:srgbClr val="4B4B4B"/>
                </a:solidFill>
                <a:latin typeface="Trebuchet MS"/>
                <a:cs typeface="Trebuchet MS"/>
              </a:rPr>
              <a:t>seconds</a:t>
            </a:r>
            <a:r>
              <a:rPr dirty="0" sz="1500" spc="165">
                <a:solidFill>
                  <a:srgbClr val="4B4B4B"/>
                </a:solidFill>
                <a:latin typeface="Microsoft Sans Serif"/>
                <a:cs typeface="Microsoft Sans Serif"/>
              </a:rPr>
              <a:t>,</a:t>
            </a:r>
            <a:r>
              <a:rPr dirty="0" sz="1500" spc="6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20">
                <a:solidFill>
                  <a:srgbClr val="4B4B4B"/>
                </a:solidFill>
                <a:latin typeface="Microsoft Sans Serif"/>
                <a:cs typeface="Microsoft Sans Serif"/>
              </a:rPr>
              <a:t>match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25">
                <a:solidFill>
                  <a:srgbClr val="4B4B4B"/>
                </a:solidFill>
                <a:latin typeface="Microsoft Sans Serif"/>
                <a:cs typeface="Microsoft Sans Serif"/>
              </a:rPr>
              <a:t>it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against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 a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registered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database,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 decide </a:t>
            </a:r>
            <a:r>
              <a:rPr dirty="0" sz="1500" spc="55">
                <a:solidFill>
                  <a:srgbClr val="4B4B4B"/>
                </a:solidFill>
                <a:latin typeface="Microsoft Sans Serif"/>
                <a:cs typeface="Microsoft Sans Serif"/>
              </a:rPr>
              <a:t>access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automatically.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5743" y="2730144"/>
            <a:ext cx="60013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785" algn="l"/>
              </a:tabLst>
            </a:pPr>
            <a:r>
              <a:rPr dirty="0" sz="1500" spc="-50">
                <a:solidFill>
                  <a:srgbClr val="4B4B4B"/>
                </a:solidFill>
                <a:latin typeface="Lucida Sans Unicode"/>
                <a:cs typeface="Lucida Sans Unicode"/>
              </a:rPr>
              <a:t>▪</a:t>
            </a:r>
            <a:r>
              <a:rPr dirty="0" sz="1500">
                <a:solidFill>
                  <a:srgbClr val="4B4B4B"/>
                </a:solidFill>
                <a:latin typeface="Lucida Sans Unicode"/>
                <a:cs typeface="Lucida Sans Unicode"/>
              </a:rPr>
              <a:t>	</a:t>
            </a:r>
            <a:r>
              <a:rPr dirty="0" sz="1500" spc="-50">
                <a:solidFill>
                  <a:srgbClr val="4B4B4B"/>
                </a:solidFill>
                <a:latin typeface="Lucida Sans Unicode"/>
                <a:cs typeface="Lucida Sans Unicode"/>
              </a:rPr>
              <a:t>▪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1582" y="2760738"/>
            <a:ext cx="80295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785" algn="l"/>
              </a:tabLst>
            </a:pPr>
            <a:r>
              <a:rPr dirty="0" sz="1500" spc="-30">
                <a:solidFill>
                  <a:srgbClr val="4B4B4B"/>
                </a:solidFill>
                <a:latin typeface="Microsoft Sans Serif"/>
                <a:cs typeface="Microsoft Sans Serif"/>
              </a:rPr>
              <a:t>Real-</a:t>
            </a:r>
            <a:r>
              <a:rPr dirty="0" sz="1500" spc="60">
                <a:solidFill>
                  <a:srgbClr val="4B4B4B"/>
                </a:solidFill>
                <a:latin typeface="Microsoft Sans Serif"/>
                <a:cs typeface="Microsoft Sans Serif"/>
              </a:rPr>
              <a:t>Time</a:t>
            </a:r>
            <a:r>
              <a:rPr dirty="0" sz="1500" spc="15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B4B4B"/>
                </a:solidFill>
                <a:latin typeface="Microsoft Sans Serif"/>
                <a:cs typeface="Microsoft Sans Serif"/>
              </a:rPr>
              <a:t>Plate</a:t>
            </a:r>
            <a:r>
              <a:rPr dirty="0" sz="1500" spc="16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40">
                <a:solidFill>
                  <a:srgbClr val="4B4B4B"/>
                </a:solidFill>
                <a:latin typeface="Microsoft Sans Serif"/>
                <a:cs typeface="Microsoft Sans Serif"/>
              </a:rPr>
              <a:t>Recognition</a:t>
            </a:r>
            <a:r>
              <a:rPr dirty="0" sz="1500">
                <a:solidFill>
                  <a:srgbClr val="4B4B4B"/>
                </a:solidFill>
                <a:latin typeface="Microsoft Sans Serif"/>
                <a:cs typeface="Microsoft Sans Serif"/>
              </a:rPr>
              <a:t>	Five</a:t>
            </a:r>
            <a:r>
              <a:rPr dirty="0" sz="1500" spc="13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B4B4B"/>
                </a:solidFill>
                <a:latin typeface="Microsoft Sans Serif"/>
                <a:cs typeface="Microsoft Sans Serif"/>
              </a:rPr>
              <a:t>Access</a:t>
            </a:r>
            <a:r>
              <a:rPr dirty="0" sz="1500" spc="12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45">
                <a:solidFill>
                  <a:srgbClr val="4B4B4B"/>
                </a:solidFill>
                <a:latin typeface="Microsoft Sans Serif"/>
                <a:cs typeface="Microsoft Sans Serif"/>
              </a:rPr>
              <a:t>Categories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5743" y="3014814"/>
            <a:ext cx="3892550" cy="93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100"/>
              </a:spcBef>
            </a:pP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Camera</a:t>
            </a:r>
            <a:r>
              <a:rPr dirty="0" sz="1500" spc="6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captures</a:t>
            </a:r>
            <a:r>
              <a:rPr dirty="0" sz="1500" spc="6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plate</a:t>
            </a:r>
            <a:r>
              <a:rPr dirty="0" sz="1500" spc="6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4">
                <a:solidFill>
                  <a:srgbClr val="4B4B4B"/>
                </a:solidFill>
                <a:latin typeface="Microsoft Sans Serif"/>
                <a:cs typeface="Microsoft Sans Serif"/>
              </a:rPr>
              <a:t>→</a:t>
            </a: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B4B4B"/>
                </a:solidFill>
                <a:latin typeface="Microsoft Sans Serif"/>
                <a:cs typeface="Microsoft Sans Serif"/>
              </a:rPr>
              <a:t>OCR</a:t>
            </a:r>
            <a:r>
              <a:rPr dirty="0" sz="1500" spc="6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reads</a:t>
            </a:r>
            <a:r>
              <a:rPr dirty="0" sz="1500" spc="5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25">
                <a:solidFill>
                  <a:srgbClr val="4B4B4B"/>
                </a:solidFill>
                <a:latin typeface="Microsoft Sans Serif"/>
                <a:cs typeface="Microsoft Sans Serif"/>
              </a:rPr>
              <a:t>it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5">
                <a:solidFill>
                  <a:srgbClr val="4B4B4B"/>
                </a:solidFill>
                <a:latin typeface="Microsoft Sans Serif"/>
                <a:cs typeface="Microsoft Sans Serif"/>
              </a:rPr>
              <a:t>→</a:t>
            </a:r>
            <a:r>
              <a:rPr dirty="0" sz="1500" spc="55">
                <a:solidFill>
                  <a:srgbClr val="4B4B4B"/>
                </a:solidFill>
                <a:latin typeface="Microsoft Sans Serif"/>
                <a:cs typeface="Microsoft Sans Serif"/>
              </a:rPr>
              <a:t> access</a:t>
            </a: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decision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returned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in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under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5">
                <a:solidFill>
                  <a:srgbClr val="4B4B4B"/>
                </a:solidFill>
                <a:latin typeface="Microsoft Sans Serif"/>
                <a:cs typeface="Microsoft Sans Serif"/>
              </a:rPr>
              <a:t>2 seconds.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3183" y="3014814"/>
            <a:ext cx="3593465" cy="93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2000"/>
              </a:lnSpc>
              <a:spcBef>
                <a:spcPts val="100"/>
              </a:spcBef>
            </a:pPr>
            <a:r>
              <a:rPr dirty="0" sz="1500" spc="55">
                <a:solidFill>
                  <a:srgbClr val="4B4B4B"/>
                </a:solidFill>
                <a:latin typeface="Microsoft Sans Serif"/>
                <a:cs typeface="Microsoft Sans Serif"/>
              </a:rPr>
              <a:t>Faculty,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staff,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student,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pre-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registered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visitor, 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unregistered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20">
                <a:solidFill>
                  <a:srgbClr val="4B4B4B"/>
                </a:solidFill>
                <a:latin typeface="Microsoft Sans Serif"/>
                <a:cs typeface="Microsoft Sans Serif"/>
              </a:rPr>
              <a:t>—</a:t>
            </a:r>
            <a:r>
              <a:rPr dirty="0" sz="1500" spc="10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each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with 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defined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5">
                <a:solidFill>
                  <a:srgbClr val="4B4B4B"/>
                </a:solidFill>
                <a:latin typeface="Microsoft Sans Serif"/>
                <a:cs typeface="Microsoft Sans Serif"/>
              </a:rPr>
              <a:t>permissions.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0134" y="4311180"/>
            <a:ext cx="10398760" cy="1872614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2525395" indent="-285750">
              <a:lnSpc>
                <a:spcPct val="100000"/>
              </a:lnSpc>
              <a:spcBef>
                <a:spcPts val="869"/>
              </a:spcBef>
              <a:buFont typeface="Lucida Sans Unicode"/>
              <a:buChar char="▪"/>
              <a:tabLst>
                <a:tab pos="2525395" algn="l"/>
              </a:tabLst>
            </a:pPr>
            <a:r>
              <a:rPr dirty="0" sz="1500" spc="-35">
                <a:solidFill>
                  <a:srgbClr val="4B4B4B"/>
                </a:solidFill>
                <a:latin typeface="Microsoft Sans Serif"/>
                <a:cs typeface="Microsoft Sans Serif"/>
              </a:rPr>
              <a:t>Pre-</a:t>
            </a:r>
            <a:r>
              <a:rPr dirty="0" sz="1500" spc="55">
                <a:solidFill>
                  <a:srgbClr val="4B4B4B"/>
                </a:solidFill>
                <a:latin typeface="Microsoft Sans Serif"/>
                <a:cs typeface="Microsoft Sans Serif"/>
              </a:rPr>
              <a:t>Visitor </a:t>
            </a:r>
            <a:r>
              <a:rPr dirty="0" sz="1500" spc="45">
                <a:solidFill>
                  <a:srgbClr val="4B4B4B"/>
                </a:solidFill>
                <a:latin typeface="Microsoft Sans Serif"/>
                <a:cs typeface="Microsoft Sans Serif"/>
              </a:rPr>
              <a:t>Registration</a:t>
            </a:r>
            <a:endParaRPr sz="1500">
              <a:latin typeface="Microsoft Sans Serif"/>
              <a:cs typeface="Microsoft Sans Serif"/>
            </a:endParaRPr>
          </a:p>
          <a:p>
            <a:pPr marL="2324100" marR="4064000">
              <a:lnSpc>
                <a:spcPct val="132000"/>
              </a:lnSpc>
              <a:spcBef>
                <a:spcPts val="200"/>
              </a:spcBef>
            </a:pP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Students</a:t>
            </a: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and </a:t>
            </a:r>
            <a:r>
              <a:rPr dirty="0" sz="1500" spc="100">
                <a:solidFill>
                  <a:srgbClr val="4B4B4B"/>
                </a:solidFill>
                <a:latin typeface="Microsoft Sans Serif"/>
                <a:cs typeface="Microsoft Sans Serif"/>
              </a:rPr>
              <a:t>faculty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 register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guest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B4B4B"/>
                </a:solidFill>
                <a:latin typeface="Microsoft Sans Serif"/>
                <a:cs typeface="Microsoft Sans Serif"/>
              </a:rPr>
              <a:t>plates 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in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advance.</a:t>
            </a:r>
            <a:r>
              <a:rPr dirty="0" sz="1500" spc="8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B4B4B"/>
                </a:solidFill>
                <a:latin typeface="Microsoft Sans Serif"/>
                <a:cs typeface="Microsoft Sans Serif"/>
              </a:rPr>
              <a:t>Guest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enters</a:t>
            </a:r>
            <a:r>
              <a:rPr dirty="0" sz="1500" spc="95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B4B4B"/>
                </a:solidFill>
                <a:latin typeface="Microsoft Sans Serif"/>
                <a:cs typeface="Microsoft Sans Serif"/>
              </a:rPr>
              <a:t>automatically; host</a:t>
            </a: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0">
                <a:solidFill>
                  <a:srgbClr val="4B4B4B"/>
                </a:solidFill>
                <a:latin typeface="Microsoft Sans Serif"/>
                <a:cs typeface="Microsoft Sans Serif"/>
              </a:rPr>
              <a:t>is</a:t>
            </a:r>
            <a:r>
              <a:rPr dirty="0" sz="1500" spc="80">
                <a:solidFill>
                  <a:srgbClr val="4B4B4B"/>
                </a:solidFill>
                <a:latin typeface="Microsoft Sans Serif"/>
                <a:cs typeface="Microsoft Sans Serif"/>
              </a:rPr>
              <a:t> notified.</a:t>
            </a:r>
            <a:endParaRPr sz="1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500" spc="55">
                <a:latin typeface="Microsoft Sans Serif"/>
                <a:cs typeface="Microsoft Sans Serif"/>
              </a:rPr>
              <a:t>Even</a:t>
            </a:r>
            <a:r>
              <a:rPr dirty="0" sz="1500" spc="85">
                <a:latin typeface="Microsoft Sans Serif"/>
                <a:cs typeface="Microsoft Sans Serif"/>
              </a:rPr>
              <a:t> unreadable</a:t>
            </a:r>
            <a:r>
              <a:rPr dirty="0" sz="1500" spc="95">
                <a:latin typeface="Microsoft Sans Serif"/>
                <a:cs typeface="Microsoft Sans Serif"/>
              </a:rPr>
              <a:t> </a:t>
            </a:r>
            <a:r>
              <a:rPr dirty="0" sz="1500" spc="85">
                <a:latin typeface="Microsoft Sans Serif"/>
                <a:cs typeface="Microsoft Sans Serif"/>
              </a:rPr>
              <a:t>plates</a:t>
            </a:r>
            <a:r>
              <a:rPr dirty="0" sz="1500" spc="90">
                <a:latin typeface="Microsoft Sans Serif"/>
                <a:cs typeface="Microsoft Sans Serif"/>
              </a:rPr>
              <a:t> </a:t>
            </a:r>
            <a:r>
              <a:rPr dirty="0" sz="1500" spc="75">
                <a:latin typeface="Microsoft Sans Serif"/>
                <a:cs typeface="Microsoft Sans Serif"/>
              </a:rPr>
              <a:t>are</a:t>
            </a:r>
            <a:r>
              <a:rPr dirty="0" sz="1500" spc="90">
                <a:latin typeface="Microsoft Sans Serif"/>
                <a:cs typeface="Microsoft Sans Serif"/>
              </a:rPr>
              <a:t> </a:t>
            </a:r>
            <a:r>
              <a:rPr dirty="0" sz="1500" spc="95">
                <a:latin typeface="Microsoft Sans Serif"/>
                <a:cs typeface="Microsoft Sans Serif"/>
              </a:rPr>
              <a:t>photographed,</a:t>
            </a:r>
            <a:r>
              <a:rPr dirty="0" sz="1500" spc="80">
                <a:latin typeface="Microsoft Sans Serif"/>
                <a:cs typeface="Microsoft Sans Serif"/>
              </a:rPr>
              <a:t> </a:t>
            </a:r>
            <a:r>
              <a:rPr dirty="0" sz="1500" spc="110">
                <a:latin typeface="Microsoft Sans Serif"/>
                <a:cs typeface="Microsoft Sans Serif"/>
              </a:rPr>
              <a:t>timestamped,</a:t>
            </a:r>
            <a:r>
              <a:rPr dirty="0" sz="1500" spc="80">
                <a:latin typeface="Microsoft Sans Serif"/>
                <a:cs typeface="Microsoft Sans Serif"/>
              </a:rPr>
              <a:t> </a:t>
            </a:r>
            <a:r>
              <a:rPr dirty="0" sz="1500" spc="95">
                <a:latin typeface="Microsoft Sans Serif"/>
                <a:cs typeface="Microsoft Sans Serif"/>
              </a:rPr>
              <a:t>and</a:t>
            </a:r>
            <a:r>
              <a:rPr dirty="0" sz="1500" spc="85">
                <a:latin typeface="Microsoft Sans Serif"/>
                <a:cs typeface="Microsoft Sans Serif"/>
              </a:rPr>
              <a:t> </a:t>
            </a:r>
            <a:r>
              <a:rPr dirty="0" sz="1500" spc="90">
                <a:latin typeface="Microsoft Sans Serif"/>
                <a:cs typeface="Microsoft Sans Serif"/>
              </a:rPr>
              <a:t>flagged</a:t>
            </a:r>
            <a:r>
              <a:rPr dirty="0" sz="1500" spc="80">
                <a:latin typeface="Microsoft Sans Serif"/>
                <a:cs typeface="Microsoft Sans Serif"/>
              </a:rPr>
              <a:t> </a:t>
            </a:r>
            <a:r>
              <a:rPr dirty="0" sz="1500" spc="620">
                <a:latin typeface="Microsoft Sans Serif"/>
                <a:cs typeface="Microsoft Sans Serif"/>
              </a:rPr>
              <a:t>—</a:t>
            </a:r>
            <a:r>
              <a:rPr dirty="0" sz="1500" spc="175">
                <a:latin typeface="Microsoft Sans Serif"/>
                <a:cs typeface="Microsoft Sans Serif"/>
              </a:rPr>
              <a:t> </a:t>
            </a:r>
            <a:r>
              <a:rPr dirty="0" sz="1500" spc="170" b="1">
                <a:latin typeface="Trebuchet MS"/>
                <a:cs typeface="Trebuchet MS"/>
              </a:rPr>
              <a:t>no</a:t>
            </a:r>
            <a:r>
              <a:rPr dirty="0" sz="1500" spc="85" b="1">
                <a:latin typeface="Trebuchet MS"/>
                <a:cs typeface="Trebuchet MS"/>
              </a:rPr>
              <a:t> </a:t>
            </a:r>
            <a:r>
              <a:rPr dirty="0" sz="1500" spc="125" b="1">
                <a:latin typeface="Trebuchet MS"/>
                <a:cs typeface="Trebuchet MS"/>
              </a:rPr>
              <a:t>vehicle</a:t>
            </a:r>
            <a:r>
              <a:rPr dirty="0" sz="1500" spc="80" b="1">
                <a:latin typeface="Trebuchet MS"/>
                <a:cs typeface="Trebuchet MS"/>
              </a:rPr>
              <a:t> </a:t>
            </a:r>
            <a:r>
              <a:rPr dirty="0" sz="1500" spc="150" b="1">
                <a:latin typeface="Trebuchet MS"/>
                <a:cs typeface="Trebuchet MS"/>
              </a:rPr>
              <a:t>enters</a:t>
            </a:r>
            <a:r>
              <a:rPr dirty="0" sz="1500" spc="85" b="1">
                <a:latin typeface="Trebuchet MS"/>
                <a:cs typeface="Trebuchet MS"/>
              </a:rPr>
              <a:t> </a:t>
            </a:r>
            <a:r>
              <a:rPr dirty="0" sz="1500" spc="140" b="1">
                <a:latin typeface="Trebuchet MS"/>
                <a:cs typeface="Trebuchet MS"/>
              </a:rPr>
              <a:t>anonymously.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4201"/>
            <a:ext cx="12192000" cy="523240"/>
            <a:chOff x="0" y="6334201"/>
            <a:chExt cx="12192000" cy="523240"/>
          </a:xfrm>
        </p:grpSpPr>
        <p:sp>
          <p:nvSpPr>
            <p:cNvPr id="3" name="object 3"/>
            <p:cNvSpPr/>
            <p:nvPr/>
          </p:nvSpPr>
          <p:spPr>
            <a:xfrm>
              <a:off x="0" y="6400444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1758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095885" y="456831"/>
                  </a:lnTo>
                  <a:lnTo>
                    <a:pt x="12191758" y="456831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BC5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6334201"/>
              <a:ext cx="12192000" cy="66040"/>
            </a:xfrm>
            <a:custGeom>
              <a:avLst/>
              <a:gdLst/>
              <a:ahLst/>
              <a:cxnLst/>
              <a:rect l="l" t="t" r="r" b="b"/>
              <a:pathLst>
                <a:path w="12192000" h="66039">
                  <a:moveTo>
                    <a:pt x="12191758" y="0"/>
                  </a:moveTo>
                  <a:lnTo>
                    <a:pt x="0" y="0"/>
                  </a:lnTo>
                  <a:lnTo>
                    <a:pt x="0" y="65519"/>
                  </a:lnTo>
                  <a:lnTo>
                    <a:pt x="6095885" y="65519"/>
                  </a:lnTo>
                  <a:lnTo>
                    <a:pt x="12191758" y="65519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E382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193406" y="1737715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47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76019" y="323176"/>
            <a:ext cx="8813800" cy="1378585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280" b="0">
                <a:solidFill>
                  <a:srgbClr val="3F3F3F"/>
                </a:solidFill>
                <a:latin typeface="Microsoft Sans Serif"/>
                <a:cs typeface="Microsoft Sans Serif"/>
              </a:rPr>
              <a:t>Smart</a:t>
            </a:r>
            <a:r>
              <a:rPr dirty="0" sz="4800" spc="150" b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185" b="0">
                <a:solidFill>
                  <a:srgbClr val="3F3F3F"/>
                </a:solidFill>
                <a:latin typeface="Microsoft Sans Serif"/>
                <a:cs typeface="Microsoft Sans Serif"/>
              </a:rPr>
              <a:t>Solutions</a:t>
            </a:r>
            <a:r>
              <a:rPr dirty="0" sz="4800" spc="160" b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235" b="0">
                <a:solidFill>
                  <a:srgbClr val="3F3F3F"/>
                </a:solidFill>
                <a:latin typeface="Microsoft Sans Serif"/>
                <a:cs typeface="Microsoft Sans Serif"/>
              </a:rPr>
              <a:t>Built</a:t>
            </a:r>
            <a:r>
              <a:rPr dirty="0" sz="4800" spc="150" b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254" b="0">
                <a:solidFill>
                  <a:srgbClr val="3F3F3F"/>
                </a:solidFill>
                <a:latin typeface="Microsoft Sans Serif"/>
                <a:cs typeface="Microsoft Sans Serif"/>
              </a:rPr>
              <a:t>Into</a:t>
            </a:r>
            <a:r>
              <a:rPr dirty="0" sz="4800" spc="160" b="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320" b="0">
                <a:solidFill>
                  <a:srgbClr val="3F3F3F"/>
                </a:solidFill>
                <a:latin typeface="Microsoft Sans Serif"/>
                <a:cs typeface="Microsoft Sans Serif"/>
              </a:rPr>
              <a:t>the </a:t>
            </a:r>
            <a:r>
              <a:rPr dirty="0" sz="4800" spc="245" b="0">
                <a:solidFill>
                  <a:srgbClr val="3F3F3F"/>
                </a:solidFill>
                <a:latin typeface="Microsoft Sans Serif"/>
                <a:cs typeface="Microsoft Sans Serif"/>
              </a:rPr>
              <a:t>System</a:t>
            </a:r>
            <a:endParaRPr sz="4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180" y="2280500"/>
            <a:ext cx="10040620" cy="296227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8905" marR="117475" indent="-109855">
              <a:lnSpc>
                <a:spcPts val="2160"/>
              </a:lnSpc>
              <a:spcBef>
                <a:spcPts val="370"/>
              </a:spcBef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Zero</a:t>
            </a:r>
            <a:r>
              <a:rPr dirty="0" sz="2000" spc="2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Digital</a:t>
            </a:r>
            <a:r>
              <a:rPr dirty="0" sz="2000" spc="2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3F3F3F"/>
                </a:solidFill>
                <a:latin typeface="Calibri"/>
                <a:cs typeface="Calibri"/>
              </a:rPr>
              <a:t>Records</a:t>
            </a:r>
            <a:r>
              <a:rPr dirty="0" sz="2000" spc="2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—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10">
                <a:solidFill>
                  <a:srgbClr val="3F3F3F"/>
                </a:solidFill>
                <a:latin typeface="Tahoma"/>
                <a:cs typeface="Tahoma"/>
              </a:rPr>
              <a:t>Every</a:t>
            </a:r>
            <a:r>
              <a:rPr dirty="0" sz="2000" spc="-16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entry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captured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3F3F3F"/>
                </a:solidFill>
                <a:latin typeface="Tahoma"/>
                <a:cs typeface="Tahoma"/>
              </a:rPr>
              <a:t>with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55">
                <a:solidFill>
                  <a:srgbClr val="3F3F3F"/>
                </a:solidFill>
                <a:latin typeface="Tahoma"/>
                <a:cs typeface="Tahoma"/>
              </a:rPr>
              <a:t>visitor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90">
                <a:solidFill>
                  <a:srgbClr val="3F3F3F"/>
                </a:solidFill>
                <a:latin typeface="Tahoma"/>
                <a:cs typeface="Tahoma"/>
              </a:rPr>
              <a:t>name,</a:t>
            </a:r>
            <a:r>
              <a:rPr dirty="0" sz="2000" spc="-16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3F3F3F"/>
                </a:solidFill>
                <a:latin typeface="Tahoma"/>
                <a:cs typeface="Tahoma"/>
              </a:rPr>
              <a:t>time,</a:t>
            </a:r>
            <a:r>
              <a:rPr dirty="0" sz="2000" spc="-16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date,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dirty="0" sz="2000" spc="-16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10">
                <a:solidFill>
                  <a:srgbClr val="3F3F3F"/>
                </a:solidFill>
                <a:latin typeface="Tahoma"/>
                <a:cs typeface="Tahoma"/>
              </a:rPr>
              <a:t>gate</a:t>
            </a:r>
            <a:r>
              <a:rPr dirty="0" sz="2000" spc="-16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number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in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dirty="0" sz="2000" spc="-12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structured,</a:t>
            </a:r>
            <a:r>
              <a:rPr dirty="0" sz="2000" spc="-114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searchable</a:t>
            </a:r>
            <a:r>
              <a:rPr dirty="0" sz="2000" spc="-11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database.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E38211"/>
              </a:buClr>
              <a:buFont typeface="Lucida Sans Unicode"/>
              <a:buChar char="▪"/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E38211"/>
              </a:buClr>
              <a:buFont typeface="Lucida Sans Unicode"/>
              <a:buChar char="▪"/>
            </a:pPr>
            <a:endParaRPr sz="2000">
              <a:latin typeface="Tahoma"/>
              <a:cs typeface="Tahoma"/>
            </a:endParaRPr>
          </a:p>
          <a:p>
            <a:pPr marL="128905" marR="297815" indent="-109855">
              <a:lnSpc>
                <a:spcPts val="2160"/>
              </a:lnSpc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dirty="0" sz="2000" spc="1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Incident</a:t>
            </a:r>
            <a:r>
              <a:rPr dirty="0" sz="2000" spc="1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3F3F3F"/>
                </a:solidFill>
                <a:latin typeface="Calibri"/>
                <a:cs typeface="Calibri"/>
              </a:rPr>
              <a:t>Trail</a:t>
            </a:r>
            <a:r>
              <a:rPr dirty="0" sz="2000" spc="3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3F3F3F"/>
                </a:solidFill>
                <a:latin typeface="Tahoma"/>
                <a:cs typeface="Tahoma"/>
              </a:rPr>
              <a:t>—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5">
                <a:solidFill>
                  <a:srgbClr val="3F3F3F"/>
                </a:solidFill>
                <a:latin typeface="Tahoma"/>
                <a:cs typeface="Tahoma"/>
              </a:rPr>
              <a:t>Time-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stamped,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searchable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records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every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entry/exit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event,</a:t>
            </a:r>
            <a:r>
              <a:rPr dirty="0" sz="2000" spc="-16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so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incidents </a:t>
            </a:r>
            <a:r>
              <a:rPr dirty="0" sz="2000" spc="-100">
                <a:solidFill>
                  <a:srgbClr val="3F3F3F"/>
                </a:solidFill>
                <a:latin typeface="Tahoma"/>
                <a:cs typeface="Tahoma"/>
              </a:rPr>
              <a:t>can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be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traced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3F3F3F"/>
                </a:solidFill>
                <a:latin typeface="Tahoma"/>
                <a:cs typeface="Tahoma"/>
              </a:rPr>
              <a:t>in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seconds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instead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scrubbing</a:t>
            </a:r>
            <a:r>
              <a:rPr dirty="0" sz="2000" spc="-13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hours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raw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CCTV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footage.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E38211"/>
              </a:buClr>
              <a:buFont typeface="Lucida Sans Unicode"/>
              <a:buChar char="▪"/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E38211"/>
              </a:buClr>
              <a:buFont typeface="Lucida Sans Unicode"/>
              <a:buChar char="▪"/>
            </a:pPr>
            <a:endParaRPr sz="2000">
              <a:latin typeface="Tahoma"/>
              <a:cs typeface="Tahoma"/>
            </a:endParaRPr>
          </a:p>
          <a:p>
            <a:pPr marL="128905" marR="17780" indent="-109855">
              <a:lnSpc>
                <a:spcPts val="2160"/>
              </a:lnSpc>
              <a:buClr>
                <a:srgbClr val="E38211"/>
              </a:buClr>
              <a:buSzPct val="95000"/>
              <a:buFont typeface="Lucida Sans Unicode"/>
              <a:buChar char="▪"/>
              <a:tabLst>
                <a:tab pos="128905" algn="l"/>
                <a:tab pos="153670" algn="l"/>
              </a:tabLst>
            </a:pP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Visitor</a:t>
            </a:r>
            <a:r>
              <a:rPr dirty="0" sz="2000" spc="2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3F3F3F"/>
                </a:solidFill>
                <a:latin typeface="Calibri"/>
                <a:cs typeface="Calibri"/>
              </a:rPr>
              <a:t>&amp;</a:t>
            </a:r>
            <a:r>
              <a:rPr dirty="0" sz="2000" spc="25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3F3F3F"/>
                </a:solidFill>
                <a:latin typeface="Calibri"/>
                <a:cs typeface="Calibri"/>
              </a:rPr>
              <a:t>Vehicle</a:t>
            </a:r>
            <a:r>
              <a:rPr dirty="0" sz="2000" spc="25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00" spc="-30" b="1">
                <a:solidFill>
                  <a:srgbClr val="3F3F3F"/>
                </a:solidFill>
                <a:latin typeface="Calibri"/>
                <a:cs typeface="Calibri"/>
              </a:rPr>
              <a:t>Tracking</a:t>
            </a:r>
            <a:r>
              <a:rPr dirty="0" sz="2000" spc="-30">
                <a:solidFill>
                  <a:srgbClr val="3F3F3F"/>
                </a:solidFill>
                <a:latin typeface="Tahoma"/>
                <a:cs typeface="Tahoma"/>
              </a:rPr>
              <a:t>—</a:t>
            </a:r>
            <a:r>
              <a:rPr dirty="0" sz="2000" spc="-16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Complete</a:t>
            </a:r>
            <a:r>
              <a:rPr dirty="0" sz="2000" spc="-1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record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every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0">
                <a:solidFill>
                  <a:srgbClr val="3F3F3F"/>
                </a:solidFill>
                <a:latin typeface="Tahoma"/>
                <a:cs typeface="Tahoma"/>
              </a:rPr>
              <a:t>state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vehicle's</a:t>
            </a:r>
            <a:r>
              <a:rPr dirty="0" sz="2000" spc="-15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3F3F3F"/>
                </a:solidFill>
                <a:latin typeface="Tahoma"/>
                <a:cs typeface="Tahoma"/>
              </a:rPr>
              <a:t>visits,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including</a:t>
            </a:r>
            <a:r>
              <a:rPr dirty="0" sz="2000" spc="-15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3F3F3F"/>
                </a:solidFill>
                <a:latin typeface="Tahoma"/>
                <a:cs typeface="Tahoma"/>
              </a:rPr>
              <a:t>frequency, </a:t>
            </a:r>
            <a:r>
              <a:rPr dirty="0" sz="2000" spc="-75">
                <a:solidFill>
                  <a:srgbClr val="3F3F3F"/>
                </a:solidFill>
                <a:latin typeface="Tahoma"/>
                <a:cs typeface="Tahoma"/>
              </a:rPr>
              <a:t>purpose,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dirty="0" sz="2000" spc="-14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duration</a:t>
            </a:r>
            <a:r>
              <a:rPr dirty="0" sz="2000" spc="-13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65">
                <a:solidFill>
                  <a:srgbClr val="3F3F3F"/>
                </a:solidFill>
                <a:latin typeface="Tahoma"/>
                <a:cs typeface="Tahoma"/>
              </a:rPr>
              <a:t>on</a:t>
            </a:r>
            <a:r>
              <a:rPr dirty="0" sz="2000" spc="-13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F3F3F"/>
                </a:solidFill>
                <a:latin typeface="Tahoma"/>
                <a:cs typeface="Tahoma"/>
              </a:rPr>
              <a:t>campus.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4201"/>
            <a:ext cx="12192000" cy="523240"/>
            <a:chOff x="0" y="6334201"/>
            <a:chExt cx="12192000" cy="523240"/>
          </a:xfrm>
        </p:grpSpPr>
        <p:sp>
          <p:nvSpPr>
            <p:cNvPr id="3" name="object 3"/>
            <p:cNvSpPr/>
            <p:nvPr/>
          </p:nvSpPr>
          <p:spPr>
            <a:xfrm>
              <a:off x="0" y="6400444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1758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095885" y="456831"/>
                  </a:lnTo>
                  <a:lnTo>
                    <a:pt x="12191758" y="456831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BC5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6334201"/>
              <a:ext cx="12192000" cy="66040"/>
            </a:xfrm>
            <a:custGeom>
              <a:avLst/>
              <a:gdLst/>
              <a:ahLst/>
              <a:cxnLst/>
              <a:rect l="l" t="t" r="r" b="b"/>
              <a:pathLst>
                <a:path w="12192000" h="66039">
                  <a:moveTo>
                    <a:pt x="12191758" y="0"/>
                  </a:moveTo>
                  <a:lnTo>
                    <a:pt x="0" y="0"/>
                  </a:lnTo>
                  <a:lnTo>
                    <a:pt x="0" y="65519"/>
                  </a:lnTo>
                  <a:lnTo>
                    <a:pt x="6095885" y="65519"/>
                  </a:lnTo>
                  <a:lnTo>
                    <a:pt x="12191758" y="65519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E382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193406" y="1737715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47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76019" y="323176"/>
            <a:ext cx="9022080" cy="1378585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635" b="0">
                <a:solidFill>
                  <a:srgbClr val="393939"/>
                </a:solidFill>
                <a:latin typeface="Microsoft Sans Serif"/>
                <a:cs typeface="Microsoft Sans Serif"/>
              </a:rPr>
              <a:t>T</a:t>
            </a:r>
            <a:r>
              <a:rPr dirty="0" sz="4800" spc="195" b="0">
                <a:solidFill>
                  <a:srgbClr val="393939"/>
                </a:solidFill>
                <a:latin typeface="Microsoft Sans Serif"/>
                <a:cs typeface="Microsoft Sans Serif"/>
              </a:rPr>
              <a:t>e</a:t>
            </a:r>
            <a:r>
              <a:rPr dirty="0" sz="4800" spc="200" b="0">
                <a:solidFill>
                  <a:srgbClr val="393939"/>
                </a:solidFill>
                <a:latin typeface="Microsoft Sans Serif"/>
                <a:cs typeface="Microsoft Sans Serif"/>
              </a:rPr>
              <a:t>c</a:t>
            </a:r>
            <a:r>
              <a:rPr dirty="0" sz="4800" spc="240" b="0">
                <a:solidFill>
                  <a:srgbClr val="393939"/>
                </a:solidFill>
                <a:latin typeface="Microsoft Sans Serif"/>
                <a:cs typeface="Microsoft Sans Serif"/>
              </a:rPr>
              <a:t>h</a:t>
            </a:r>
            <a:r>
              <a:rPr dirty="0" sz="4800" spc="130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190" b="0">
                <a:solidFill>
                  <a:srgbClr val="393939"/>
                </a:solidFill>
                <a:latin typeface="Microsoft Sans Serif"/>
                <a:cs typeface="Microsoft Sans Serif"/>
              </a:rPr>
              <a:t>Stack,</a:t>
            </a:r>
            <a:r>
              <a:rPr dirty="0" sz="4800" spc="120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310" b="0">
                <a:solidFill>
                  <a:srgbClr val="393939"/>
                </a:solidFill>
                <a:latin typeface="Microsoft Sans Serif"/>
                <a:cs typeface="Microsoft Sans Serif"/>
              </a:rPr>
              <a:t>Implementation</a:t>
            </a:r>
            <a:r>
              <a:rPr dirty="0" sz="4800" spc="130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459" b="0">
                <a:solidFill>
                  <a:srgbClr val="393939"/>
                </a:solidFill>
                <a:latin typeface="Microsoft Sans Serif"/>
                <a:cs typeface="Microsoft Sans Serif"/>
              </a:rPr>
              <a:t>&amp; </a:t>
            </a:r>
            <a:r>
              <a:rPr dirty="0" sz="4800" spc="150" b="0">
                <a:solidFill>
                  <a:srgbClr val="393939"/>
                </a:solidFill>
                <a:latin typeface="Microsoft Sans Serif"/>
                <a:cs typeface="Microsoft Sans Serif"/>
              </a:rPr>
              <a:t>Proven</a:t>
            </a:r>
            <a:r>
              <a:rPr dirty="0" sz="4800" spc="190" b="0">
                <a:solidFill>
                  <a:srgbClr val="393939"/>
                </a:solidFill>
                <a:latin typeface="Microsoft Sans Serif"/>
                <a:cs typeface="Microsoft Sans Serif"/>
              </a:rPr>
              <a:t> </a:t>
            </a:r>
            <a:r>
              <a:rPr dirty="0" sz="4800" spc="165" b="0">
                <a:solidFill>
                  <a:srgbClr val="393939"/>
                </a:solidFill>
                <a:latin typeface="Microsoft Sans Serif"/>
                <a:cs typeface="Microsoft Sans Serif"/>
              </a:rPr>
              <a:t>Feasibility</a:t>
            </a:r>
            <a:endParaRPr sz="4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dirty="0" spc="400"/>
              <a:t> </a:t>
            </a:r>
            <a:r>
              <a:rPr dirty="0" spc="35"/>
              <a:t>Stack</a:t>
            </a:r>
          </a:p>
          <a:p>
            <a:pPr marL="288290" marR="598170" indent="-161925">
              <a:lnSpc>
                <a:spcPct val="123900"/>
              </a:lnSpc>
              <a:spcBef>
                <a:spcPts val="1019"/>
              </a:spcBef>
              <a:buFont typeface="Lucida Sans Unicode"/>
              <a:buChar char="•"/>
              <a:tabLst>
                <a:tab pos="289560" algn="l"/>
              </a:tabLst>
            </a:pPr>
            <a:r>
              <a:rPr dirty="0" sz="1500" spc="180" b="1">
                <a:latin typeface="Trebuchet MS"/>
                <a:cs typeface="Trebuchet MS"/>
              </a:rPr>
              <a:t>Camera</a:t>
            </a:r>
            <a:r>
              <a:rPr dirty="0" sz="1500" spc="85" b="1">
                <a:latin typeface="Trebuchet MS"/>
                <a:cs typeface="Trebuchet MS"/>
              </a:rPr>
              <a:t> </a:t>
            </a:r>
            <a:r>
              <a:rPr dirty="0" sz="1500" spc="240" b="1">
                <a:latin typeface="Trebuchet MS"/>
                <a:cs typeface="Trebuchet MS"/>
              </a:rPr>
              <a:t>&amp;</a:t>
            </a:r>
            <a:r>
              <a:rPr dirty="0" sz="1500" spc="90" b="1">
                <a:latin typeface="Trebuchet MS"/>
                <a:cs typeface="Trebuchet MS"/>
              </a:rPr>
              <a:t> </a:t>
            </a:r>
            <a:r>
              <a:rPr dirty="0" sz="1500" spc="165" b="1">
                <a:latin typeface="Trebuchet MS"/>
                <a:cs typeface="Trebuchet MS"/>
              </a:rPr>
              <a:t>OCR:</a:t>
            </a:r>
            <a:r>
              <a:rPr dirty="0" sz="1500" spc="45" b="1">
                <a:latin typeface="Trebuchet MS"/>
                <a:cs typeface="Trebuchet MS"/>
              </a:rPr>
              <a:t> </a:t>
            </a:r>
            <a:r>
              <a:rPr dirty="0" sz="1500" spc="75"/>
              <a:t>Python,</a:t>
            </a:r>
            <a:r>
              <a:rPr dirty="0" sz="1500" spc="85"/>
              <a:t> </a:t>
            </a:r>
            <a:r>
              <a:rPr dirty="0" sz="1500" spc="35"/>
              <a:t>OpenCV, </a:t>
            </a:r>
            <a:r>
              <a:rPr dirty="0" sz="1500" spc="35"/>
              <a:t>	</a:t>
            </a:r>
            <a:r>
              <a:rPr dirty="0" sz="1500"/>
              <a:t>EasyOCR</a:t>
            </a:r>
            <a:r>
              <a:rPr dirty="0" sz="1500" spc="85"/>
              <a:t> </a:t>
            </a:r>
            <a:r>
              <a:rPr dirty="0" sz="1500" spc="620"/>
              <a:t>—</a:t>
            </a:r>
            <a:r>
              <a:rPr dirty="0" sz="1500" spc="100"/>
              <a:t> </a:t>
            </a:r>
            <a:r>
              <a:rPr dirty="0" sz="1500" spc="80"/>
              <a:t>Indian</a:t>
            </a:r>
            <a:r>
              <a:rPr dirty="0" sz="1500" spc="90"/>
              <a:t> </a:t>
            </a:r>
            <a:r>
              <a:rPr dirty="0" sz="1500" spc="85"/>
              <a:t>plates</a:t>
            </a:r>
            <a:r>
              <a:rPr dirty="0" sz="1500" spc="100"/>
              <a:t> </a:t>
            </a:r>
            <a:r>
              <a:rPr dirty="0" sz="1500" spc="90"/>
              <a:t>in </a:t>
            </a:r>
            <a:r>
              <a:rPr dirty="0" sz="1500" spc="70"/>
              <a:t>real</a:t>
            </a:r>
            <a:r>
              <a:rPr dirty="0" sz="1500" spc="105"/>
              <a:t> time</a:t>
            </a:r>
            <a:endParaRPr sz="1500">
              <a:latin typeface="Trebuchet MS"/>
              <a:cs typeface="Trebuchet MS"/>
            </a:endParaRPr>
          </a:p>
          <a:p>
            <a:pPr marL="288290" marR="397510" indent="-161925">
              <a:lnSpc>
                <a:spcPct val="123900"/>
              </a:lnSpc>
              <a:buFont typeface="Lucida Sans Unicode"/>
              <a:buChar char="•"/>
              <a:tabLst>
                <a:tab pos="289560" algn="l"/>
              </a:tabLst>
            </a:pPr>
            <a:r>
              <a:rPr dirty="0" sz="1500" spc="155" b="1">
                <a:latin typeface="Trebuchet MS"/>
                <a:cs typeface="Trebuchet MS"/>
              </a:rPr>
              <a:t>Backend:</a:t>
            </a:r>
            <a:r>
              <a:rPr dirty="0" sz="1500" spc="20" b="1">
                <a:latin typeface="Trebuchet MS"/>
                <a:cs typeface="Trebuchet MS"/>
              </a:rPr>
              <a:t> </a:t>
            </a:r>
            <a:r>
              <a:rPr dirty="0" sz="1500"/>
              <a:t>FastAPI</a:t>
            </a:r>
            <a:r>
              <a:rPr dirty="0" sz="1500" spc="80"/>
              <a:t> </a:t>
            </a:r>
            <a:r>
              <a:rPr dirty="0" sz="1500" spc="620"/>
              <a:t>—</a:t>
            </a:r>
            <a:r>
              <a:rPr dirty="0" sz="1500" spc="85"/>
              <a:t> </a:t>
            </a:r>
            <a:r>
              <a:rPr dirty="0" sz="1500" spc="80"/>
              <a:t>queries</a:t>
            </a:r>
            <a:r>
              <a:rPr dirty="0" sz="1500" spc="75"/>
              <a:t> </a:t>
            </a:r>
            <a:r>
              <a:rPr dirty="0" sz="1500" spc="70"/>
              <a:t>database, </a:t>
            </a:r>
            <a:r>
              <a:rPr dirty="0" sz="1500" spc="70"/>
              <a:t>	</a:t>
            </a:r>
            <a:r>
              <a:rPr dirty="0" sz="1500" spc="75"/>
              <a:t>applies</a:t>
            </a:r>
            <a:r>
              <a:rPr dirty="0" sz="1500" spc="85"/>
              <a:t> </a:t>
            </a:r>
            <a:r>
              <a:rPr dirty="0" sz="1500" spc="75"/>
              <a:t>rules,</a:t>
            </a:r>
            <a:r>
              <a:rPr dirty="0" sz="1500" spc="90"/>
              <a:t> returns</a:t>
            </a:r>
            <a:r>
              <a:rPr dirty="0" sz="1500" spc="85"/>
              <a:t> </a:t>
            </a:r>
            <a:r>
              <a:rPr dirty="0" sz="1500" spc="75"/>
              <a:t>decision</a:t>
            </a:r>
            <a:r>
              <a:rPr dirty="0" sz="1500" spc="85"/>
              <a:t> </a:t>
            </a:r>
            <a:r>
              <a:rPr dirty="0" sz="1500" spc="100"/>
              <a:t>under</a:t>
            </a:r>
            <a:r>
              <a:rPr dirty="0" sz="1500" spc="85"/>
              <a:t> </a:t>
            </a:r>
            <a:r>
              <a:rPr dirty="0" sz="1500" spc="55"/>
              <a:t>2 	seconds</a:t>
            </a:r>
            <a:endParaRPr sz="1500">
              <a:latin typeface="Trebuchet MS"/>
              <a:cs typeface="Trebuchet MS"/>
            </a:endParaRPr>
          </a:p>
          <a:p>
            <a:pPr marL="288290" marR="554990" indent="-161925">
              <a:lnSpc>
                <a:spcPct val="123900"/>
              </a:lnSpc>
              <a:buFont typeface="Lucida Sans Unicode"/>
              <a:buChar char="•"/>
              <a:tabLst>
                <a:tab pos="289560" algn="l"/>
              </a:tabLst>
            </a:pPr>
            <a:r>
              <a:rPr dirty="0" sz="1500" spc="175" b="1">
                <a:latin typeface="Trebuchet MS"/>
                <a:cs typeface="Trebuchet MS"/>
              </a:rPr>
              <a:t>Database:</a:t>
            </a:r>
            <a:r>
              <a:rPr dirty="0" sz="1500" spc="140" b="1">
                <a:latin typeface="Trebuchet MS"/>
                <a:cs typeface="Trebuchet MS"/>
              </a:rPr>
              <a:t> </a:t>
            </a:r>
            <a:r>
              <a:rPr dirty="0" sz="1500"/>
              <a:t>PostgreSQL</a:t>
            </a:r>
            <a:r>
              <a:rPr dirty="0" sz="1500" spc="200"/>
              <a:t> </a:t>
            </a:r>
            <a:r>
              <a:rPr dirty="0" sz="1500" spc="620"/>
              <a:t>—</a:t>
            </a:r>
            <a:r>
              <a:rPr dirty="0" sz="1500" spc="195"/>
              <a:t> </a:t>
            </a:r>
            <a:r>
              <a:rPr dirty="0" sz="1500" spc="70"/>
              <a:t>plates, </a:t>
            </a:r>
            <a:r>
              <a:rPr dirty="0" sz="1500" spc="70"/>
              <a:t>	</a:t>
            </a:r>
            <a:r>
              <a:rPr dirty="0" sz="1500" spc="105"/>
              <a:t>timestamps,</a:t>
            </a:r>
            <a:r>
              <a:rPr dirty="0" sz="1500" spc="85"/>
              <a:t> images,</a:t>
            </a:r>
            <a:r>
              <a:rPr dirty="0" sz="1500" spc="80"/>
              <a:t> </a:t>
            </a:r>
            <a:r>
              <a:rPr dirty="0" sz="1500" spc="85"/>
              <a:t>gates,</a:t>
            </a:r>
            <a:r>
              <a:rPr dirty="0" sz="1500" spc="95"/>
              <a:t> </a:t>
            </a:r>
            <a:r>
              <a:rPr dirty="0" sz="1500" spc="60"/>
              <a:t>decisions</a:t>
            </a:r>
            <a:endParaRPr sz="1500">
              <a:latin typeface="Trebuchet MS"/>
              <a:cs typeface="Trebuchet MS"/>
            </a:endParaRPr>
          </a:p>
          <a:p>
            <a:pPr marL="288290" marR="109220" indent="-161925">
              <a:lnSpc>
                <a:spcPct val="123900"/>
              </a:lnSpc>
              <a:buFont typeface="Lucida Sans Unicode"/>
              <a:buChar char="•"/>
              <a:tabLst>
                <a:tab pos="289560" algn="l"/>
              </a:tabLst>
            </a:pPr>
            <a:r>
              <a:rPr dirty="0" sz="1500" spc="175" b="1">
                <a:latin typeface="Trebuchet MS"/>
                <a:cs typeface="Trebuchet MS"/>
              </a:rPr>
              <a:t>Dashboard:</a:t>
            </a:r>
            <a:r>
              <a:rPr dirty="0" sz="1500" spc="40" b="1">
                <a:latin typeface="Trebuchet MS"/>
                <a:cs typeface="Trebuchet MS"/>
              </a:rPr>
              <a:t> </a:t>
            </a:r>
            <a:r>
              <a:rPr dirty="0" sz="1500" spc="50"/>
              <a:t>React</a:t>
            </a:r>
            <a:r>
              <a:rPr dirty="0" sz="1500" spc="90"/>
              <a:t> </a:t>
            </a:r>
            <a:r>
              <a:rPr dirty="0" sz="1500" spc="620"/>
              <a:t>—</a:t>
            </a:r>
            <a:r>
              <a:rPr dirty="0" sz="1500" spc="90"/>
              <a:t> live</a:t>
            </a:r>
            <a:r>
              <a:rPr dirty="0" sz="1500" spc="85"/>
              <a:t> entries,</a:t>
            </a:r>
            <a:r>
              <a:rPr dirty="0" sz="1500" spc="80"/>
              <a:t> flagged </a:t>
            </a:r>
            <a:r>
              <a:rPr dirty="0" sz="1500" spc="80"/>
              <a:t>	</a:t>
            </a:r>
            <a:r>
              <a:rPr dirty="0" sz="1500" spc="75"/>
              <a:t>vehicles,</a:t>
            </a:r>
            <a:r>
              <a:rPr dirty="0" sz="1500" spc="25"/>
              <a:t> </a:t>
            </a:r>
            <a:r>
              <a:rPr dirty="0" sz="1500"/>
              <a:t>PDF</a:t>
            </a:r>
            <a:r>
              <a:rPr dirty="0" sz="1500" spc="35"/>
              <a:t> </a:t>
            </a:r>
            <a:r>
              <a:rPr dirty="0" sz="1500" spc="75"/>
              <a:t>reports</a:t>
            </a:r>
            <a:endParaRPr sz="1500">
              <a:latin typeface="Trebuchet MS"/>
              <a:cs typeface="Trebuchet MS"/>
            </a:endParaRPr>
          </a:p>
          <a:p>
            <a:pPr marL="288290" marR="43180" indent="-161925">
              <a:lnSpc>
                <a:spcPct val="123900"/>
              </a:lnSpc>
              <a:buFont typeface="Lucida Sans Unicode"/>
              <a:buChar char="•"/>
              <a:tabLst>
                <a:tab pos="289560" algn="l"/>
              </a:tabLst>
            </a:pPr>
            <a:r>
              <a:rPr dirty="0" sz="1500" spc="100" b="1">
                <a:latin typeface="Trebuchet MS"/>
                <a:cs typeface="Trebuchet MS"/>
              </a:rPr>
              <a:t>Pre-</a:t>
            </a:r>
            <a:r>
              <a:rPr dirty="0" sz="1500" spc="130" b="1">
                <a:latin typeface="Trebuchet MS"/>
                <a:cs typeface="Trebuchet MS"/>
              </a:rPr>
              <a:t>Visitor</a:t>
            </a:r>
            <a:r>
              <a:rPr dirty="0" sz="1500" spc="90" b="1">
                <a:latin typeface="Trebuchet MS"/>
                <a:cs typeface="Trebuchet MS"/>
              </a:rPr>
              <a:t> </a:t>
            </a:r>
            <a:r>
              <a:rPr dirty="0" sz="1500" spc="130" b="1">
                <a:latin typeface="Trebuchet MS"/>
                <a:cs typeface="Trebuchet MS"/>
              </a:rPr>
              <a:t>Portal:</a:t>
            </a:r>
            <a:r>
              <a:rPr dirty="0" sz="1500" spc="55" b="1">
                <a:latin typeface="Trebuchet MS"/>
                <a:cs typeface="Trebuchet MS"/>
              </a:rPr>
              <a:t> </a:t>
            </a:r>
            <a:r>
              <a:rPr dirty="0" sz="1500" spc="65"/>
              <a:t>Mobile-</a:t>
            </a:r>
            <a:r>
              <a:rPr dirty="0" sz="1500" spc="100"/>
              <a:t>friendly</a:t>
            </a:r>
            <a:r>
              <a:rPr dirty="0" sz="1500" spc="90"/>
              <a:t> </a:t>
            </a:r>
            <a:r>
              <a:rPr dirty="0" sz="1500" spc="100"/>
              <a:t>web </a:t>
            </a:r>
            <a:r>
              <a:rPr dirty="0" sz="1500" spc="570"/>
              <a:t>— </a:t>
            </a:r>
            <a:r>
              <a:rPr dirty="0" sz="1500" spc="570"/>
              <a:t>	</a:t>
            </a:r>
            <a:r>
              <a:rPr dirty="0" sz="1500" spc="85"/>
              <a:t>no</a:t>
            </a:r>
            <a:r>
              <a:rPr dirty="0" sz="1500" spc="80"/>
              <a:t> </a:t>
            </a:r>
            <a:r>
              <a:rPr dirty="0" sz="1500" spc="95"/>
              <a:t>app</a:t>
            </a:r>
            <a:r>
              <a:rPr dirty="0" sz="1500" spc="80"/>
              <a:t> </a:t>
            </a:r>
            <a:r>
              <a:rPr dirty="0" sz="1500" spc="75"/>
              <a:t>needed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26479" y="2063521"/>
            <a:ext cx="0" cy="3808729"/>
          </a:xfrm>
          <a:custGeom>
            <a:avLst/>
            <a:gdLst/>
            <a:ahLst/>
            <a:cxnLst/>
            <a:rect l="l" t="t" r="r" b="b"/>
            <a:pathLst>
              <a:path w="0" h="3808729">
                <a:moveTo>
                  <a:pt x="0" y="0"/>
                </a:moveTo>
                <a:lnTo>
                  <a:pt x="0" y="3808437"/>
                </a:lnTo>
              </a:path>
            </a:pathLst>
          </a:custGeom>
          <a:ln w="12599">
            <a:solidFill>
              <a:srgbClr val="E382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824065" y="3735628"/>
            <a:ext cx="96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24065" y="4466780"/>
            <a:ext cx="96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4065" y="2059754"/>
            <a:ext cx="4764405" cy="317563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 marR="102870">
              <a:lnSpc>
                <a:spcPct val="100000"/>
              </a:lnSpc>
              <a:spcBef>
                <a:spcPts val="455"/>
              </a:spcBef>
            </a:pPr>
            <a:r>
              <a:rPr dirty="0" sz="1600" spc="-10">
                <a:latin typeface="Tahoma"/>
                <a:cs typeface="Tahoma"/>
              </a:rPr>
              <a:t>Loophole??!!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u="sng" sz="1600" spc="-12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Novelty</a:t>
            </a:r>
            <a:r>
              <a:rPr dirty="0" u="sng" sz="1600" spc="-9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00" spc="27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—</a:t>
            </a:r>
            <a:r>
              <a:rPr dirty="0" u="sng" sz="1600" spc="29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00" spc="-11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Government</a:t>
            </a:r>
            <a:r>
              <a:rPr dirty="0" u="sng" sz="1600" spc="-9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00" spc="-13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Vahan</a:t>
            </a:r>
            <a:r>
              <a:rPr dirty="0" u="sng" sz="1600" spc="-8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00" spc="-2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API</a:t>
            </a:r>
            <a:r>
              <a:rPr dirty="0" u="sng" sz="1600" spc="5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endParaRPr sz="1600">
              <a:latin typeface="Trebuchet MS"/>
              <a:cs typeface="Trebuchet MS"/>
            </a:endParaRPr>
          </a:p>
          <a:p>
            <a:pPr marL="298450" marR="96520" indent="-28638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600" spc="-60">
                <a:latin typeface="Tahoma"/>
                <a:cs typeface="Tahoma"/>
              </a:rPr>
              <a:t>Plate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65">
                <a:latin typeface="Tahoma"/>
                <a:cs typeface="Tahoma"/>
              </a:rPr>
              <a:t>number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50">
                <a:latin typeface="Tahoma"/>
                <a:cs typeface="Tahoma"/>
              </a:rPr>
              <a:t>is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65">
                <a:latin typeface="Tahoma"/>
                <a:cs typeface="Tahoma"/>
              </a:rPr>
              <a:t>read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80">
                <a:latin typeface="Tahoma"/>
                <a:cs typeface="Tahoma"/>
              </a:rPr>
              <a:t>by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 spc="-80">
                <a:latin typeface="Tahoma"/>
                <a:cs typeface="Tahoma"/>
              </a:rPr>
              <a:t>camera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—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one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114">
                <a:latin typeface="Tahoma"/>
                <a:cs typeface="Tahoma"/>
              </a:rPr>
              <a:t>API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45">
                <a:latin typeface="Tahoma"/>
                <a:cs typeface="Tahoma"/>
              </a:rPr>
              <a:t>call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to </a:t>
            </a:r>
            <a:r>
              <a:rPr dirty="0" sz="1600" spc="-75">
                <a:latin typeface="Tahoma"/>
                <a:cs typeface="Tahoma"/>
              </a:rPr>
              <a:t>government </a:t>
            </a:r>
            <a:r>
              <a:rPr dirty="0" sz="1600" spc="-90">
                <a:latin typeface="Tahoma"/>
                <a:cs typeface="Tahoma"/>
              </a:rPr>
              <a:t>Vahan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database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instantly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returns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vehicle </a:t>
            </a:r>
            <a:r>
              <a:rPr dirty="0" sz="1600" spc="-80">
                <a:latin typeface="Tahoma"/>
                <a:cs typeface="Tahoma"/>
              </a:rPr>
              <a:t>class,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owner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details,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blacklist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 spc="-80">
                <a:latin typeface="Tahoma"/>
                <a:cs typeface="Tahoma"/>
              </a:rPr>
              <a:t>status,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 spc="-45">
                <a:latin typeface="Tahoma"/>
                <a:cs typeface="Tahoma"/>
              </a:rPr>
              <a:t>fuel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type, </a:t>
            </a:r>
            <a:r>
              <a:rPr dirty="0" sz="1600" spc="-65">
                <a:latin typeface="Tahoma"/>
                <a:cs typeface="Tahoma"/>
              </a:rPr>
              <a:t>insurance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status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etc.</a:t>
            </a:r>
            <a:endParaRPr sz="1600">
              <a:latin typeface="Tahoma"/>
              <a:cs typeface="Tahoma"/>
            </a:endParaRPr>
          </a:p>
          <a:p>
            <a:pPr marL="298450" marR="31115">
              <a:lnSpc>
                <a:spcPts val="1920"/>
              </a:lnSpc>
              <a:spcBef>
                <a:spcPts val="60"/>
              </a:spcBef>
            </a:pPr>
            <a:r>
              <a:rPr dirty="0" sz="1600" spc="-60">
                <a:latin typeface="Tahoma"/>
                <a:cs typeface="Tahoma"/>
              </a:rPr>
              <a:t>Vehicle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class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 spc="-65">
                <a:latin typeface="Tahoma"/>
                <a:cs typeface="Tahoma"/>
              </a:rPr>
              <a:t>decides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 spc="-45">
                <a:latin typeface="Tahoma"/>
                <a:cs typeface="Tahoma"/>
              </a:rPr>
              <a:t>time</a:t>
            </a:r>
            <a:r>
              <a:rPr dirty="0" sz="1600" spc="-105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automatically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—</a:t>
            </a:r>
            <a:r>
              <a:rPr dirty="0" sz="1600" spc="-10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Motor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Cab </a:t>
            </a:r>
            <a:r>
              <a:rPr dirty="0" sz="1600" spc="-90">
                <a:latin typeface="Tahoma"/>
                <a:cs typeface="Tahoma"/>
              </a:rPr>
              <a:t>gets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1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90">
                <a:latin typeface="Tahoma"/>
                <a:cs typeface="Tahoma"/>
              </a:rPr>
              <a:t>hour,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Goods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Carrier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90">
                <a:latin typeface="Tahoma"/>
                <a:cs typeface="Tahoma"/>
              </a:rPr>
              <a:t>gets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6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hours,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2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wheelers </a:t>
            </a:r>
            <a:r>
              <a:rPr dirty="0" sz="1600" spc="-90">
                <a:latin typeface="Tahoma"/>
                <a:cs typeface="Tahoma"/>
              </a:rPr>
              <a:t>gets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100">
                <a:latin typeface="Tahoma"/>
                <a:cs typeface="Tahoma"/>
              </a:rPr>
              <a:t>2-</a:t>
            </a:r>
            <a:r>
              <a:rPr dirty="0" sz="1600" spc="-70">
                <a:latin typeface="Tahoma"/>
                <a:cs typeface="Tahoma"/>
              </a:rPr>
              <a:t>3</a:t>
            </a:r>
            <a:r>
              <a:rPr dirty="0" sz="1600" spc="-105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hours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depending</a:t>
            </a:r>
            <a:r>
              <a:rPr dirty="0" sz="1600" spc="-105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on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requirements.</a:t>
            </a:r>
            <a:endParaRPr sz="1600">
              <a:latin typeface="Tahoma"/>
              <a:cs typeface="Tahoma"/>
            </a:endParaRPr>
          </a:p>
          <a:p>
            <a:pPr marL="298450">
              <a:lnSpc>
                <a:spcPts val="1855"/>
              </a:lnSpc>
            </a:pPr>
            <a:r>
              <a:rPr dirty="0" sz="1600" spc="-60">
                <a:latin typeface="Tahoma"/>
                <a:cs typeface="Tahoma"/>
              </a:rPr>
              <a:t>Blacklisted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or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suspended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65">
                <a:latin typeface="Tahoma"/>
                <a:cs typeface="Tahoma"/>
              </a:rPr>
              <a:t>vehicles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65">
                <a:latin typeface="Tahoma"/>
                <a:cs typeface="Tahoma"/>
              </a:rPr>
              <a:t>trigger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instant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guard</a:t>
            </a:r>
            <a:endParaRPr sz="1600">
              <a:latin typeface="Tahoma"/>
              <a:cs typeface="Tahoma"/>
            </a:endParaRPr>
          </a:p>
          <a:p>
            <a:pPr marL="298450" marR="17145">
              <a:lnSpc>
                <a:spcPct val="100000"/>
              </a:lnSpc>
            </a:pPr>
            <a:r>
              <a:rPr dirty="0" sz="1600" spc="-45">
                <a:latin typeface="Tahoma"/>
                <a:cs typeface="Tahoma"/>
              </a:rPr>
              <a:t>alert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—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no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vehicle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enters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anonymously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even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if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flagged </a:t>
            </a:r>
            <a:r>
              <a:rPr dirty="0" sz="1600" spc="-80">
                <a:latin typeface="Tahoma"/>
                <a:cs typeface="Tahoma"/>
              </a:rPr>
              <a:t>by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RTO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2522636" y="1879854"/>
            <a:ext cx="409384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" b="1">
                <a:latin typeface="Arial"/>
                <a:cs typeface="Arial"/>
              </a:rPr>
              <a:t>CampusPrep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2878092"/>
            <a:ext cx="6959600" cy="79819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2960"/>
              </a:lnSpc>
              <a:spcBef>
                <a:spcPts val="330"/>
              </a:spcBef>
            </a:pPr>
            <a:r>
              <a:rPr dirty="0" sz="2600" b="1">
                <a:latin typeface="Arial"/>
                <a:cs typeface="Arial"/>
              </a:rPr>
              <a:t>Campus</a:t>
            </a:r>
            <a:r>
              <a:rPr dirty="0" sz="2600" spc="-12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Specific</a:t>
            </a:r>
            <a:r>
              <a:rPr dirty="0" sz="2600" spc="-12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Placement</a:t>
            </a:r>
            <a:r>
              <a:rPr dirty="0" sz="2600" spc="-12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Experience</a:t>
            </a:r>
            <a:r>
              <a:rPr dirty="0" sz="2600" spc="-125" b="1">
                <a:latin typeface="Arial"/>
                <a:cs typeface="Arial"/>
              </a:rPr>
              <a:t> </a:t>
            </a:r>
            <a:r>
              <a:rPr dirty="0" sz="2600" spc="-25" b="1">
                <a:latin typeface="Arial"/>
                <a:cs typeface="Arial"/>
              </a:rPr>
              <a:t>and </a:t>
            </a:r>
            <a:r>
              <a:rPr dirty="0" sz="2600" b="1">
                <a:latin typeface="Arial"/>
                <a:cs typeface="Arial"/>
              </a:rPr>
              <a:t>Preparation</a:t>
            </a:r>
            <a:r>
              <a:rPr dirty="0" sz="2600" spc="5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Platform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454037"/>
            <a:ext cx="4191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35"/>
              <a:t> </a:t>
            </a:r>
            <a:r>
              <a:rPr dirty="0" spc="-1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6737" y="1254312"/>
            <a:ext cx="8091170" cy="3580765"/>
            <a:chOff x="566737" y="1254312"/>
            <a:chExt cx="8091170" cy="3580765"/>
          </a:xfrm>
        </p:grpSpPr>
        <p:sp>
          <p:nvSpPr>
            <p:cNvPr id="4" name="object 4"/>
            <p:cNvSpPr/>
            <p:nvPr/>
          </p:nvSpPr>
          <p:spPr>
            <a:xfrm>
              <a:off x="571500" y="1259074"/>
              <a:ext cx="8081645" cy="3571240"/>
            </a:xfrm>
            <a:custGeom>
              <a:avLst/>
              <a:gdLst/>
              <a:ahLst/>
              <a:cxnLst/>
              <a:rect l="l" t="t" r="r" b="b"/>
              <a:pathLst>
                <a:path w="8081645" h="3571240">
                  <a:moveTo>
                    <a:pt x="7486188" y="3571199"/>
                  </a:moveTo>
                  <a:lnTo>
                    <a:pt x="595211" y="3571199"/>
                  </a:lnTo>
                  <a:lnTo>
                    <a:pt x="546395" y="3569226"/>
                  </a:lnTo>
                  <a:lnTo>
                    <a:pt x="498665" y="3563409"/>
                  </a:lnTo>
                  <a:lnTo>
                    <a:pt x="452175" y="3553901"/>
                  </a:lnTo>
                  <a:lnTo>
                    <a:pt x="407078" y="3540855"/>
                  </a:lnTo>
                  <a:lnTo>
                    <a:pt x="363528" y="3524425"/>
                  </a:lnTo>
                  <a:lnTo>
                    <a:pt x="321677" y="3504763"/>
                  </a:lnTo>
                  <a:lnTo>
                    <a:pt x="281679" y="3482023"/>
                  </a:lnTo>
                  <a:lnTo>
                    <a:pt x="243687" y="3456358"/>
                  </a:lnTo>
                  <a:lnTo>
                    <a:pt x="207854" y="3427921"/>
                  </a:lnTo>
                  <a:lnTo>
                    <a:pt x="174333" y="3396866"/>
                  </a:lnTo>
                  <a:lnTo>
                    <a:pt x="143278" y="3363345"/>
                  </a:lnTo>
                  <a:lnTo>
                    <a:pt x="114841" y="3327512"/>
                  </a:lnTo>
                  <a:lnTo>
                    <a:pt x="89176" y="3289520"/>
                  </a:lnTo>
                  <a:lnTo>
                    <a:pt x="66436" y="3249522"/>
                  </a:lnTo>
                  <a:lnTo>
                    <a:pt x="46774" y="3207671"/>
                  </a:lnTo>
                  <a:lnTo>
                    <a:pt x="30344" y="3164121"/>
                  </a:lnTo>
                  <a:lnTo>
                    <a:pt x="17298" y="3119024"/>
                  </a:lnTo>
                  <a:lnTo>
                    <a:pt x="7790" y="3072534"/>
                  </a:lnTo>
                  <a:lnTo>
                    <a:pt x="1973" y="3024804"/>
                  </a:lnTo>
                  <a:lnTo>
                    <a:pt x="0" y="2975988"/>
                  </a:lnTo>
                  <a:lnTo>
                    <a:pt x="0" y="595211"/>
                  </a:lnTo>
                  <a:lnTo>
                    <a:pt x="1973" y="546395"/>
                  </a:lnTo>
                  <a:lnTo>
                    <a:pt x="7790" y="498665"/>
                  </a:lnTo>
                  <a:lnTo>
                    <a:pt x="17298" y="452175"/>
                  </a:lnTo>
                  <a:lnTo>
                    <a:pt x="30344" y="407078"/>
                  </a:lnTo>
                  <a:lnTo>
                    <a:pt x="46774" y="363528"/>
                  </a:lnTo>
                  <a:lnTo>
                    <a:pt x="66436" y="321677"/>
                  </a:lnTo>
                  <a:lnTo>
                    <a:pt x="89176" y="281679"/>
                  </a:lnTo>
                  <a:lnTo>
                    <a:pt x="114841" y="243687"/>
                  </a:lnTo>
                  <a:lnTo>
                    <a:pt x="143278" y="207854"/>
                  </a:lnTo>
                  <a:lnTo>
                    <a:pt x="174333" y="174333"/>
                  </a:lnTo>
                  <a:lnTo>
                    <a:pt x="207854" y="143278"/>
                  </a:lnTo>
                  <a:lnTo>
                    <a:pt x="243687" y="114841"/>
                  </a:lnTo>
                  <a:lnTo>
                    <a:pt x="281679" y="89176"/>
                  </a:lnTo>
                  <a:lnTo>
                    <a:pt x="321677" y="66436"/>
                  </a:lnTo>
                  <a:lnTo>
                    <a:pt x="363528" y="46774"/>
                  </a:lnTo>
                  <a:lnTo>
                    <a:pt x="407078" y="30344"/>
                  </a:lnTo>
                  <a:lnTo>
                    <a:pt x="452175" y="17298"/>
                  </a:lnTo>
                  <a:lnTo>
                    <a:pt x="498665" y="7790"/>
                  </a:lnTo>
                  <a:lnTo>
                    <a:pt x="546395" y="1973"/>
                  </a:lnTo>
                  <a:lnTo>
                    <a:pt x="595211" y="0"/>
                  </a:lnTo>
                  <a:lnTo>
                    <a:pt x="7486188" y="0"/>
                  </a:lnTo>
                  <a:lnTo>
                    <a:pt x="7538523" y="2303"/>
                  </a:lnTo>
                  <a:lnTo>
                    <a:pt x="7590105" y="9138"/>
                  </a:lnTo>
                  <a:lnTo>
                    <a:pt x="7640659" y="20392"/>
                  </a:lnTo>
                  <a:lnTo>
                    <a:pt x="7689913" y="35950"/>
                  </a:lnTo>
                  <a:lnTo>
                    <a:pt x="7737591" y="55699"/>
                  </a:lnTo>
                  <a:lnTo>
                    <a:pt x="7783419" y="79525"/>
                  </a:lnTo>
                  <a:lnTo>
                    <a:pt x="7827124" y="107315"/>
                  </a:lnTo>
                  <a:lnTo>
                    <a:pt x="7868431" y="138956"/>
                  </a:lnTo>
                  <a:lnTo>
                    <a:pt x="7907066" y="174333"/>
                  </a:lnTo>
                  <a:lnTo>
                    <a:pt x="7942443" y="212968"/>
                  </a:lnTo>
                  <a:lnTo>
                    <a:pt x="7974084" y="254275"/>
                  </a:lnTo>
                  <a:lnTo>
                    <a:pt x="8001874" y="297980"/>
                  </a:lnTo>
                  <a:lnTo>
                    <a:pt x="8025701" y="343809"/>
                  </a:lnTo>
                  <a:lnTo>
                    <a:pt x="8045449" y="391487"/>
                  </a:lnTo>
                  <a:lnTo>
                    <a:pt x="8061007" y="440740"/>
                  </a:lnTo>
                  <a:lnTo>
                    <a:pt x="8072261" y="491295"/>
                  </a:lnTo>
                  <a:lnTo>
                    <a:pt x="8079096" y="542877"/>
                  </a:lnTo>
                  <a:lnTo>
                    <a:pt x="8081399" y="595211"/>
                  </a:lnTo>
                  <a:lnTo>
                    <a:pt x="8081399" y="2975988"/>
                  </a:lnTo>
                  <a:lnTo>
                    <a:pt x="8079426" y="3024804"/>
                  </a:lnTo>
                  <a:lnTo>
                    <a:pt x="8073609" y="3072534"/>
                  </a:lnTo>
                  <a:lnTo>
                    <a:pt x="8064101" y="3119024"/>
                  </a:lnTo>
                  <a:lnTo>
                    <a:pt x="8051055" y="3164121"/>
                  </a:lnTo>
                  <a:lnTo>
                    <a:pt x="8034625" y="3207671"/>
                  </a:lnTo>
                  <a:lnTo>
                    <a:pt x="8014963" y="3249522"/>
                  </a:lnTo>
                  <a:lnTo>
                    <a:pt x="7992223" y="3289520"/>
                  </a:lnTo>
                  <a:lnTo>
                    <a:pt x="7966558" y="3327512"/>
                  </a:lnTo>
                  <a:lnTo>
                    <a:pt x="7938121" y="3363345"/>
                  </a:lnTo>
                  <a:lnTo>
                    <a:pt x="7907066" y="3396866"/>
                  </a:lnTo>
                  <a:lnTo>
                    <a:pt x="7873545" y="3427921"/>
                  </a:lnTo>
                  <a:lnTo>
                    <a:pt x="7837712" y="3456358"/>
                  </a:lnTo>
                  <a:lnTo>
                    <a:pt x="7799720" y="3482023"/>
                  </a:lnTo>
                  <a:lnTo>
                    <a:pt x="7759722" y="3504763"/>
                  </a:lnTo>
                  <a:lnTo>
                    <a:pt x="7717871" y="3524425"/>
                  </a:lnTo>
                  <a:lnTo>
                    <a:pt x="7674321" y="3540855"/>
                  </a:lnTo>
                  <a:lnTo>
                    <a:pt x="7629224" y="3553901"/>
                  </a:lnTo>
                  <a:lnTo>
                    <a:pt x="7582734" y="3563409"/>
                  </a:lnTo>
                  <a:lnTo>
                    <a:pt x="7535004" y="3569226"/>
                  </a:lnTo>
                  <a:lnTo>
                    <a:pt x="7486188" y="3571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1500" y="1259074"/>
              <a:ext cx="8081645" cy="3571240"/>
            </a:xfrm>
            <a:custGeom>
              <a:avLst/>
              <a:gdLst/>
              <a:ahLst/>
              <a:cxnLst/>
              <a:rect l="l" t="t" r="r" b="b"/>
              <a:pathLst>
                <a:path w="8081645" h="3571240">
                  <a:moveTo>
                    <a:pt x="0" y="595211"/>
                  </a:moveTo>
                  <a:lnTo>
                    <a:pt x="1973" y="546395"/>
                  </a:lnTo>
                  <a:lnTo>
                    <a:pt x="7790" y="498665"/>
                  </a:lnTo>
                  <a:lnTo>
                    <a:pt x="17298" y="452175"/>
                  </a:lnTo>
                  <a:lnTo>
                    <a:pt x="30344" y="407078"/>
                  </a:lnTo>
                  <a:lnTo>
                    <a:pt x="46774" y="363528"/>
                  </a:lnTo>
                  <a:lnTo>
                    <a:pt x="66436" y="321677"/>
                  </a:lnTo>
                  <a:lnTo>
                    <a:pt x="89176" y="281679"/>
                  </a:lnTo>
                  <a:lnTo>
                    <a:pt x="114841" y="243687"/>
                  </a:lnTo>
                  <a:lnTo>
                    <a:pt x="143278" y="207854"/>
                  </a:lnTo>
                  <a:lnTo>
                    <a:pt x="174333" y="174333"/>
                  </a:lnTo>
                  <a:lnTo>
                    <a:pt x="207854" y="143278"/>
                  </a:lnTo>
                  <a:lnTo>
                    <a:pt x="243687" y="114841"/>
                  </a:lnTo>
                  <a:lnTo>
                    <a:pt x="281679" y="89176"/>
                  </a:lnTo>
                  <a:lnTo>
                    <a:pt x="321677" y="66436"/>
                  </a:lnTo>
                  <a:lnTo>
                    <a:pt x="363528" y="46774"/>
                  </a:lnTo>
                  <a:lnTo>
                    <a:pt x="407078" y="30344"/>
                  </a:lnTo>
                  <a:lnTo>
                    <a:pt x="452175" y="17298"/>
                  </a:lnTo>
                  <a:lnTo>
                    <a:pt x="498665" y="7790"/>
                  </a:lnTo>
                  <a:lnTo>
                    <a:pt x="546395" y="1973"/>
                  </a:lnTo>
                  <a:lnTo>
                    <a:pt x="595211" y="0"/>
                  </a:lnTo>
                  <a:lnTo>
                    <a:pt x="7486188" y="0"/>
                  </a:lnTo>
                  <a:lnTo>
                    <a:pt x="7538523" y="2303"/>
                  </a:lnTo>
                  <a:lnTo>
                    <a:pt x="7590105" y="9138"/>
                  </a:lnTo>
                  <a:lnTo>
                    <a:pt x="7640659" y="20392"/>
                  </a:lnTo>
                  <a:lnTo>
                    <a:pt x="7689913" y="35950"/>
                  </a:lnTo>
                  <a:lnTo>
                    <a:pt x="7737591" y="55699"/>
                  </a:lnTo>
                  <a:lnTo>
                    <a:pt x="7783419" y="79525"/>
                  </a:lnTo>
                  <a:lnTo>
                    <a:pt x="7827124" y="107315"/>
                  </a:lnTo>
                  <a:lnTo>
                    <a:pt x="7868431" y="138956"/>
                  </a:lnTo>
                  <a:lnTo>
                    <a:pt x="7907066" y="174333"/>
                  </a:lnTo>
                  <a:lnTo>
                    <a:pt x="7942443" y="212968"/>
                  </a:lnTo>
                  <a:lnTo>
                    <a:pt x="7974084" y="254275"/>
                  </a:lnTo>
                  <a:lnTo>
                    <a:pt x="8001874" y="297980"/>
                  </a:lnTo>
                  <a:lnTo>
                    <a:pt x="8025701" y="343809"/>
                  </a:lnTo>
                  <a:lnTo>
                    <a:pt x="8045449" y="391487"/>
                  </a:lnTo>
                  <a:lnTo>
                    <a:pt x="8061007" y="440740"/>
                  </a:lnTo>
                  <a:lnTo>
                    <a:pt x="8072261" y="491295"/>
                  </a:lnTo>
                  <a:lnTo>
                    <a:pt x="8079096" y="542877"/>
                  </a:lnTo>
                  <a:lnTo>
                    <a:pt x="8081399" y="595211"/>
                  </a:lnTo>
                  <a:lnTo>
                    <a:pt x="8081399" y="2975988"/>
                  </a:lnTo>
                  <a:lnTo>
                    <a:pt x="8079426" y="3024804"/>
                  </a:lnTo>
                  <a:lnTo>
                    <a:pt x="8073609" y="3072534"/>
                  </a:lnTo>
                  <a:lnTo>
                    <a:pt x="8064101" y="3119024"/>
                  </a:lnTo>
                  <a:lnTo>
                    <a:pt x="8051055" y="3164121"/>
                  </a:lnTo>
                  <a:lnTo>
                    <a:pt x="8034625" y="3207671"/>
                  </a:lnTo>
                  <a:lnTo>
                    <a:pt x="8014963" y="3249522"/>
                  </a:lnTo>
                  <a:lnTo>
                    <a:pt x="7992223" y="3289520"/>
                  </a:lnTo>
                  <a:lnTo>
                    <a:pt x="7966558" y="3327512"/>
                  </a:lnTo>
                  <a:lnTo>
                    <a:pt x="7938121" y="3363345"/>
                  </a:lnTo>
                  <a:lnTo>
                    <a:pt x="7907066" y="3396866"/>
                  </a:lnTo>
                  <a:lnTo>
                    <a:pt x="7873545" y="3427921"/>
                  </a:lnTo>
                  <a:lnTo>
                    <a:pt x="7837712" y="3456358"/>
                  </a:lnTo>
                  <a:lnTo>
                    <a:pt x="7799720" y="3482023"/>
                  </a:lnTo>
                  <a:lnTo>
                    <a:pt x="7759722" y="3504763"/>
                  </a:lnTo>
                  <a:lnTo>
                    <a:pt x="7717871" y="3524425"/>
                  </a:lnTo>
                  <a:lnTo>
                    <a:pt x="7674321" y="3540855"/>
                  </a:lnTo>
                  <a:lnTo>
                    <a:pt x="7629224" y="3553901"/>
                  </a:lnTo>
                  <a:lnTo>
                    <a:pt x="7582734" y="3563409"/>
                  </a:lnTo>
                  <a:lnTo>
                    <a:pt x="7535004" y="3569226"/>
                  </a:lnTo>
                  <a:lnTo>
                    <a:pt x="7486188" y="3571199"/>
                  </a:lnTo>
                  <a:lnTo>
                    <a:pt x="595211" y="3571199"/>
                  </a:lnTo>
                  <a:lnTo>
                    <a:pt x="546395" y="3569226"/>
                  </a:lnTo>
                  <a:lnTo>
                    <a:pt x="498665" y="3563409"/>
                  </a:lnTo>
                  <a:lnTo>
                    <a:pt x="452175" y="3553901"/>
                  </a:lnTo>
                  <a:lnTo>
                    <a:pt x="407078" y="3540855"/>
                  </a:lnTo>
                  <a:lnTo>
                    <a:pt x="363528" y="3524425"/>
                  </a:lnTo>
                  <a:lnTo>
                    <a:pt x="321677" y="3504763"/>
                  </a:lnTo>
                  <a:lnTo>
                    <a:pt x="281679" y="3482023"/>
                  </a:lnTo>
                  <a:lnTo>
                    <a:pt x="243687" y="3456358"/>
                  </a:lnTo>
                  <a:lnTo>
                    <a:pt x="207854" y="3427921"/>
                  </a:lnTo>
                  <a:lnTo>
                    <a:pt x="174333" y="3396866"/>
                  </a:lnTo>
                  <a:lnTo>
                    <a:pt x="143278" y="3363345"/>
                  </a:lnTo>
                  <a:lnTo>
                    <a:pt x="114841" y="3327512"/>
                  </a:lnTo>
                  <a:lnTo>
                    <a:pt x="89176" y="3289520"/>
                  </a:lnTo>
                  <a:lnTo>
                    <a:pt x="66436" y="3249522"/>
                  </a:lnTo>
                  <a:lnTo>
                    <a:pt x="46774" y="3207671"/>
                  </a:lnTo>
                  <a:lnTo>
                    <a:pt x="30344" y="3164121"/>
                  </a:lnTo>
                  <a:lnTo>
                    <a:pt x="17298" y="3119024"/>
                  </a:lnTo>
                  <a:lnTo>
                    <a:pt x="7790" y="3072534"/>
                  </a:lnTo>
                  <a:lnTo>
                    <a:pt x="1973" y="3024804"/>
                  </a:lnTo>
                  <a:lnTo>
                    <a:pt x="0" y="2975988"/>
                  </a:lnTo>
                  <a:lnTo>
                    <a:pt x="0" y="59521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94393" y="1528876"/>
            <a:ext cx="6916420" cy="296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8615" marR="250825" indent="-328295">
              <a:lnSpc>
                <a:spcPct val="114999"/>
              </a:lnSpc>
              <a:spcBef>
                <a:spcPts val="100"/>
              </a:spcBef>
              <a:buChar char="●"/>
              <a:tabLst>
                <a:tab pos="348615" algn="l"/>
                <a:tab pos="394335" algn="l"/>
              </a:tabLst>
            </a:pPr>
            <a:r>
              <a:rPr dirty="0" sz="130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Students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preparing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campus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placements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often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depend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seniors,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WhatsApp </a:t>
            </a:r>
            <a:r>
              <a:rPr dirty="0" sz="1400">
                <a:latin typeface="Arial MT"/>
                <a:cs typeface="Arial MT"/>
              </a:rPr>
              <a:t>groups,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friends,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PDFs,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platforms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find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interview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experiences.</a:t>
            </a:r>
            <a:endParaRPr sz="1400">
              <a:latin typeface="Arial MT"/>
              <a:cs typeface="Arial MT"/>
            </a:endParaRPr>
          </a:p>
          <a:p>
            <a:pPr marL="348615" marR="5080" indent="-336550">
              <a:lnSpc>
                <a:spcPct val="114999"/>
              </a:lnSpc>
              <a:buChar char="●"/>
              <a:tabLst>
                <a:tab pos="348615" algn="l"/>
              </a:tabLst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information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scattered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difficult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compare,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especially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when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students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are </a:t>
            </a:r>
            <a:r>
              <a:rPr dirty="0" sz="1400">
                <a:latin typeface="Arial MT"/>
                <a:cs typeface="Arial MT"/>
              </a:rPr>
              <a:t>looking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experiences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related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specific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company,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role,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year,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interview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round.</a:t>
            </a:r>
            <a:endParaRPr sz="1400">
              <a:latin typeface="Arial MT"/>
              <a:cs typeface="Arial MT"/>
            </a:endParaRPr>
          </a:p>
          <a:p>
            <a:pPr marL="348615" marR="200025" indent="-336550">
              <a:lnSpc>
                <a:spcPct val="114999"/>
              </a:lnSpc>
              <a:buChar char="●"/>
              <a:tabLst>
                <a:tab pos="348615" algn="l"/>
                <a:tab pos="397510" algn="l"/>
              </a:tabLst>
            </a:pPr>
            <a:r>
              <a:rPr dirty="0" sz="1400">
                <a:latin typeface="Arial MT"/>
                <a:cs typeface="Arial MT"/>
              </a:rPr>
              <a:t>	General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placement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platforms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interview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information,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25">
                <a:latin typeface="Arial MT"/>
                <a:cs typeface="Arial MT"/>
              </a:rPr>
              <a:t> not </a:t>
            </a:r>
            <a:r>
              <a:rPr dirty="0" sz="1400">
                <a:latin typeface="Arial MT"/>
                <a:cs typeface="Arial MT"/>
              </a:rPr>
              <a:t>necessarily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reflect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recruitment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followed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company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particular campus.</a:t>
            </a:r>
            <a:endParaRPr sz="1400">
              <a:latin typeface="Arial MT"/>
              <a:cs typeface="Arial MT"/>
            </a:endParaRPr>
          </a:p>
          <a:p>
            <a:pPr marL="348615" marR="54610" indent="-336550">
              <a:lnSpc>
                <a:spcPct val="114999"/>
              </a:lnSpc>
              <a:buChar char="●"/>
              <a:tabLst>
                <a:tab pos="348615" algn="l"/>
              </a:tabLst>
            </a:pPr>
            <a:r>
              <a:rPr dirty="0" sz="1400">
                <a:latin typeface="Arial MT"/>
                <a:cs typeface="Arial MT"/>
              </a:rPr>
              <a:t>Students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therefore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spend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significant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time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searching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relevant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information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and </a:t>
            </a:r>
            <a:r>
              <a:rPr dirty="0" sz="1400">
                <a:latin typeface="Arial MT"/>
                <a:cs typeface="Arial MT"/>
              </a:rPr>
              <a:t>may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still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clear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what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prepare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particular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campus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opportunity.</a:t>
            </a:r>
            <a:endParaRPr sz="1400">
              <a:latin typeface="Arial MT"/>
              <a:cs typeface="Arial MT"/>
            </a:endParaRPr>
          </a:p>
          <a:p>
            <a:pPr marL="348615" marR="347980" indent="-336550">
              <a:lnSpc>
                <a:spcPct val="114999"/>
              </a:lnSpc>
              <a:buChar char="●"/>
              <a:tabLst>
                <a:tab pos="348615" algn="l"/>
              </a:tabLst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problem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simple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—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there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single,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structured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platform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brings </a:t>
            </a:r>
            <a:r>
              <a:rPr dirty="0" sz="1400">
                <a:latin typeface="Arial MT"/>
                <a:cs typeface="Arial MT"/>
              </a:rPr>
              <a:t>together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campus-specific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placement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experiences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organized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easily </a:t>
            </a:r>
            <a:r>
              <a:rPr dirty="0" sz="1400">
                <a:latin typeface="Arial MT"/>
                <a:cs typeface="Arial MT"/>
              </a:rPr>
              <a:t>searchable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form.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90"/>
              <a:t> </a:t>
            </a:r>
            <a:r>
              <a:rPr dirty="0"/>
              <a:t>Will</a:t>
            </a:r>
            <a:r>
              <a:rPr dirty="0" spc="-90"/>
              <a:t> </a:t>
            </a:r>
            <a:r>
              <a:rPr dirty="0"/>
              <a:t>We</a:t>
            </a:r>
            <a:r>
              <a:rPr dirty="0" spc="-85"/>
              <a:t> </a:t>
            </a:r>
            <a:r>
              <a:rPr dirty="0"/>
              <a:t>Do</a:t>
            </a:r>
            <a:r>
              <a:rPr dirty="0" spc="-90"/>
              <a:t> </a:t>
            </a:r>
            <a:r>
              <a:rPr dirty="0" spc="-10"/>
              <a:t>Better?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980" y="1178002"/>
            <a:ext cx="7850505" cy="211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1475" marR="418465" indent="-359410">
              <a:lnSpc>
                <a:spcPct val="114999"/>
              </a:lnSpc>
              <a:spcBef>
                <a:spcPts val="100"/>
              </a:spcBef>
              <a:buChar char="●"/>
              <a:tabLst>
                <a:tab pos="371475" algn="l"/>
              </a:tabLst>
            </a:pPr>
            <a:r>
              <a:rPr dirty="0" sz="1700">
                <a:latin typeface="Arial MT"/>
                <a:cs typeface="Arial MT"/>
              </a:rPr>
              <a:t>Cover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all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types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companies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visiting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campus</a:t>
            </a:r>
            <a:r>
              <a:rPr dirty="0" sz="1700" spc="40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from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large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MNCs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smaller </a:t>
            </a:r>
            <a:r>
              <a:rPr dirty="0" sz="1700">
                <a:latin typeface="Arial MT"/>
                <a:cs typeface="Arial MT"/>
              </a:rPr>
              <a:t>companies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startups.</a:t>
            </a:r>
            <a:endParaRPr sz="1700">
              <a:latin typeface="Arial MT"/>
              <a:cs typeface="Arial MT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Char char="●"/>
              <a:tabLst>
                <a:tab pos="371475" algn="l"/>
              </a:tabLst>
            </a:pPr>
            <a:r>
              <a:rPr dirty="0" sz="1700">
                <a:latin typeface="Arial MT"/>
                <a:cs typeface="Arial MT"/>
              </a:rPr>
              <a:t>Organize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experiences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by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company,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role,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year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interview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round.</a:t>
            </a:r>
            <a:endParaRPr sz="1700">
              <a:latin typeface="Arial MT"/>
              <a:cs typeface="Arial MT"/>
            </a:endParaRPr>
          </a:p>
          <a:p>
            <a:pPr marL="371475" marR="5080" indent="-359410">
              <a:lnSpc>
                <a:spcPct val="114999"/>
              </a:lnSpc>
              <a:buChar char="●"/>
              <a:tabLst>
                <a:tab pos="371475" algn="l"/>
              </a:tabLst>
            </a:pPr>
            <a:r>
              <a:rPr dirty="0" sz="1700">
                <a:latin typeface="Arial MT"/>
                <a:cs typeface="Arial MT"/>
              </a:rPr>
              <a:t>Add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filters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difficulty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level,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type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questions,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technical/HR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rounds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topics asked.</a:t>
            </a:r>
            <a:endParaRPr sz="1700">
              <a:latin typeface="Arial MT"/>
              <a:cs typeface="Arial MT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Char char="●"/>
              <a:tabLst>
                <a:tab pos="371475" algn="l"/>
              </a:tabLst>
            </a:pPr>
            <a:r>
              <a:rPr dirty="0" sz="1700">
                <a:latin typeface="Arial MT"/>
                <a:cs typeface="Arial MT"/>
              </a:rPr>
              <a:t>Make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it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easy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search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specific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company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or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role.</a:t>
            </a:r>
            <a:endParaRPr sz="1700">
              <a:latin typeface="Arial MT"/>
              <a:cs typeface="Arial MT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Char char="●"/>
              <a:tabLst>
                <a:tab pos="371475" algn="l"/>
              </a:tabLst>
            </a:pPr>
            <a:r>
              <a:rPr dirty="0" sz="1700">
                <a:latin typeface="Arial MT"/>
                <a:cs typeface="Arial MT"/>
              </a:rPr>
              <a:t>Keep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information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structured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easy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to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compare.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55"/>
              <a:t> </a:t>
            </a:r>
            <a:r>
              <a:rPr dirty="0" spc="-1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6712" y="1492562"/>
            <a:ext cx="2844800" cy="2730500"/>
            <a:chOff x="166712" y="1492562"/>
            <a:chExt cx="2844800" cy="2730500"/>
          </a:xfrm>
        </p:grpSpPr>
        <p:sp>
          <p:nvSpPr>
            <p:cNvPr id="4" name="object 4"/>
            <p:cNvSpPr/>
            <p:nvPr/>
          </p:nvSpPr>
          <p:spPr>
            <a:xfrm>
              <a:off x="171474" y="1497324"/>
              <a:ext cx="2835275" cy="2720975"/>
            </a:xfrm>
            <a:custGeom>
              <a:avLst/>
              <a:gdLst/>
              <a:ahLst/>
              <a:cxnLst/>
              <a:rect l="l" t="t" r="r" b="b"/>
              <a:pathLst>
                <a:path w="2835275" h="2720975">
                  <a:moveTo>
                    <a:pt x="2381290" y="2720399"/>
                  </a:moveTo>
                  <a:lnTo>
                    <a:pt x="453409" y="2720399"/>
                  </a:lnTo>
                  <a:lnTo>
                    <a:pt x="407050" y="2718059"/>
                  </a:lnTo>
                  <a:lnTo>
                    <a:pt x="362031" y="2711188"/>
                  </a:lnTo>
                  <a:lnTo>
                    <a:pt x="318579" y="2700015"/>
                  </a:lnTo>
                  <a:lnTo>
                    <a:pt x="276921" y="2684768"/>
                  </a:lnTo>
                  <a:lnTo>
                    <a:pt x="237287" y="2665675"/>
                  </a:lnTo>
                  <a:lnTo>
                    <a:pt x="199903" y="2642964"/>
                  </a:lnTo>
                  <a:lnTo>
                    <a:pt x="164998" y="2616863"/>
                  </a:lnTo>
                  <a:lnTo>
                    <a:pt x="132800" y="2587599"/>
                  </a:lnTo>
                  <a:lnTo>
                    <a:pt x="103536" y="2555401"/>
                  </a:lnTo>
                  <a:lnTo>
                    <a:pt x="77435" y="2520496"/>
                  </a:lnTo>
                  <a:lnTo>
                    <a:pt x="54724" y="2483112"/>
                  </a:lnTo>
                  <a:lnTo>
                    <a:pt x="35631" y="2443478"/>
                  </a:lnTo>
                  <a:lnTo>
                    <a:pt x="20384" y="2401821"/>
                  </a:lnTo>
                  <a:lnTo>
                    <a:pt x="9211" y="2358368"/>
                  </a:lnTo>
                  <a:lnTo>
                    <a:pt x="2340" y="2313349"/>
                  </a:lnTo>
                  <a:lnTo>
                    <a:pt x="0" y="2266990"/>
                  </a:lnTo>
                  <a:lnTo>
                    <a:pt x="0" y="453408"/>
                  </a:lnTo>
                  <a:lnTo>
                    <a:pt x="2340" y="407050"/>
                  </a:lnTo>
                  <a:lnTo>
                    <a:pt x="9211" y="362031"/>
                  </a:lnTo>
                  <a:lnTo>
                    <a:pt x="20384" y="318579"/>
                  </a:lnTo>
                  <a:lnTo>
                    <a:pt x="35631" y="276921"/>
                  </a:lnTo>
                  <a:lnTo>
                    <a:pt x="54724" y="237287"/>
                  </a:lnTo>
                  <a:lnTo>
                    <a:pt x="77435" y="199903"/>
                  </a:lnTo>
                  <a:lnTo>
                    <a:pt x="103536" y="164998"/>
                  </a:lnTo>
                  <a:lnTo>
                    <a:pt x="132800" y="132800"/>
                  </a:lnTo>
                  <a:lnTo>
                    <a:pt x="164998" y="103536"/>
                  </a:lnTo>
                  <a:lnTo>
                    <a:pt x="199903" y="77435"/>
                  </a:lnTo>
                  <a:lnTo>
                    <a:pt x="237287" y="54724"/>
                  </a:lnTo>
                  <a:lnTo>
                    <a:pt x="276921" y="35631"/>
                  </a:lnTo>
                  <a:lnTo>
                    <a:pt x="318579" y="20384"/>
                  </a:lnTo>
                  <a:lnTo>
                    <a:pt x="362031" y="9211"/>
                  </a:lnTo>
                  <a:lnTo>
                    <a:pt x="407050" y="2340"/>
                  </a:lnTo>
                  <a:lnTo>
                    <a:pt x="453409" y="0"/>
                  </a:lnTo>
                  <a:lnTo>
                    <a:pt x="2381290" y="0"/>
                  </a:lnTo>
                  <a:lnTo>
                    <a:pt x="2432451" y="2894"/>
                  </a:lnTo>
                  <a:lnTo>
                    <a:pt x="2482565" y="11453"/>
                  </a:lnTo>
                  <a:lnTo>
                    <a:pt x="2531189" y="25494"/>
                  </a:lnTo>
                  <a:lnTo>
                    <a:pt x="2577878" y="44834"/>
                  </a:lnTo>
                  <a:lnTo>
                    <a:pt x="2622188" y="69287"/>
                  </a:lnTo>
                  <a:lnTo>
                    <a:pt x="2663677" y="98670"/>
                  </a:lnTo>
                  <a:lnTo>
                    <a:pt x="2701899" y="132800"/>
                  </a:lnTo>
                  <a:lnTo>
                    <a:pt x="2736029" y="171023"/>
                  </a:lnTo>
                  <a:lnTo>
                    <a:pt x="2765412" y="212511"/>
                  </a:lnTo>
                  <a:lnTo>
                    <a:pt x="2789865" y="256822"/>
                  </a:lnTo>
                  <a:lnTo>
                    <a:pt x="2809205" y="303510"/>
                  </a:lnTo>
                  <a:lnTo>
                    <a:pt x="2823246" y="352134"/>
                  </a:lnTo>
                  <a:lnTo>
                    <a:pt x="2831805" y="402248"/>
                  </a:lnTo>
                  <a:lnTo>
                    <a:pt x="2834699" y="453408"/>
                  </a:lnTo>
                  <a:lnTo>
                    <a:pt x="2834699" y="2266990"/>
                  </a:lnTo>
                  <a:lnTo>
                    <a:pt x="2832359" y="2313349"/>
                  </a:lnTo>
                  <a:lnTo>
                    <a:pt x="2825488" y="2358368"/>
                  </a:lnTo>
                  <a:lnTo>
                    <a:pt x="2814315" y="2401821"/>
                  </a:lnTo>
                  <a:lnTo>
                    <a:pt x="2799068" y="2443478"/>
                  </a:lnTo>
                  <a:lnTo>
                    <a:pt x="2779975" y="2483112"/>
                  </a:lnTo>
                  <a:lnTo>
                    <a:pt x="2757264" y="2520496"/>
                  </a:lnTo>
                  <a:lnTo>
                    <a:pt x="2731163" y="2555401"/>
                  </a:lnTo>
                  <a:lnTo>
                    <a:pt x="2701899" y="2587599"/>
                  </a:lnTo>
                  <a:lnTo>
                    <a:pt x="2669701" y="2616863"/>
                  </a:lnTo>
                  <a:lnTo>
                    <a:pt x="2634796" y="2642964"/>
                  </a:lnTo>
                  <a:lnTo>
                    <a:pt x="2597412" y="2665675"/>
                  </a:lnTo>
                  <a:lnTo>
                    <a:pt x="2557778" y="2684768"/>
                  </a:lnTo>
                  <a:lnTo>
                    <a:pt x="2516120" y="2700015"/>
                  </a:lnTo>
                  <a:lnTo>
                    <a:pt x="2472668" y="2711188"/>
                  </a:lnTo>
                  <a:lnTo>
                    <a:pt x="2427649" y="2718059"/>
                  </a:lnTo>
                  <a:lnTo>
                    <a:pt x="2381290" y="2720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1474" y="1497324"/>
              <a:ext cx="2835275" cy="2720975"/>
            </a:xfrm>
            <a:custGeom>
              <a:avLst/>
              <a:gdLst/>
              <a:ahLst/>
              <a:cxnLst/>
              <a:rect l="l" t="t" r="r" b="b"/>
              <a:pathLst>
                <a:path w="2835275" h="2720975">
                  <a:moveTo>
                    <a:pt x="0" y="453408"/>
                  </a:moveTo>
                  <a:lnTo>
                    <a:pt x="2340" y="407050"/>
                  </a:lnTo>
                  <a:lnTo>
                    <a:pt x="9211" y="362031"/>
                  </a:lnTo>
                  <a:lnTo>
                    <a:pt x="20384" y="318579"/>
                  </a:lnTo>
                  <a:lnTo>
                    <a:pt x="35631" y="276921"/>
                  </a:lnTo>
                  <a:lnTo>
                    <a:pt x="54724" y="237287"/>
                  </a:lnTo>
                  <a:lnTo>
                    <a:pt x="77435" y="199903"/>
                  </a:lnTo>
                  <a:lnTo>
                    <a:pt x="103536" y="164998"/>
                  </a:lnTo>
                  <a:lnTo>
                    <a:pt x="132800" y="132800"/>
                  </a:lnTo>
                  <a:lnTo>
                    <a:pt x="164998" y="103536"/>
                  </a:lnTo>
                  <a:lnTo>
                    <a:pt x="199903" y="77435"/>
                  </a:lnTo>
                  <a:lnTo>
                    <a:pt x="237287" y="54724"/>
                  </a:lnTo>
                  <a:lnTo>
                    <a:pt x="276921" y="35631"/>
                  </a:lnTo>
                  <a:lnTo>
                    <a:pt x="318579" y="20384"/>
                  </a:lnTo>
                  <a:lnTo>
                    <a:pt x="362031" y="9211"/>
                  </a:lnTo>
                  <a:lnTo>
                    <a:pt x="407050" y="2340"/>
                  </a:lnTo>
                  <a:lnTo>
                    <a:pt x="453409" y="0"/>
                  </a:lnTo>
                  <a:lnTo>
                    <a:pt x="2381290" y="0"/>
                  </a:lnTo>
                  <a:lnTo>
                    <a:pt x="2432451" y="2894"/>
                  </a:lnTo>
                  <a:lnTo>
                    <a:pt x="2482565" y="11453"/>
                  </a:lnTo>
                  <a:lnTo>
                    <a:pt x="2531189" y="25494"/>
                  </a:lnTo>
                  <a:lnTo>
                    <a:pt x="2577878" y="44834"/>
                  </a:lnTo>
                  <a:lnTo>
                    <a:pt x="2622188" y="69287"/>
                  </a:lnTo>
                  <a:lnTo>
                    <a:pt x="2663677" y="98670"/>
                  </a:lnTo>
                  <a:lnTo>
                    <a:pt x="2701899" y="132800"/>
                  </a:lnTo>
                  <a:lnTo>
                    <a:pt x="2736029" y="171023"/>
                  </a:lnTo>
                  <a:lnTo>
                    <a:pt x="2765412" y="212511"/>
                  </a:lnTo>
                  <a:lnTo>
                    <a:pt x="2789865" y="256822"/>
                  </a:lnTo>
                  <a:lnTo>
                    <a:pt x="2809205" y="303510"/>
                  </a:lnTo>
                  <a:lnTo>
                    <a:pt x="2823246" y="352134"/>
                  </a:lnTo>
                  <a:lnTo>
                    <a:pt x="2831805" y="402248"/>
                  </a:lnTo>
                  <a:lnTo>
                    <a:pt x="2834699" y="453408"/>
                  </a:lnTo>
                  <a:lnTo>
                    <a:pt x="2834699" y="2266990"/>
                  </a:lnTo>
                  <a:lnTo>
                    <a:pt x="2832359" y="2313349"/>
                  </a:lnTo>
                  <a:lnTo>
                    <a:pt x="2825488" y="2358368"/>
                  </a:lnTo>
                  <a:lnTo>
                    <a:pt x="2814315" y="2401821"/>
                  </a:lnTo>
                  <a:lnTo>
                    <a:pt x="2799068" y="2443478"/>
                  </a:lnTo>
                  <a:lnTo>
                    <a:pt x="2779975" y="2483112"/>
                  </a:lnTo>
                  <a:lnTo>
                    <a:pt x="2757264" y="2520496"/>
                  </a:lnTo>
                  <a:lnTo>
                    <a:pt x="2731163" y="2555401"/>
                  </a:lnTo>
                  <a:lnTo>
                    <a:pt x="2701899" y="2587599"/>
                  </a:lnTo>
                  <a:lnTo>
                    <a:pt x="2669701" y="2616863"/>
                  </a:lnTo>
                  <a:lnTo>
                    <a:pt x="2634796" y="2642964"/>
                  </a:lnTo>
                  <a:lnTo>
                    <a:pt x="2597412" y="2665675"/>
                  </a:lnTo>
                  <a:lnTo>
                    <a:pt x="2557778" y="2684768"/>
                  </a:lnTo>
                  <a:lnTo>
                    <a:pt x="2516120" y="2700015"/>
                  </a:lnTo>
                  <a:lnTo>
                    <a:pt x="2472668" y="2711188"/>
                  </a:lnTo>
                  <a:lnTo>
                    <a:pt x="2427649" y="2718059"/>
                  </a:lnTo>
                  <a:lnTo>
                    <a:pt x="2381290" y="2720399"/>
                  </a:lnTo>
                  <a:lnTo>
                    <a:pt x="453409" y="2720399"/>
                  </a:lnTo>
                  <a:lnTo>
                    <a:pt x="407050" y="2718059"/>
                  </a:lnTo>
                  <a:lnTo>
                    <a:pt x="362031" y="2711188"/>
                  </a:lnTo>
                  <a:lnTo>
                    <a:pt x="318579" y="2700015"/>
                  </a:lnTo>
                  <a:lnTo>
                    <a:pt x="276921" y="2684768"/>
                  </a:lnTo>
                  <a:lnTo>
                    <a:pt x="237287" y="2665675"/>
                  </a:lnTo>
                  <a:lnTo>
                    <a:pt x="199903" y="2642964"/>
                  </a:lnTo>
                  <a:lnTo>
                    <a:pt x="164998" y="2616863"/>
                  </a:lnTo>
                  <a:lnTo>
                    <a:pt x="132800" y="2587599"/>
                  </a:lnTo>
                  <a:lnTo>
                    <a:pt x="103536" y="2555401"/>
                  </a:lnTo>
                  <a:lnTo>
                    <a:pt x="77435" y="2520496"/>
                  </a:lnTo>
                  <a:lnTo>
                    <a:pt x="54724" y="2483112"/>
                  </a:lnTo>
                  <a:lnTo>
                    <a:pt x="35631" y="2443478"/>
                  </a:lnTo>
                  <a:lnTo>
                    <a:pt x="20384" y="2401821"/>
                  </a:lnTo>
                  <a:lnTo>
                    <a:pt x="9211" y="2358368"/>
                  </a:lnTo>
                  <a:lnTo>
                    <a:pt x="2340" y="2313349"/>
                  </a:lnTo>
                  <a:lnTo>
                    <a:pt x="0" y="2266990"/>
                  </a:lnTo>
                  <a:lnTo>
                    <a:pt x="0" y="45340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55849" y="1722755"/>
            <a:ext cx="2047239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Student</a:t>
            </a:r>
            <a:endParaRPr sz="1500">
              <a:latin typeface="Arial"/>
              <a:cs typeface="Arial"/>
            </a:endParaRPr>
          </a:p>
          <a:p>
            <a:pPr marL="12700" marR="226695">
              <a:lnSpc>
                <a:spcPct val="100000"/>
              </a:lnSpc>
            </a:pPr>
            <a:r>
              <a:rPr dirty="0" sz="1500">
                <a:latin typeface="Arial MT"/>
                <a:cs typeface="Arial MT"/>
              </a:rPr>
              <a:t>Search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company/role </a:t>
            </a:r>
            <a:r>
              <a:rPr dirty="0" sz="1500">
                <a:latin typeface="Arial MT"/>
                <a:cs typeface="Arial MT"/>
              </a:rPr>
              <a:t>Filter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by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year/round </a:t>
            </a:r>
            <a:r>
              <a:rPr dirty="0" sz="1500">
                <a:latin typeface="Arial MT"/>
                <a:cs typeface="Arial MT"/>
              </a:rPr>
              <a:t>View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structured experiences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Arial MT"/>
                <a:cs typeface="Arial MT"/>
              </a:rPr>
              <a:t>Get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preparation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insights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88412" y="1492562"/>
            <a:ext cx="2897505" cy="2730500"/>
            <a:chOff x="3188412" y="1492562"/>
            <a:chExt cx="2897505" cy="2730500"/>
          </a:xfrm>
        </p:grpSpPr>
        <p:sp>
          <p:nvSpPr>
            <p:cNvPr id="8" name="object 8"/>
            <p:cNvSpPr/>
            <p:nvPr/>
          </p:nvSpPr>
          <p:spPr>
            <a:xfrm>
              <a:off x="3193175" y="1497324"/>
              <a:ext cx="2887980" cy="2720975"/>
            </a:xfrm>
            <a:custGeom>
              <a:avLst/>
              <a:gdLst/>
              <a:ahLst/>
              <a:cxnLst/>
              <a:rect l="l" t="t" r="r" b="b"/>
              <a:pathLst>
                <a:path w="2887979" h="2720975">
                  <a:moveTo>
                    <a:pt x="2434090" y="2720399"/>
                  </a:moveTo>
                  <a:lnTo>
                    <a:pt x="453409" y="2720399"/>
                  </a:lnTo>
                  <a:lnTo>
                    <a:pt x="407050" y="2718059"/>
                  </a:lnTo>
                  <a:lnTo>
                    <a:pt x="362031" y="2711188"/>
                  </a:lnTo>
                  <a:lnTo>
                    <a:pt x="318579" y="2700015"/>
                  </a:lnTo>
                  <a:lnTo>
                    <a:pt x="276921" y="2684768"/>
                  </a:lnTo>
                  <a:lnTo>
                    <a:pt x="237287" y="2665675"/>
                  </a:lnTo>
                  <a:lnTo>
                    <a:pt x="199903" y="2642964"/>
                  </a:lnTo>
                  <a:lnTo>
                    <a:pt x="164998" y="2616863"/>
                  </a:lnTo>
                  <a:lnTo>
                    <a:pt x="132800" y="2587599"/>
                  </a:lnTo>
                  <a:lnTo>
                    <a:pt x="103536" y="2555401"/>
                  </a:lnTo>
                  <a:lnTo>
                    <a:pt x="77435" y="2520496"/>
                  </a:lnTo>
                  <a:lnTo>
                    <a:pt x="54724" y="2483112"/>
                  </a:lnTo>
                  <a:lnTo>
                    <a:pt x="35631" y="2443478"/>
                  </a:lnTo>
                  <a:lnTo>
                    <a:pt x="20384" y="2401821"/>
                  </a:lnTo>
                  <a:lnTo>
                    <a:pt x="9211" y="2358368"/>
                  </a:lnTo>
                  <a:lnTo>
                    <a:pt x="2340" y="2313349"/>
                  </a:lnTo>
                  <a:lnTo>
                    <a:pt x="0" y="2266990"/>
                  </a:lnTo>
                  <a:lnTo>
                    <a:pt x="0" y="453408"/>
                  </a:lnTo>
                  <a:lnTo>
                    <a:pt x="2340" y="407050"/>
                  </a:lnTo>
                  <a:lnTo>
                    <a:pt x="9211" y="362031"/>
                  </a:lnTo>
                  <a:lnTo>
                    <a:pt x="20384" y="318579"/>
                  </a:lnTo>
                  <a:lnTo>
                    <a:pt x="35631" y="276921"/>
                  </a:lnTo>
                  <a:lnTo>
                    <a:pt x="54724" y="237287"/>
                  </a:lnTo>
                  <a:lnTo>
                    <a:pt x="77435" y="199903"/>
                  </a:lnTo>
                  <a:lnTo>
                    <a:pt x="103536" y="164998"/>
                  </a:lnTo>
                  <a:lnTo>
                    <a:pt x="132800" y="132800"/>
                  </a:lnTo>
                  <a:lnTo>
                    <a:pt x="164998" y="103536"/>
                  </a:lnTo>
                  <a:lnTo>
                    <a:pt x="199903" y="77435"/>
                  </a:lnTo>
                  <a:lnTo>
                    <a:pt x="237287" y="54724"/>
                  </a:lnTo>
                  <a:lnTo>
                    <a:pt x="276921" y="35631"/>
                  </a:lnTo>
                  <a:lnTo>
                    <a:pt x="318579" y="20384"/>
                  </a:lnTo>
                  <a:lnTo>
                    <a:pt x="362031" y="9211"/>
                  </a:lnTo>
                  <a:lnTo>
                    <a:pt x="407050" y="2340"/>
                  </a:lnTo>
                  <a:lnTo>
                    <a:pt x="453409" y="0"/>
                  </a:lnTo>
                  <a:lnTo>
                    <a:pt x="2434090" y="0"/>
                  </a:lnTo>
                  <a:lnTo>
                    <a:pt x="2485251" y="2894"/>
                  </a:lnTo>
                  <a:lnTo>
                    <a:pt x="2535365" y="11453"/>
                  </a:lnTo>
                  <a:lnTo>
                    <a:pt x="2583989" y="25494"/>
                  </a:lnTo>
                  <a:lnTo>
                    <a:pt x="2630677" y="44834"/>
                  </a:lnTo>
                  <a:lnTo>
                    <a:pt x="2674988" y="69287"/>
                  </a:lnTo>
                  <a:lnTo>
                    <a:pt x="2716476" y="98670"/>
                  </a:lnTo>
                  <a:lnTo>
                    <a:pt x="2754699" y="132800"/>
                  </a:lnTo>
                  <a:lnTo>
                    <a:pt x="2788829" y="171023"/>
                  </a:lnTo>
                  <a:lnTo>
                    <a:pt x="2818212" y="212511"/>
                  </a:lnTo>
                  <a:lnTo>
                    <a:pt x="2842665" y="256822"/>
                  </a:lnTo>
                  <a:lnTo>
                    <a:pt x="2862005" y="303510"/>
                  </a:lnTo>
                  <a:lnTo>
                    <a:pt x="2876046" y="352134"/>
                  </a:lnTo>
                  <a:lnTo>
                    <a:pt x="2884605" y="402248"/>
                  </a:lnTo>
                  <a:lnTo>
                    <a:pt x="2887499" y="453408"/>
                  </a:lnTo>
                  <a:lnTo>
                    <a:pt x="2887499" y="2266990"/>
                  </a:lnTo>
                  <a:lnTo>
                    <a:pt x="2885159" y="2313349"/>
                  </a:lnTo>
                  <a:lnTo>
                    <a:pt x="2878288" y="2358368"/>
                  </a:lnTo>
                  <a:lnTo>
                    <a:pt x="2867115" y="2401821"/>
                  </a:lnTo>
                  <a:lnTo>
                    <a:pt x="2851868" y="2443478"/>
                  </a:lnTo>
                  <a:lnTo>
                    <a:pt x="2832775" y="2483112"/>
                  </a:lnTo>
                  <a:lnTo>
                    <a:pt x="2810064" y="2520496"/>
                  </a:lnTo>
                  <a:lnTo>
                    <a:pt x="2783963" y="2555401"/>
                  </a:lnTo>
                  <a:lnTo>
                    <a:pt x="2754699" y="2587599"/>
                  </a:lnTo>
                  <a:lnTo>
                    <a:pt x="2722501" y="2616863"/>
                  </a:lnTo>
                  <a:lnTo>
                    <a:pt x="2687596" y="2642964"/>
                  </a:lnTo>
                  <a:lnTo>
                    <a:pt x="2650212" y="2665675"/>
                  </a:lnTo>
                  <a:lnTo>
                    <a:pt x="2610578" y="2684768"/>
                  </a:lnTo>
                  <a:lnTo>
                    <a:pt x="2568921" y="2700015"/>
                  </a:lnTo>
                  <a:lnTo>
                    <a:pt x="2525468" y="2711188"/>
                  </a:lnTo>
                  <a:lnTo>
                    <a:pt x="2480449" y="2718059"/>
                  </a:lnTo>
                  <a:lnTo>
                    <a:pt x="2434090" y="2720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93175" y="1497324"/>
              <a:ext cx="2887980" cy="2720975"/>
            </a:xfrm>
            <a:custGeom>
              <a:avLst/>
              <a:gdLst/>
              <a:ahLst/>
              <a:cxnLst/>
              <a:rect l="l" t="t" r="r" b="b"/>
              <a:pathLst>
                <a:path w="2887979" h="2720975">
                  <a:moveTo>
                    <a:pt x="0" y="453408"/>
                  </a:moveTo>
                  <a:lnTo>
                    <a:pt x="2340" y="407050"/>
                  </a:lnTo>
                  <a:lnTo>
                    <a:pt x="9211" y="362031"/>
                  </a:lnTo>
                  <a:lnTo>
                    <a:pt x="20384" y="318579"/>
                  </a:lnTo>
                  <a:lnTo>
                    <a:pt x="35631" y="276921"/>
                  </a:lnTo>
                  <a:lnTo>
                    <a:pt x="54724" y="237287"/>
                  </a:lnTo>
                  <a:lnTo>
                    <a:pt x="77435" y="199903"/>
                  </a:lnTo>
                  <a:lnTo>
                    <a:pt x="103536" y="164998"/>
                  </a:lnTo>
                  <a:lnTo>
                    <a:pt x="132800" y="132800"/>
                  </a:lnTo>
                  <a:lnTo>
                    <a:pt x="164998" y="103536"/>
                  </a:lnTo>
                  <a:lnTo>
                    <a:pt x="199903" y="77435"/>
                  </a:lnTo>
                  <a:lnTo>
                    <a:pt x="237287" y="54724"/>
                  </a:lnTo>
                  <a:lnTo>
                    <a:pt x="276921" y="35631"/>
                  </a:lnTo>
                  <a:lnTo>
                    <a:pt x="318579" y="20384"/>
                  </a:lnTo>
                  <a:lnTo>
                    <a:pt x="362031" y="9211"/>
                  </a:lnTo>
                  <a:lnTo>
                    <a:pt x="407050" y="2340"/>
                  </a:lnTo>
                  <a:lnTo>
                    <a:pt x="453409" y="0"/>
                  </a:lnTo>
                  <a:lnTo>
                    <a:pt x="2434090" y="0"/>
                  </a:lnTo>
                  <a:lnTo>
                    <a:pt x="2485251" y="2894"/>
                  </a:lnTo>
                  <a:lnTo>
                    <a:pt x="2535365" y="11453"/>
                  </a:lnTo>
                  <a:lnTo>
                    <a:pt x="2583989" y="25494"/>
                  </a:lnTo>
                  <a:lnTo>
                    <a:pt x="2630677" y="44834"/>
                  </a:lnTo>
                  <a:lnTo>
                    <a:pt x="2674988" y="69287"/>
                  </a:lnTo>
                  <a:lnTo>
                    <a:pt x="2716476" y="98670"/>
                  </a:lnTo>
                  <a:lnTo>
                    <a:pt x="2754699" y="132800"/>
                  </a:lnTo>
                  <a:lnTo>
                    <a:pt x="2788829" y="171023"/>
                  </a:lnTo>
                  <a:lnTo>
                    <a:pt x="2818212" y="212511"/>
                  </a:lnTo>
                  <a:lnTo>
                    <a:pt x="2842665" y="256822"/>
                  </a:lnTo>
                  <a:lnTo>
                    <a:pt x="2862005" y="303510"/>
                  </a:lnTo>
                  <a:lnTo>
                    <a:pt x="2876046" y="352134"/>
                  </a:lnTo>
                  <a:lnTo>
                    <a:pt x="2884605" y="402248"/>
                  </a:lnTo>
                  <a:lnTo>
                    <a:pt x="2887499" y="453408"/>
                  </a:lnTo>
                  <a:lnTo>
                    <a:pt x="2887499" y="2266990"/>
                  </a:lnTo>
                  <a:lnTo>
                    <a:pt x="2885159" y="2313349"/>
                  </a:lnTo>
                  <a:lnTo>
                    <a:pt x="2878288" y="2358368"/>
                  </a:lnTo>
                  <a:lnTo>
                    <a:pt x="2867115" y="2401821"/>
                  </a:lnTo>
                  <a:lnTo>
                    <a:pt x="2851868" y="2443478"/>
                  </a:lnTo>
                  <a:lnTo>
                    <a:pt x="2832775" y="2483112"/>
                  </a:lnTo>
                  <a:lnTo>
                    <a:pt x="2810064" y="2520496"/>
                  </a:lnTo>
                  <a:lnTo>
                    <a:pt x="2783963" y="2555401"/>
                  </a:lnTo>
                  <a:lnTo>
                    <a:pt x="2754699" y="2587599"/>
                  </a:lnTo>
                  <a:lnTo>
                    <a:pt x="2722501" y="2616863"/>
                  </a:lnTo>
                  <a:lnTo>
                    <a:pt x="2687596" y="2642964"/>
                  </a:lnTo>
                  <a:lnTo>
                    <a:pt x="2650212" y="2665675"/>
                  </a:lnTo>
                  <a:lnTo>
                    <a:pt x="2610578" y="2684768"/>
                  </a:lnTo>
                  <a:lnTo>
                    <a:pt x="2568921" y="2700015"/>
                  </a:lnTo>
                  <a:lnTo>
                    <a:pt x="2525468" y="2711188"/>
                  </a:lnTo>
                  <a:lnTo>
                    <a:pt x="2480449" y="2718059"/>
                  </a:lnTo>
                  <a:lnTo>
                    <a:pt x="2434090" y="2720399"/>
                  </a:lnTo>
                  <a:lnTo>
                    <a:pt x="453409" y="2720399"/>
                  </a:lnTo>
                  <a:lnTo>
                    <a:pt x="407050" y="2718059"/>
                  </a:lnTo>
                  <a:lnTo>
                    <a:pt x="362031" y="2711188"/>
                  </a:lnTo>
                  <a:lnTo>
                    <a:pt x="318579" y="2700015"/>
                  </a:lnTo>
                  <a:lnTo>
                    <a:pt x="276921" y="2684768"/>
                  </a:lnTo>
                  <a:lnTo>
                    <a:pt x="237287" y="2665675"/>
                  </a:lnTo>
                  <a:lnTo>
                    <a:pt x="199903" y="2642964"/>
                  </a:lnTo>
                  <a:lnTo>
                    <a:pt x="164998" y="2616863"/>
                  </a:lnTo>
                  <a:lnTo>
                    <a:pt x="132800" y="2587599"/>
                  </a:lnTo>
                  <a:lnTo>
                    <a:pt x="103536" y="2555401"/>
                  </a:lnTo>
                  <a:lnTo>
                    <a:pt x="77435" y="2520496"/>
                  </a:lnTo>
                  <a:lnTo>
                    <a:pt x="54724" y="2483112"/>
                  </a:lnTo>
                  <a:lnTo>
                    <a:pt x="35631" y="2443478"/>
                  </a:lnTo>
                  <a:lnTo>
                    <a:pt x="20384" y="2401821"/>
                  </a:lnTo>
                  <a:lnTo>
                    <a:pt x="9211" y="2358368"/>
                  </a:lnTo>
                  <a:lnTo>
                    <a:pt x="2340" y="2313349"/>
                  </a:lnTo>
                  <a:lnTo>
                    <a:pt x="0" y="2266990"/>
                  </a:lnTo>
                  <a:lnTo>
                    <a:pt x="0" y="45340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6210112" y="1590437"/>
            <a:ext cx="2844800" cy="2730500"/>
            <a:chOff x="6210112" y="1590437"/>
            <a:chExt cx="2844800" cy="2730500"/>
          </a:xfrm>
        </p:grpSpPr>
        <p:sp>
          <p:nvSpPr>
            <p:cNvPr id="11" name="object 11"/>
            <p:cNvSpPr/>
            <p:nvPr/>
          </p:nvSpPr>
          <p:spPr>
            <a:xfrm>
              <a:off x="6214874" y="1595200"/>
              <a:ext cx="2835275" cy="2720975"/>
            </a:xfrm>
            <a:custGeom>
              <a:avLst/>
              <a:gdLst/>
              <a:ahLst/>
              <a:cxnLst/>
              <a:rect l="l" t="t" r="r" b="b"/>
              <a:pathLst>
                <a:path w="2835275" h="2720975">
                  <a:moveTo>
                    <a:pt x="2381290" y="2720399"/>
                  </a:moveTo>
                  <a:lnTo>
                    <a:pt x="453409" y="2720399"/>
                  </a:lnTo>
                  <a:lnTo>
                    <a:pt x="407050" y="2718059"/>
                  </a:lnTo>
                  <a:lnTo>
                    <a:pt x="362031" y="2711188"/>
                  </a:lnTo>
                  <a:lnTo>
                    <a:pt x="318579" y="2700015"/>
                  </a:lnTo>
                  <a:lnTo>
                    <a:pt x="276921" y="2684768"/>
                  </a:lnTo>
                  <a:lnTo>
                    <a:pt x="237287" y="2665675"/>
                  </a:lnTo>
                  <a:lnTo>
                    <a:pt x="199903" y="2642964"/>
                  </a:lnTo>
                  <a:lnTo>
                    <a:pt x="164998" y="2616863"/>
                  </a:lnTo>
                  <a:lnTo>
                    <a:pt x="132800" y="2587599"/>
                  </a:lnTo>
                  <a:lnTo>
                    <a:pt x="103536" y="2555401"/>
                  </a:lnTo>
                  <a:lnTo>
                    <a:pt x="77435" y="2520496"/>
                  </a:lnTo>
                  <a:lnTo>
                    <a:pt x="54724" y="2483112"/>
                  </a:lnTo>
                  <a:lnTo>
                    <a:pt x="35631" y="2443478"/>
                  </a:lnTo>
                  <a:lnTo>
                    <a:pt x="20384" y="2401821"/>
                  </a:lnTo>
                  <a:lnTo>
                    <a:pt x="9211" y="2358368"/>
                  </a:lnTo>
                  <a:lnTo>
                    <a:pt x="2340" y="2313349"/>
                  </a:lnTo>
                  <a:lnTo>
                    <a:pt x="0" y="2266990"/>
                  </a:lnTo>
                  <a:lnTo>
                    <a:pt x="0" y="453408"/>
                  </a:lnTo>
                  <a:lnTo>
                    <a:pt x="2340" y="407050"/>
                  </a:lnTo>
                  <a:lnTo>
                    <a:pt x="9211" y="362031"/>
                  </a:lnTo>
                  <a:lnTo>
                    <a:pt x="20384" y="318579"/>
                  </a:lnTo>
                  <a:lnTo>
                    <a:pt x="35631" y="276921"/>
                  </a:lnTo>
                  <a:lnTo>
                    <a:pt x="54724" y="237287"/>
                  </a:lnTo>
                  <a:lnTo>
                    <a:pt x="77435" y="199903"/>
                  </a:lnTo>
                  <a:lnTo>
                    <a:pt x="103536" y="164998"/>
                  </a:lnTo>
                  <a:lnTo>
                    <a:pt x="132800" y="132800"/>
                  </a:lnTo>
                  <a:lnTo>
                    <a:pt x="164998" y="103536"/>
                  </a:lnTo>
                  <a:lnTo>
                    <a:pt x="199903" y="77435"/>
                  </a:lnTo>
                  <a:lnTo>
                    <a:pt x="237287" y="54724"/>
                  </a:lnTo>
                  <a:lnTo>
                    <a:pt x="276921" y="35631"/>
                  </a:lnTo>
                  <a:lnTo>
                    <a:pt x="318579" y="20384"/>
                  </a:lnTo>
                  <a:lnTo>
                    <a:pt x="362031" y="9211"/>
                  </a:lnTo>
                  <a:lnTo>
                    <a:pt x="407050" y="2340"/>
                  </a:lnTo>
                  <a:lnTo>
                    <a:pt x="453409" y="0"/>
                  </a:lnTo>
                  <a:lnTo>
                    <a:pt x="2381290" y="0"/>
                  </a:lnTo>
                  <a:lnTo>
                    <a:pt x="2432451" y="2894"/>
                  </a:lnTo>
                  <a:lnTo>
                    <a:pt x="2482565" y="11453"/>
                  </a:lnTo>
                  <a:lnTo>
                    <a:pt x="2531188" y="25494"/>
                  </a:lnTo>
                  <a:lnTo>
                    <a:pt x="2577877" y="44834"/>
                  </a:lnTo>
                  <a:lnTo>
                    <a:pt x="2622188" y="69287"/>
                  </a:lnTo>
                  <a:lnTo>
                    <a:pt x="2663676" y="98670"/>
                  </a:lnTo>
                  <a:lnTo>
                    <a:pt x="2701899" y="132800"/>
                  </a:lnTo>
                  <a:lnTo>
                    <a:pt x="2736029" y="171022"/>
                  </a:lnTo>
                  <a:lnTo>
                    <a:pt x="2765412" y="212511"/>
                  </a:lnTo>
                  <a:lnTo>
                    <a:pt x="2789866" y="256821"/>
                  </a:lnTo>
                  <a:lnTo>
                    <a:pt x="2809205" y="303510"/>
                  </a:lnTo>
                  <a:lnTo>
                    <a:pt x="2823246" y="352134"/>
                  </a:lnTo>
                  <a:lnTo>
                    <a:pt x="2831805" y="402248"/>
                  </a:lnTo>
                  <a:lnTo>
                    <a:pt x="2834699" y="453408"/>
                  </a:lnTo>
                  <a:lnTo>
                    <a:pt x="2834699" y="2266990"/>
                  </a:lnTo>
                  <a:lnTo>
                    <a:pt x="2832359" y="2313349"/>
                  </a:lnTo>
                  <a:lnTo>
                    <a:pt x="2825488" y="2358368"/>
                  </a:lnTo>
                  <a:lnTo>
                    <a:pt x="2814315" y="2401821"/>
                  </a:lnTo>
                  <a:lnTo>
                    <a:pt x="2799068" y="2443478"/>
                  </a:lnTo>
                  <a:lnTo>
                    <a:pt x="2779975" y="2483112"/>
                  </a:lnTo>
                  <a:lnTo>
                    <a:pt x="2757264" y="2520496"/>
                  </a:lnTo>
                  <a:lnTo>
                    <a:pt x="2731163" y="2555401"/>
                  </a:lnTo>
                  <a:lnTo>
                    <a:pt x="2701899" y="2587599"/>
                  </a:lnTo>
                  <a:lnTo>
                    <a:pt x="2669700" y="2616863"/>
                  </a:lnTo>
                  <a:lnTo>
                    <a:pt x="2634795" y="2642964"/>
                  </a:lnTo>
                  <a:lnTo>
                    <a:pt x="2597412" y="2665675"/>
                  </a:lnTo>
                  <a:lnTo>
                    <a:pt x="2557777" y="2684768"/>
                  </a:lnTo>
                  <a:lnTo>
                    <a:pt x="2516120" y="2700015"/>
                  </a:lnTo>
                  <a:lnTo>
                    <a:pt x="2472668" y="2711188"/>
                  </a:lnTo>
                  <a:lnTo>
                    <a:pt x="2427648" y="2718059"/>
                  </a:lnTo>
                  <a:lnTo>
                    <a:pt x="2381290" y="2720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4874" y="1595200"/>
              <a:ext cx="2835275" cy="2720975"/>
            </a:xfrm>
            <a:custGeom>
              <a:avLst/>
              <a:gdLst/>
              <a:ahLst/>
              <a:cxnLst/>
              <a:rect l="l" t="t" r="r" b="b"/>
              <a:pathLst>
                <a:path w="2835275" h="2720975">
                  <a:moveTo>
                    <a:pt x="0" y="453408"/>
                  </a:moveTo>
                  <a:lnTo>
                    <a:pt x="2340" y="407050"/>
                  </a:lnTo>
                  <a:lnTo>
                    <a:pt x="9211" y="362031"/>
                  </a:lnTo>
                  <a:lnTo>
                    <a:pt x="20384" y="318579"/>
                  </a:lnTo>
                  <a:lnTo>
                    <a:pt x="35631" y="276921"/>
                  </a:lnTo>
                  <a:lnTo>
                    <a:pt x="54724" y="237287"/>
                  </a:lnTo>
                  <a:lnTo>
                    <a:pt x="77435" y="199903"/>
                  </a:lnTo>
                  <a:lnTo>
                    <a:pt x="103536" y="164998"/>
                  </a:lnTo>
                  <a:lnTo>
                    <a:pt x="132800" y="132800"/>
                  </a:lnTo>
                  <a:lnTo>
                    <a:pt x="164998" y="103536"/>
                  </a:lnTo>
                  <a:lnTo>
                    <a:pt x="199903" y="77435"/>
                  </a:lnTo>
                  <a:lnTo>
                    <a:pt x="237287" y="54724"/>
                  </a:lnTo>
                  <a:lnTo>
                    <a:pt x="276921" y="35631"/>
                  </a:lnTo>
                  <a:lnTo>
                    <a:pt x="318579" y="20384"/>
                  </a:lnTo>
                  <a:lnTo>
                    <a:pt x="362031" y="9211"/>
                  </a:lnTo>
                  <a:lnTo>
                    <a:pt x="407050" y="2340"/>
                  </a:lnTo>
                  <a:lnTo>
                    <a:pt x="453409" y="0"/>
                  </a:lnTo>
                  <a:lnTo>
                    <a:pt x="2381290" y="0"/>
                  </a:lnTo>
                  <a:lnTo>
                    <a:pt x="2432451" y="2894"/>
                  </a:lnTo>
                  <a:lnTo>
                    <a:pt x="2482565" y="11453"/>
                  </a:lnTo>
                  <a:lnTo>
                    <a:pt x="2531188" y="25494"/>
                  </a:lnTo>
                  <a:lnTo>
                    <a:pt x="2577877" y="44834"/>
                  </a:lnTo>
                  <a:lnTo>
                    <a:pt x="2622188" y="69287"/>
                  </a:lnTo>
                  <a:lnTo>
                    <a:pt x="2663676" y="98670"/>
                  </a:lnTo>
                  <a:lnTo>
                    <a:pt x="2701899" y="132800"/>
                  </a:lnTo>
                  <a:lnTo>
                    <a:pt x="2736029" y="171022"/>
                  </a:lnTo>
                  <a:lnTo>
                    <a:pt x="2765412" y="212511"/>
                  </a:lnTo>
                  <a:lnTo>
                    <a:pt x="2789866" y="256821"/>
                  </a:lnTo>
                  <a:lnTo>
                    <a:pt x="2809205" y="303510"/>
                  </a:lnTo>
                  <a:lnTo>
                    <a:pt x="2823246" y="352134"/>
                  </a:lnTo>
                  <a:lnTo>
                    <a:pt x="2831805" y="402248"/>
                  </a:lnTo>
                  <a:lnTo>
                    <a:pt x="2834699" y="453408"/>
                  </a:lnTo>
                  <a:lnTo>
                    <a:pt x="2834699" y="2266990"/>
                  </a:lnTo>
                  <a:lnTo>
                    <a:pt x="2832359" y="2313349"/>
                  </a:lnTo>
                  <a:lnTo>
                    <a:pt x="2825488" y="2358368"/>
                  </a:lnTo>
                  <a:lnTo>
                    <a:pt x="2814315" y="2401821"/>
                  </a:lnTo>
                  <a:lnTo>
                    <a:pt x="2799068" y="2443478"/>
                  </a:lnTo>
                  <a:lnTo>
                    <a:pt x="2779975" y="2483112"/>
                  </a:lnTo>
                  <a:lnTo>
                    <a:pt x="2757264" y="2520496"/>
                  </a:lnTo>
                  <a:lnTo>
                    <a:pt x="2731163" y="2555401"/>
                  </a:lnTo>
                  <a:lnTo>
                    <a:pt x="2701899" y="2587599"/>
                  </a:lnTo>
                  <a:lnTo>
                    <a:pt x="2669700" y="2616863"/>
                  </a:lnTo>
                  <a:lnTo>
                    <a:pt x="2634795" y="2642964"/>
                  </a:lnTo>
                  <a:lnTo>
                    <a:pt x="2597412" y="2665675"/>
                  </a:lnTo>
                  <a:lnTo>
                    <a:pt x="2557777" y="2684768"/>
                  </a:lnTo>
                  <a:lnTo>
                    <a:pt x="2516120" y="2700015"/>
                  </a:lnTo>
                  <a:lnTo>
                    <a:pt x="2472668" y="2711188"/>
                  </a:lnTo>
                  <a:lnTo>
                    <a:pt x="2427648" y="2718059"/>
                  </a:lnTo>
                  <a:lnTo>
                    <a:pt x="2381290" y="2720399"/>
                  </a:lnTo>
                  <a:lnTo>
                    <a:pt x="453409" y="2720399"/>
                  </a:lnTo>
                  <a:lnTo>
                    <a:pt x="407050" y="2718059"/>
                  </a:lnTo>
                  <a:lnTo>
                    <a:pt x="362031" y="2711188"/>
                  </a:lnTo>
                  <a:lnTo>
                    <a:pt x="318579" y="2700015"/>
                  </a:lnTo>
                  <a:lnTo>
                    <a:pt x="276921" y="2684768"/>
                  </a:lnTo>
                  <a:lnTo>
                    <a:pt x="237287" y="2665675"/>
                  </a:lnTo>
                  <a:lnTo>
                    <a:pt x="199903" y="2642964"/>
                  </a:lnTo>
                  <a:lnTo>
                    <a:pt x="164998" y="2616863"/>
                  </a:lnTo>
                  <a:lnTo>
                    <a:pt x="132800" y="2587599"/>
                  </a:lnTo>
                  <a:lnTo>
                    <a:pt x="103536" y="2555401"/>
                  </a:lnTo>
                  <a:lnTo>
                    <a:pt x="77435" y="2520496"/>
                  </a:lnTo>
                  <a:lnTo>
                    <a:pt x="54724" y="2483112"/>
                  </a:lnTo>
                  <a:lnTo>
                    <a:pt x="35631" y="2443478"/>
                  </a:lnTo>
                  <a:lnTo>
                    <a:pt x="20384" y="2401821"/>
                  </a:lnTo>
                  <a:lnTo>
                    <a:pt x="9211" y="2358368"/>
                  </a:lnTo>
                  <a:lnTo>
                    <a:pt x="2340" y="2313349"/>
                  </a:lnTo>
                  <a:lnTo>
                    <a:pt x="0" y="2266990"/>
                  </a:lnTo>
                  <a:lnTo>
                    <a:pt x="0" y="45340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399175" y="1701965"/>
            <a:ext cx="2444115" cy="160274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500" spc="-10" b="1">
                <a:latin typeface="Arial"/>
                <a:cs typeface="Arial"/>
              </a:rPr>
              <a:t>Contributor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500">
                <a:latin typeface="Arial MT"/>
                <a:cs typeface="Arial MT"/>
              </a:rPr>
              <a:t>Submit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experience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</a:pPr>
            <a:r>
              <a:rPr dirty="0" sz="1500">
                <a:latin typeface="Arial MT"/>
                <a:cs typeface="Arial MT"/>
              </a:rPr>
              <a:t>Select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company,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role,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year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 spc="-50">
                <a:latin typeface="Arial MT"/>
                <a:cs typeface="Arial MT"/>
              </a:rPr>
              <a:t>&amp; </a:t>
            </a:r>
            <a:r>
              <a:rPr dirty="0" sz="1500" spc="-10">
                <a:latin typeface="Arial MT"/>
                <a:cs typeface="Arial MT"/>
              </a:rPr>
              <a:t>rounds</a:t>
            </a:r>
            <a:endParaRPr sz="1500">
              <a:latin typeface="Arial MT"/>
              <a:cs typeface="Arial MT"/>
            </a:endParaRPr>
          </a:p>
          <a:p>
            <a:pPr marL="12700" marR="62865">
              <a:lnSpc>
                <a:spcPct val="114999"/>
              </a:lnSpc>
            </a:pPr>
            <a:r>
              <a:rPr dirty="0" sz="1500">
                <a:latin typeface="Arial MT"/>
                <a:cs typeface="Arial MT"/>
              </a:rPr>
              <a:t>Add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generalized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experience </a:t>
            </a:r>
            <a:r>
              <a:rPr dirty="0" sz="1500">
                <a:latin typeface="Arial MT"/>
                <a:cs typeface="Arial MT"/>
              </a:rPr>
              <a:t>Submit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anonymously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3600" y="1660605"/>
            <a:ext cx="9239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Reporting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3600" y="2041604"/>
            <a:ext cx="198310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Report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inappropriate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or </a:t>
            </a:r>
            <a:r>
              <a:rPr dirty="0" sz="1500">
                <a:latin typeface="Arial MT"/>
                <a:cs typeface="Arial MT"/>
              </a:rPr>
              <a:t>incorrect</a:t>
            </a:r>
            <a:r>
              <a:rPr dirty="0" sz="1500" spc="-10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information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3600" y="2719785"/>
            <a:ext cx="2459990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Report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privacy/confidentiality concerns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3600" y="3397965"/>
            <a:ext cx="199453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Flag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potentially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harmful content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140"/>
              <a:t> </a:t>
            </a:r>
            <a:r>
              <a:rPr dirty="0"/>
              <a:t>Will</a:t>
            </a:r>
            <a:r>
              <a:rPr dirty="0" spc="-135"/>
              <a:t> </a:t>
            </a:r>
            <a:r>
              <a:rPr dirty="0"/>
              <a:t>We</a:t>
            </a:r>
            <a:r>
              <a:rPr dirty="0" spc="-130"/>
              <a:t> </a:t>
            </a:r>
            <a:r>
              <a:rPr dirty="0"/>
              <a:t>Validate</a:t>
            </a:r>
            <a:r>
              <a:rPr dirty="0" spc="-130"/>
              <a:t> </a:t>
            </a:r>
            <a:r>
              <a:rPr dirty="0" spc="-25"/>
              <a:t>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121" y="1297046"/>
            <a:ext cx="6290310" cy="170815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dirty="0" sz="1600" spc="-25">
                <a:latin typeface="Arial MT"/>
                <a:cs typeface="Arial MT"/>
              </a:rPr>
              <a:t>Talk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students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who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have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already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gone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through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placements.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dirty="0" sz="1600">
                <a:latin typeface="Arial MT"/>
                <a:cs typeface="Arial MT"/>
              </a:rPr>
              <a:t>Find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out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what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information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needed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where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they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got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from.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363855" algn="l"/>
              </a:tabLst>
            </a:pPr>
            <a:r>
              <a:rPr dirty="0" sz="1600">
                <a:latin typeface="Arial MT"/>
                <a:cs typeface="Arial MT"/>
              </a:rPr>
              <a:t>Let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students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our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platform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with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few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real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company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examples.</a:t>
            </a:r>
            <a:endParaRPr sz="1600">
              <a:latin typeface="Arial MT"/>
              <a:cs typeface="Arial MT"/>
            </a:endParaRPr>
          </a:p>
          <a:p>
            <a:pPr marL="363855" marR="297180" indent="-351790">
              <a:lnSpc>
                <a:spcPct val="114999"/>
              </a:lnSpc>
              <a:buChar char="●"/>
              <a:tabLst>
                <a:tab pos="363855" algn="l"/>
              </a:tabLst>
            </a:pPr>
            <a:r>
              <a:rPr dirty="0" sz="1600">
                <a:latin typeface="Arial MT"/>
                <a:cs typeface="Arial MT"/>
              </a:rPr>
              <a:t>Check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if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are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able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find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information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need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without </a:t>
            </a:r>
            <a:r>
              <a:rPr dirty="0" sz="1600">
                <a:latin typeface="Arial MT"/>
                <a:cs typeface="Arial MT"/>
              </a:rPr>
              <a:t>much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effort.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dirty="0" sz="1600" spc="-30">
                <a:latin typeface="Arial MT"/>
                <a:cs typeface="Arial MT"/>
              </a:rPr>
              <a:t>Take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their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feedback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improve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platform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accordingly.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2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08684"/>
            <a:ext cx="7966075" cy="353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Arial"/>
                <a:cs typeface="Arial"/>
              </a:rPr>
              <a:t>Feasibility</a:t>
            </a:r>
            <a:endParaRPr sz="1600">
              <a:latin typeface="Arial"/>
              <a:cs typeface="Arial"/>
            </a:endParaRPr>
          </a:p>
          <a:p>
            <a:pPr marL="469265" indent="-351155">
              <a:lnSpc>
                <a:spcPct val="100000"/>
              </a:lnSpc>
              <a:spcBef>
                <a:spcPts val="1485"/>
              </a:spcBef>
              <a:buChar char="●"/>
              <a:tabLst>
                <a:tab pos="469265" algn="l"/>
              </a:tabLst>
            </a:pPr>
            <a:r>
              <a:rPr dirty="0" sz="1600" spc="-25">
                <a:latin typeface="Arial MT"/>
                <a:cs typeface="Arial MT"/>
              </a:rPr>
              <a:t>Web-</a:t>
            </a:r>
            <a:r>
              <a:rPr dirty="0" sz="1600">
                <a:latin typeface="Arial MT"/>
                <a:cs typeface="Arial MT"/>
              </a:rPr>
              <a:t>based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application.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Can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developed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using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standard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web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technologies.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Can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start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with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limited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number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companies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expand.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Data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collected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through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student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contributions.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1600" b="1">
                <a:latin typeface="Arial"/>
                <a:cs typeface="Arial"/>
              </a:rPr>
              <a:t>Risks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&amp;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Mitigation</a:t>
            </a:r>
            <a:endParaRPr sz="1600">
              <a:latin typeface="Arial"/>
              <a:cs typeface="Arial"/>
            </a:endParaRPr>
          </a:p>
          <a:p>
            <a:pPr marL="469265" indent="-351155">
              <a:lnSpc>
                <a:spcPct val="100000"/>
              </a:lnSpc>
              <a:spcBef>
                <a:spcPts val="14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Low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number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of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submissions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→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Make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contribution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simple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anonymous.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Incorrect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information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→Reporting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option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periodic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review.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 spc="-10" b="1">
                <a:latin typeface="Arial"/>
                <a:cs typeface="Arial"/>
              </a:rPr>
              <a:t>Confidential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information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→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Clear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submission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guidelines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content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review.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 b="1">
                <a:latin typeface="Arial"/>
                <a:cs typeface="Arial"/>
              </a:rPr>
              <a:t>Privacy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concerns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→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Collect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minimal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personal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information.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 spc="-10" b="1">
                <a:latin typeface="Arial"/>
                <a:cs typeface="Arial"/>
              </a:rPr>
              <a:t>Incomplete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information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→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Clearly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show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available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experiences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their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year/role.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50"/>
              <a:t> </a:t>
            </a:r>
            <a:r>
              <a:rPr dirty="0"/>
              <a:t>Select</a:t>
            </a:r>
            <a:r>
              <a:rPr dirty="0" spc="-50"/>
              <a:t> </a:t>
            </a:r>
            <a:r>
              <a:rPr dirty="0" spc="-10"/>
              <a:t>CampusPrep?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dirty="0"/>
              <a:t>Solves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real</a:t>
            </a:r>
            <a:r>
              <a:rPr dirty="0" spc="-20"/>
              <a:t> </a:t>
            </a:r>
            <a:r>
              <a:rPr dirty="0"/>
              <a:t>problem</a:t>
            </a:r>
            <a:r>
              <a:rPr dirty="0" spc="-20"/>
              <a:t> </a:t>
            </a:r>
            <a:r>
              <a:rPr dirty="0"/>
              <a:t>faced</a:t>
            </a:r>
            <a:r>
              <a:rPr dirty="0" spc="-20"/>
              <a:t> </a:t>
            </a:r>
            <a:r>
              <a:rPr dirty="0"/>
              <a:t>by</a:t>
            </a:r>
            <a:r>
              <a:rPr dirty="0" spc="-20"/>
              <a:t> </a:t>
            </a:r>
            <a:r>
              <a:rPr dirty="0"/>
              <a:t>students</a:t>
            </a:r>
            <a:r>
              <a:rPr dirty="0" spc="-20"/>
              <a:t> </a:t>
            </a:r>
            <a:r>
              <a:rPr dirty="0"/>
              <a:t>during</a:t>
            </a:r>
            <a:r>
              <a:rPr dirty="0" spc="-20"/>
              <a:t> </a:t>
            </a:r>
            <a:r>
              <a:rPr dirty="0" spc="-10"/>
              <a:t>placements.</a:t>
            </a:r>
          </a:p>
          <a:p>
            <a:pPr marL="363855" marR="5080" indent="-351790">
              <a:lnSpc>
                <a:spcPct val="114999"/>
              </a:lnSpc>
              <a:buChar char="●"/>
              <a:tabLst>
                <a:tab pos="363855" algn="l"/>
              </a:tabLst>
            </a:pPr>
            <a:r>
              <a:rPr dirty="0"/>
              <a:t>Helps</a:t>
            </a:r>
            <a:r>
              <a:rPr dirty="0" spc="-35"/>
              <a:t> </a:t>
            </a:r>
            <a:r>
              <a:rPr dirty="0"/>
              <a:t>students</a:t>
            </a:r>
            <a:r>
              <a:rPr dirty="0" spc="-30"/>
              <a:t> </a:t>
            </a:r>
            <a:r>
              <a:rPr dirty="0"/>
              <a:t>learn</a:t>
            </a:r>
            <a:r>
              <a:rPr dirty="0" spc="-30"/>
              <a:t> </a:t>
            </a:r>
            <a:r>
              <a:rPr dirty="0"/>
              <a:t>from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experiences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students</a:t>
            </a:r>
            <a:r>
              <a:rPr dirty="0" spc="-30"/>
              <a:t> </a:t>
            </a:r>
            <a:r>
              <a:rPr dirty="0"/>
              <a:t>who</a:t>
            </a:r>
            <a:r>
              <a:rPr dirty="0" spc="-30"/>
              <a:t> </a:t>
            </a:r>
            <a:r>
              <a:rPr dirty="0"/>
              <a:t>went</a:t>
            </a:r>
            <a:r>
              <a:rPr dirty="0" spc="-30"/>
              <a:t> </a:t>
            </a:r>
            <a:r>
              <a:rPr dirty="0"/>
              <a:t>through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process </a:t>
            </a:r>
            <a:r>
              <a:rPr dirty="0"/>
              <a:t>before</a:t>
            </a:r>
            <a:r>
              <a:rPr dirty="0" spc="-80"/>
              <a:t> </a:t>
            </a:r>
            <a:r>
              <a:rPr dirty="0" spc="-10"/>
              <a:t>them.</a:t>
            </a: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dirty="0"/>
              <a:t>Makes</a:t>
            </a:r>
            <a:r>
              <a:rPr dirty="0" spc="-15"/>
              <a:t> </a:t>
            </a:r>
            <a:r>
              <a:rPr dirty="0"/>
              <a:t>it</a:t>
            </a:r>
            <a:r>
              <a:rPr dirty="0" spc="-15"/>
              <a:t> </a:t>
            </a:r>
            <a:r>
              <a:rPr dirty="0"/>
              <a:t>easier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identify</a:t>
            </a:r>
            <a:r>
              <a:rPr dirty="0" spc="-15"/>
              <a:t> </a:t>
            </a:r>
            <a:r>
              <a:rPr dirty="0"/>
              <a:t>what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prepare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particular</a:t>
            </a:r>
            <a:r>
              <a:rPr dirty="0" spc="-15"/>
              <a:t> </a:t>
            </a:r>
            <a:r>
              <a:rPr dirty="0" spc="-10"/>
              <a:t>role.</a:t>
            </a: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363855" algn="l"/>
              </a:tabLst>
            </a:pPr>
            <a:r>
              <a:rPr dirty="0" spc="-10"/>
              <a:t>Information</a:t>
            </a:r>
            <a:r>
              <a:rPr dirty="0" spc="-35"/>
              <a:t> </a:t>
            </a:r>
            <a:r>
              <a:rPr dirty="0"/>
              <a:t>can</a:t>
            </a:r>
            <a:r>
              <a:rPr dirty="0" spc="-3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updated</a:t>
            </a:r>
            <a:r>
              <a:rPr dirty="0" spc="-30"/>
              <a:t> </a:t>
            </a:r>
            <a:r>
              <a:rPr dirty="0"/>
              <a:t>every</a:t>
            </a:r>
            <a:r>
              <a:rPr dirty="0" spc="-30"/>
              <a:t> </a:t>
            </a:r>
            <a:r>
              <a:rPr dirty="0"/>
              <a:t>year,</a:t>
            </a:r>
            <a:r>
              <a:rPr dirty="0" spc="-35"/>
              <a:t> </a:t>
            </a:r>
            <a:r>
              <a:rPr dirty="0"/>
              <a:t>so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platform</a:t>
            </a:r>
            <a:r>
              <a:rPr dirty="0" spc="-30"/>
              <a:t> </a:t>
            </a:r>
            <a:r>
              <a:rPr dirty="0"/>
              <a:t>keeps</a:t>
            </a:r>
            <a:r>
              <a:rPr dirty="0" spc="-30"/>
              <a:t> </a:t>
            </a:r>
            <a:r>
              <a:rPr dirty="0" spc="-10"/>
              <a:t>growing.</a:t>
            </a:r>
          </a:p>
          <a:p>
            <a:pPr marL="363855" marR="130175" indent="-351790">
              <a:lnSpc>
                <a:spcPct val="114999"/>
              </a:lnSpc>
              <a:buChar char="●"/>
              <a:tabLst>
                <a:tab pos="363855" algn="l"/>
              </a:tabLst>
            </a:pPr>
            <a:r>
              <a:rPr dirty="0"/>
              <a:t>Gives</a:t>
            </a:r>
            <a:r>
              <a:rPr dirty="0" spc="-35"/>
              <a:t> </a:t>
            </a:r>
            <a:r>
              <a:rPr dirty="0"/>
              <a:t>students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single</a:t>
            </a:r>
            <a:r>
              <a:rPr dirty="0" spc="-30"/>
              <a:t> </a:t>
            </a:r>
            <a:r>
              <a:rPr dirty="0"/>
              <a:t>starting</a:t>
            </a:r>
            <a:r>
              <a:rPr dirty="0" spc="-35"/>
              <a:t> </a:t>
            </a:r>
            <a:r>
              <a:rPr dirty="0"/>
              <a:t>point</a:t>
            </a:r>
            <a:r>
              <a:rPr dirty="0" spc="-35"/>
              <a:t> </a:t>
            </a:r>
            <a:r>
              <a:rPr dirty="0"/>
              <a:t>instead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asking</a:t>
            </a:r>
            <a:r>
              <a:rPr dirty="0" spc="-35"/>
              <a:t> </a:t>
            </a:r>
            <a:r>
              <a:rPr dirty="0"/>
              <a:t>multiple</a:t>
            </a:r>
            <a:r>
              <a:rPr dirty="0" spc="-30"/>
              <a:t> </a:t>
            </a:r>
            <a:r>
              <a:rPr dirty="0"/>
              <a:t>people</a:t>
            </a:r>
            <a:r>
              <a:rPr dirty="0" spc="-35"/>
              <a:t> </a:t>
            </a:r>
            <a:r>
              <a:rPr dirty="0"/>
              <a:t>or</a:t>
            </a:r>
            <a:r>
              <a:rPr dirty="0" spc="-35"/>
              <a:t> </a:t>
            </a:r>
            <a:r>
              <a:rPr dirty="0" spc="-10"/>
              <a:t>searching different</a:t>
            </a:r>
            <a:r>
              <a:rPr dirty="0" spc="-25"/>
              <a:t> </a:t>
            </a:r>
            <a:r>
              <a:rPr dirty="0"/>
              <a:t>platforms</a:t>
            </a:r>
            <a:r>
              <a:rPr dirty="0" spc="-25"/>
              <a:t> </a:t>
            </a:r>
            <a:r>
              <a:rPr dirty="0"/>
              <a:t>which</a:t>
            </a:r>
            <a:r>
              <a:rPr dirty="0" spc="-25"/>
              <a:t> </a:t>
            </a:r>
            <a:r>
              <a:rPr dirty="0"/>
              <a:t>saves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lot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10"/>
              <a:t>time.</a:t>
            </a: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dirty="0"/>
              <a:t>One</a:t>
            </a:r>
            <a:r>
              <a:rPr dirty="0" spc="-30"/>
              <a:t> </a:t>
            </a:r>
            <a:r>
              <a:rPr dirty="0" spc="-10"/>
              <a:t>structured</a:t>
            </a:r>
            <a:r>
              <a:rPr dirty="0" spc="-25"/>
              <a:t> </a:t>
            </a:r>
            <a:r>
              <a:rPr dirty="0"/>
              <a:t>place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all</a:t>
            </a:r>
            <a:r>
              <a:rPr dirty="0" spc="-25"/>
              <a:t> </a:t>
            </a: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placement</a:t>
            </a:r>
            <a:r>
              <a:rPr dirty="0" spc="-30"/>
              <a:t> </a:t>
            </a:r>
            <a:r>
              <a:rPr dirty="0" spc="-10"/>
              <a:t>experiences.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2026-08-21T16:13:28Z</dcterms:created>
  <dcterms:modified xsi:type="dcterms:W3CDTF">2026-08-21T16:13:28Z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2026-08-21T00:00:00Z</vt:filetime>
  </property>
  <property fmtid="{D5CDD505-2E9C-101B-9397-08002B2CF9AE}" pid="4" name="Producer">
    <vt:lpwstr>pypdf</vt:lpwstr>
  </property>
  <property fmtid="{D5CDD505-2E9C-101B-9397-08002B2CF9AE}" pid="5" name="LastSaved">
    <vt:filetime>2026-08-21T00:00:00Z</vt:filetime>
  </property>
</Properties>
</file>